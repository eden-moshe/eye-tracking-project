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0480000" cy="45720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27"/>
    <p:restoredTop sz="94635"/>
  </p:normalViewPr>
  <p:slideViewPr>
    <p:cSldViewPr snapToGrid="0">
      <p:cViewPr>
        <p:scale>
          <a:sx n="83" d="100"/>
          <a:sy n="83" d="100"/>
        </p:scale>
        <p:origin x="-9024" y="-99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9E8F7"/>
        </a:solidFill>
        <a:effectLst/>
      </p:bgPr>
    </p:bg>
    <p:spTree>
      <p:nvGrpSpPr>
        <p:cNvPr id="1" name=""/>
        <p:cNvGrpSpPr/>
        <p:nvPr/>
      </p:nvGrpSpPr>
      <p:grpSpPr>
        <a:xfrm>
          <a:off x="0" y="0"/>
          <a:ext cx="0" cy="0"/>
          <a:chOff x="0" y="0"/>
          <a:chExt cx="0" cy="0"/>
        </a:xfrm>
      </p:grpSpPr>
      <p:sp>
        <p:nvSpPr>
          <p:cNvPr id="6" name="header-bg">
            <a:extLst>
              <a:ext uri="{FF2B5EF4-FFF2-40B4-BE49-F238E27FC236}">
                <a16:creationId xmlns:a16="http://schemas.microsoft.com/office/drawing/2014/main" id="{C7F727A6-3A40-4072-8955-EF5D746022E6}"/>
              </a:ext>
            </a:extLst>
          </p:cNvPr>
          <p:cNvSpPr>
            <a:spLocks noGrp="1"/>
          </p:cNvSpPr>
          <p:nvPr/>
        </p:nvSpPr>
        <p:spPr>
          <a:xfrm>
            <a:off x="0" y="0"/>
            <a:ext cx="30480000" cy="5095875"/>
          </a:xfrm>
          <a:prstGeom prst="rect">
            <a:avLst/>
          </a:prstGeom>
          <a:solidFill>
            <a:srgbClr val="28235C"/>
          </a:solidFill>
          <a:ln w="0">
            <a:solidFill>
              <a:srgbClr val="28235C"/>
            </a:solidFill>
            <a:prstDash val="solid"/>
          </a:ln>
        </p:spPr>
        <p:txBody>
          <a:bodyPr/>
          <a:lstStyle/>
          <a:p>
            <a:pPr marL="0" indent="0" algn="l" defTabSz="914400" rtl="0">
              <a:buNone/>
            </a:pPr>
            <a:endParaRPr sz="2000"/>
          </a:p>
        </p:txBody>
      </p:sp>
      <p:sp>
        <p:nvSpPr>
          <p:cNvPr id="2" name="header-right-bg">
            <a:extLst>
              <a:ext uri="{FF2B5EF4-FFF2-40B4-BE49-F238E27FC236}">
                <a16:creationId xmlns:a16="http://schemas.microsoft.com/office/drawing/2014/main" id="{2E91EF61-A9AD-4577-8C7B-429B700820AB}"/>
              </a:ext>
            </a:extLst>
          </p:cNvPr>
          <p:cNvSpPr>
            <a:spLocks noGrp="1"/>
          </p:cNvSpPr>
          <p:nvPr/>
        </p:nvSpPr>
        <p:spPr>
          <a:xfrm>
            <a:off x="23812500" y="0"/>
            <a:ext cx="6667500" cy="5095875"/>
          </a:xfrm>
          <a:prstGeom prst="rect">
            <a:avLst/>
          </a:prstGeom>
          <a:solidFill>
            <a:srgbClr val="C8DCF3"/>
          </a:solidFill>
          <a:ln w="0">
            <a:solidFill>
              <a:srgbClr val="C8DCF3"/>
            </a:solidFill>
            <a:prstDash val="solid"/>
          </a:ln>
        </p:spPr>
        <p:txBody>
          <a:bodyPr/>
          <a:lstStyle/>
          <a:p>
            <a:endParaRPr sz="2000"/>
          </a:p>
        </p:txBody>
      </p:sp>
      <p:sp>
        <p:nvSpPr>
          <p:cNvPr id="3" name="poster-title">
            <a:extLst>
              <a:ext uri="{FF2B5EF4-FFF2-40B4-BE49-F238E27FC236}">
                <a16:creationId xmlns:a16="http://schemas.microsoft.com/office/drawing/2014/main" id="{7D0B7ABF-9CCC-4E3E-8A6E-A0D9DC38A9C9}"/>
              </a:ext>
            </a:extLst>
          </p:cNvPr>
          <p:cNvSpPr>
            <a:spLocks noGrp="1"/>
          </p:cNvSpPr>
          <p:nvPr/>
        </p:nvSpPr>
        <p:spPr>
          <a:xfrm>
            <a:off x="457200" y="457200"/>
            <a:ext cx="22669500" cy="2238375"/>
          </a:xfrm>
          <a:prstGeom prst="rect">
            <a:avLst/>
          </a:prstGeom>
          <a:noFill/>
          <a:ln w="0">
            <a:noFill/>
            <a:prstDash val="solid"/>
          </a:ln>
        </p:spPr>
        <p:txBody>
          <a:bodyPr/>
          <a:lstStyle/>
          <a:p>
            <a:pPr>
              <a:buNone/>
              <a:defRPr sz="5475" b="1">
                <a:solidFill>
                  <a:srgbClr val="FFFFFF"/>
                </a:solidFill>
                <a:latin typeface="Arial"/>
                <a:ea typeface="Arial"/>
                <a:cs typeface="Arial"/>
              </a:defRPr>
            </a:pPr>
            <a:r>
              <a:rPr sz="6000" b="1">
                <a:solidFill>
                  <a:srgbClr val="FFFFFF"/>
                </a:solidFill>
                <a:latin typeface="Arial"/>
                <a:ea typeface="Arial"/>
                <a:cs typeface="Arial"/>
              </a:rPr>
              <a:t>Evaluation of Human-Oriented Canine</a:t>
            </a:r>
          </a:p>
          <a:p>
            <a:pPr>
              <a:buNone/>
              <a:defRPr sz="5475" b="1">
                <a:solidFill>
                  <a:srgbClr val="FFFFFF"/>
                </a:solidFill>
                <a:latin typeface="Arial"/>
                <a:ea typeface="Arial"/>
                <a:cs typeface="Arial"/>
              </a:defRPr>
            </a:pPr>
            <a:r>
              <a:rPr sz="6000" b="1">
                <a:solidFill>
                  <a:srgbClr val="FFFFFF"/>
                </a:solidFill>
                <a:latin typeface="Arial"/>
                <a:ea typeface="Arial"/>
                <a:cs typeface="Arial"/>
              </a:rPr>
              <a:t>Communication Using Eye Tracking Technology</a:t>
            </a:r>
          </a:p>
        </p:txBody>
      </p:sp>
      <p:sp>
        <p:nvSpPr>
          <p:cNvPr id="4" name="poster-subtitle">
            <a:extLst>
              <a:ext uri="{FF2B5EF4-FFF2-40B4-BE49-F238E27FC236}">
                <a16:creationId xmlns:a16="http://schemas.microsoft.com/office/drawing/2014/main" id="{9453AF61-E9FE-43A6-B379-B11F42991E13}"/>
              </a:ext>
            </a:extLst>
          </p:cNvPr>
          <p:cNvSpPr>
            <a:spLocks noGrp="1"/>
          </p:cNvSpPr>
          <p:nvPr/>
        </p:nvSpPr>
        <p:spPr>
          <a:xfrm>
            <a:off x="495300" y="2876550"/>
            <a:ext cx="22479000" cy="514350"/>
          </a:xfrm>
          <a:prstGeom prst="rect">
            <a:avLst/>
          </a:prstGeom>
          <a:noFill/>
          <a:ln w="0">
            <a:noFill/>
            <a:prstDash val="solid"/>
          </a:ln>
        </p:spPr>
        <p:txBody>
          <a:bodyPr/>
          <a:lstStyle/>
          <a:p>
            <a:pPr>
              <a:buNone/>
              <a:defRPr sz="2700">
                <a:solidFill>
                  <a:srgbClr val="DDEBFF"/>
                </a:solidFill>
                <a:latin typeface="Arial"/>
                <a:ea typeface="Arial"/>
                <a:cs typeface="Arial"/>
              </a:defRPr>
            </a:pPr>
            <a:r>
              <a:rPr sz="3200" dirty="0">
                <a:solidFill>
                  <a:srgbClr val="DDEBFF"/>
                </a:solidFill>
                <a:latin typeface="Arial"/>
                <a:ea typeface="Arial"/>
                <a:cs typeface="Arial"/>
              </a:rPr>
              <a:t>Dynamic video-based analysis of how people visually interpret dog emotions and behavior</a:t>
            </a:r>
          </a:p>
        </p:txBody>
      </p:sp>
      <p:sp>
        <p:nvSpPr>
          <p:cNvPr id="5" name="poster-meta">
            <a:extLst>
              <a:ext uri="{FF2B5EF4-FFF2-40B4-BE49-F238E27FC236}">
                <a16:creationId xmlns:a16="http://schemas.microsoft.com/office/drawing/2014/main" id="{B28F8CFA-344E-471D-B8F6-DB8D4571B380}"/>
              </a:ext>
            </a:extLst>
          </p:cNvPr>
          <p:cNvSpPr>
            <a:spLocks noGrp="1"/>
          </p:cNvSpPr>
          <p:nvPr/>
        </p:nvSpPr>
        <p:spPr>
          <a:xfrm>
            <a:off x="495300" y="3676650"/>
            <a:ext cx="17621250" cy="495300"/>
          </a:xfrm>
          <a:prstGeom prst="rect">
            <a:avLst/>
          </a:prstGeom>
          <a:noFill/>
          <a:ln w="0">
            <a:noFill/>
            <a:prstDash val="solid"/>
          </a:ln>
        </p:spPr>
        <p:txBody>
          <a:bodyPr/>
          <a:lstStyle/>
          <a:p>
            <a:pPr>
              <a:buNone/>
              <a:defRPr sz="2625" b="1">
                <a:solidFill>
                  <a:srgbClr val="FFFFFF"/>
                </a:solidFill>
                <a:latin typeface="Arial"/>
                <a:ea typeface="Arial"/>
                <a:cs typeface="Arial"/>
              </a:defRPr>
            </a:pPr>
            <a:r>
              <a:rPr sz="2800" b="1" dirty="0">
                <a:solidFill>
                  <a:srgbClr val="FFFFFF"/>
                </a:solidFill>
                <a:latin typeface="Arial"/>
                <a:ea typeface="Arial"/>
                <a:cs typeface="Arial"/>
              </a:rPr>
              <a:t>Project code: 26-1-R-2  |  Software Engineering Department</a:t>
            </a:r>
          </a:p>
        </p:txBody>
      </p:sp>
      <p:pic>
        <p:nvPicPr>
          <p:cNvPr id="736" name="Picture 118"/>
          <p:cNvPicPr>
            <a:picLocks noChangeAspect="1"/>
          </p:cNvPicPr>
          <p:nvPr/>
        </p:nvPicPr>
        <p:blipFill>
          <a:blip r:embed="rId3"/>
          <a:stretch/>
        </p:blipFill>
        <p:spPr>
          <a:xfrm>
            <a:off x="24422100" y="308121"/>
            <a:ext cx="5334000" cy="1250657"/>
          </a:xfrm>
          <a:prstGeom prst="rect">
            <a:avLst/>
          </a:prstGeom>
        </p:spPr>
      </p:pic>
      <p:sp>
        <p:nvSpPr>
          <p:cNvPr id="7" name="team">
            <a:extLst>
              <a:ext uri="{FF2B5EF4-FFF2-40B4-BE49-F238E27FC236}">
                <a16:creationId xmlns:a16="http://schemas.microsoft.com/office/drawing/2014/main" id="{A331AA65-523A-4A08-9C81-EB86A1A232FC}"/>
              </a:ext>
            </a:extLst>
          </p:cNvPr>
          <p:cNvSpPr>
            <a:spLocks noGrp="1"/>
          </p:cNvSpPr>
          <p:nvPr/>
        </p:nvSpPr>
        <p:spPr>
          <a:xfrm>
            <a:off x="24498300" y="1762125"/>
            <a:ext cx="5429250" cy="2905125"/>
          </a:xfrm>
          <a:prstGeom prst="rect">
            <a:avLst/>
          </a:prstGeom>
          <a:noFill/>
          <a:ln w="0">
            <a:noFill/>
            <a:prstDash val="solid"/>
          </a:ln>
        </p:spPr>
        <p:txBody>
          <a:bodyPr/>
          <a:lstStyle/>
          <a:p>
            <a:pPr>
              <a:buNone/>
              <a:defRPr sz="2475">
                <a:solidFill>
                  <a:srgbClr val="28235C"/>
                </a:solidFill>
                <a:latin typeface="Arial"/>
                <a:ea typeface="Arial"/>
                <a:cs typeface="Arial"/>
              </a:defRPr>
            </a:pPr>
            <a:r>
              <a:rPr sz="3200" dirty="0">
                <a:solidFill>
                  <a:srgbClr val="28235C"/>
                </a:solidFill>
                <a:latin typeface="Arial"/>
                <a:ea typeface="Arial"/>
                <a:cs typeface="Arial"/>
              </a:rPr>
              <a:t>Students</a:t>
            </a:r>
          </a:p>
          <a:p>
            <a:pPr>
              <a:buNone/>
              <a:defRPr sz="2475">
                <a:solidFill>
                  <a:srgbClr val="28235C"/>
                </a:solidFill>
                <a:latin typeface="Arial"/>
                <a:ea typeface="Arial"/>
                <a:cs typeface="Arial"/>
              </a:defRPr>
            </a:pPr>
            <a:r>
              <a:rPr sz="3200" dirty="0">
                <a:solidFill>
                  <a:srgbClr val="28235C"/>
                </a:solidFill>
                <a:latin typeface="Arial"/>
                <a:ea typeface="Arial"/>
                <a:cs typeface="Arial"/>
              </a:rPr>
              <a:t>Yaniv Shtein</a:t>
            </a:r>
          </a:p>
          <a:p>
            <a:pPr>
              <a:buNone/>
              <a:defRPr sz="2475">
                <a:solidFill>
                  <a:srgbClr val="28235C"/>
                </a:solidFill>
                <a:latin typeface="Arial"/>
                <a:ea typeface="Arial"/>
                <a:cs typeface="Arial"/>
              </a:defRPr>
            </a:pPr>
            <a:r>
              <a:rPr sz="3200" dirty="0">
                <a:solidFill>
                  <a:srgbClr val="28235C"/>
                </a:solidFill>
                <a:latin typeface="Arial"/>
                <a:ea typeface="Arial"/>
                <a:cs typeface="Arial"/>
              </a:rPr>
              <a:t>Eden Moshe</a:t>
            </a:r>
          </a:p>
          <a:p>
            <a:endParaRPr sz="3200" dirty="0">
              <a:solidFill>
                <a:srgbClr val="28235C"/>
              </a:solidFill>
              <a:latin typeface="Arial"/>
              <a:ea typeface="Arial"/>
              <a:cs typeface="Arial"/>
            </a:endParaRPr>
          </a:p>
          <a:p>
            <a:pPr>
              <a:buNone/>
              <a:defRPr sz="2475">
                <a:solidFill>
                  <a:srgbClr val="28235C"/>
                </a:solidFill>
                <a:latin typeface="Arial"/>
                <a:ea typeface="Arial"/>
                <a:cs typeface="Arial"/>
              </a:defRPr>
            </a:pPr>
            <a:r>
              <a:rPr sz="3200" dirty="0">
                <a:solidFill>
                  <a:srgbClr val="28235C"/>
                </a:solidFill>
                <a:latin typeface="Arial"/>
                <a:ea typeface="Arial"/>
                <a:cs typeface="Arial"/>
              </a:rPr>
              <a:t>Supervisors</a:t>
            </a:r>
          </a:p>
          <a:p>
            <a:pPr>
              <a:buNone/>
              <a:defRPr sz="2475">
                <a:solidFill>
                  <a:srgbClr val="28235C"/>
                </a:solidFill>
                <a:latin typeface="Arial"/>
                <a:ea typeface="Arial"/>
                <a:cs typeface="Arial"/>
              </a:defRPr>
            </a:pPr>
            <a:r>
              <a:rPr sz="3200" dirty="0">
                <a:solidFill>
                  <a:srgbClr val="28235C"/>
                </a:solidFill>
                <a:latin typeface="Arial"/>
                <a:ea typeface="Arial"/>
                <a:cs typeface="Arial"/>
              </a:rPr>
              <a:t>Dr. Julia </a:t>
            </a:r>
            <a:r>
              <a:rPr sz="3200" dirty="0" err="1">
                <a:solidFill>
                  <a:srgbClr val="28235C"/>
                </a:solidFill>
                <a:latin typeface="Arial"/>
                <a:ea typeface="Arial"/>
                <a:cs typeface="Arial"/>
              </a:rPr>
              <a:t>Sheidin</a:t>
            </a:r>
            <a:endParaRPr sz="3200" dirty="0">
              <a:solidFill>
                <a:srgbClr val="28235C"/>
              </a:solidFill>
              <a:latin typeface="Arial"/>
              <a:ea typeface="Arial"/>
              <a:cs typeface="Arial"/>
            </a:endParaRPr>
          </a:p>
          <a:p>
            <a:pPr>
              <a:buNone/>
              <a:defRPr sz="2475">
                <a:solidFill>
                  <a:srgbClr val="28235C"/>
                </a:solidFill>
                <a:latin typeface="Arial"/>
                <a:ea typeface="Arial"/>
                <a:cs typeface="Arial"/>
              </a:defRPr>
            </a:pPr>
            <a:r>
              <a:rPr sz="3200" dirty="0">
                <a:solidFill>
                  <a:srgbClr val="28235C"/>
                </a:solidFill>
                <a:latin typeface="Arial"/>
                <a:ea typeface="Arial"/>
                <a:cs typeface="Arial"/>
              </a:rPr>
              <a:t>Dr. Samah Idrees-</a:t>
            </a:r>
            <a:r>
              <a:rPr sz="3200" dirty="0" err="1">
                <a:solidFill>
                  <a:srgbClr val="28235C"/>
                </a:solidFill>
                <a:latin typeface="Arial"/>
                <a:ea typeface="Arial"/>
                <a:cs typeface="Arial"/>
              </a:rPr>
              <a:t>Ghazawi</a:t>
            </a:r>
            <a:endParaRPr sz="3200" dirty="0">
              <a:solidFill>
                <a:srgbClr val="28235C"/>
              </a:solidFill>
              <a:latin typeface="Arial"/>
              <a:ea typeface="Arial"/>
              <a:cs typeface="Arial"/>
            </a:endParaRPr>
          </a:p>
        </p:txBody>
      </p:sp>
      <p:sp>
        <p:nvSpPr>
          <p:cNvPr id="8" name="intro-bg">
            <a:extLst>
              <a:ext uri="{FF2B5EF4-FFF2-40B4-BE49-F238E27FC236}">
                <a16:creationId xmlns:a16="http://schemas.microsoft.com/office/drawing/2014/main" id="{0210F8E7-B4F7-4826-BEAE-C0678D54B8ED}"/>
              </a:ext>
            </a:extLst>
          </p:cNvPr>
          <p:cNvSpPr>
            <a:spLocks noGrp="1"/>
          </p:cNvSpPr>
          <p:nvPr/>
        </p:nvSpPr>
        <p:spPr>
          <a:xfrm>
            <a:off x="152400" y="5381625"/>
            <a:ext cx="30175200" cy="4095750"/>
          </a:xfrm>
          <a:prstGeom prst="rect">
            <a:avLst/>
          </a:prstGeom>
          <a:solidFill>
            <a:srgbClr val="28235C"/>
          </a:solidFill>
          <a:ln w="0">
            <a:solidFill>
              <a:srgbClr val="28235C"/>
            </a:solidFill>
            <a:prstDash val="solid"/>
          </a:ln>
        </p:spPr>
        <p:txBody>
          <a:bodyPr/>
          <a:lstStyle/>
          <a:p>
            <a:pPr marL="0" indent="0" algn="l" defTabSz="914400" rtl="0">
              <a:buNone/>
            </a:pPr>
            <a:endParaRPr sz="2000"/>
          </a:p>
        </p:txBody>
      </p:sp>
      <p:sp>
        <p:nvSpPr>
          <p:cNvPr id="9" name="intro-title">
            <a:extLst>
              <a:ext uri="{FF2B5EF4-FFF2-40B4-BE49-F238E27FC236}">
                <a16:creationId xmlns:a16="http://schemas.microsoft.com/office/drawing/2014/main" id="{866A6C73-4253-4D1C-8110-924A108D6E6F}"/>
              </a:ext>
            </a:extLst>
          </p:cNvPr>
          <p:cNvSpPr>
            <a:spLocks noGrp="1"/>
          </p:cNvSpPr>
          <p:nvPr/>
        </p:nvSpPr>
        <p:spPr>
          <a:xfrm>
            <a:off x="571500" y="5667375"/>
            <a:ext cx="6858000" cy="590550"/>
          </a:xfrm>
          <a:prstGeom prst="rect">
            <a:avLst/>
          </a:prstGeom>
          <a:noFill/>
          <a:ln w="0">
            <a:noFill/>
            <a:prstDash val="solid"/>
          </a:ln>
        </p:spPr>
        <p:txBody>
          <a:bodyPr/>
          <a:lstStyle/>
          <a:p>
            <a:pPr>
              <a:buNone/>
              <a:defRPr sz="3600" b="1">
                <a:solidFill>
                  <a:srgbClr val="FFFFFF"/>
                </a:solidFill>
                <a:latin typeface="Arial"/>
                <a:ea typeface="Arial"/>
                <a:cs typeface="Arial"/>
              </a:defRPr>
            </a:pPr>
            <a:r>
              <a:rPr sz="4000" b="1">
                <a:solidFill>
                  <a:srgbClr val="FFFFFF"/>
                </a:solidFill>
                <a:latin typeface="Arial"/>
                <a:ea typeface="Arial"/>
                <a:cs typeface="Arial"/>
              </a:rPr>
              <a:t>PROBLEM &amp; NEED</a:t>
            </a:r>
          </a:p>
        </p:txBody>
      </p:sp>
      <p:sp>
        <p:nvSpPr>
          <p:cNvPr id="10" name="intro-copy">
            <a:extLst>
              <a:ext uri="{FF2B5EF4-FFF2-40B4-BE49-F238E27FC236}">
                <a16:creationId xmlns:a16="http://schemas.microsoft.com/office/drawing/2014/main" id="{CE8AEA26-0B0C-4F0B-B6CE-70804C04C755}"/>
              </a:ext>
            </a:extLst>
          </p:cNvPr>
          <p:cNvSpPr>
            <a:spLocks noGrp="1"/>
          </p:cNvSpPr>
          <p:nvPr/>
        </p:nvSpPr>
        <p:spPr>
          <a:xfrm>
            <a:off x="571500" y="6381750"/>
            <a:ext cx="28956000" cy="2381250"/>
          </a:xfrm>
          <a:prstGeom prst="rect">
            <a:avLst/>
          </a:prstGeom>
          <a:noFill/>
          <a:ln w="0">
            <a:noFill/>
            <a:prstDash val="solid"/>
          </a:ln>
        </p:spPr>
        <p:txBody>
          <a:bodyPr/>
          <a:lstStyle/>
          <a:p>
            <a:pPr>
              <a:buNone/>
              <a:defRPr sz="2550">
                <a:solidFill>
                  <a:srgbClr val="FFFFFF"/>
                </a:solidFill>
                <a:latin typeface="Arial"/>
                <a:ea typeface="Arial"/>
                <a:cs typeface="Arial"/>
              </a:defRPr>
            </a:pPr>
            <a:r>
              <a:rPr sz="3200" dirty="0">
                <a:solidFill>
                  <a:srgbClr val="FFFFFF"/>
                </a:solidFill>
                <a:latin typeface="Arial"/>
                <a:ea typeface="Arial"/>
                <a:cs typeface="Arial"/>
              </a:rPr>
              <a:t>People often infer dog emotions from face and body language, but subjective reports do not reveal where they actually looked. Static images also miss motion, posture shifts and contextual cues. This project combines eye-tracking data with questionnaires to identify which Areas of Interest (AOIs) people visually rely on when interpreting videos of brachycephalic and normocephalic dogs.</a:t>
            </a:r>
          </a:p>
        </p:txBody>
      </p:sp>
      <p:sp>
        <p:nvSpPr>
          <p:cNvPr id="11" name="intro-claim">
            <a:extLst>
              <a:ext uri="{FF2B5EF4-FFF2-40B4-BE49-F238E27FC236}">
                <a16:creationId xmlns:a16="http://schemas.microsoft.com/office/drawing/2014/main" id="{563D1929-273A-4239-B349-616DA39877BE}"/>
              </a:ext>
            </a:extLst>
          </p:cNvPr>
          <p:cNvSpPr>
            <a:spLocks noGrp="1"/>
          </p:cNvSpPr>
          <p:nvPr/>
        </p:nvSpPr>
        <p:spPr>
          <a:xfrm>
            <a:off x="571500" y="8705850"/>
            <a:ext cx="28956000" cy="457200"/>
          </a:xfrm>
          <a:prstGeom prst="rect">
            <a:avLst/>
          </a:prstGeom>
          <a:noFill/>
          <a:ln w="0">
            <a:noFill/>
            <a:prstDash val="solid"/>
          </a:ln>
        </p:spPr>
        <p:txBody>
          <a:bodyPr/>
          <a:lstStyle/>
          <a:p>
            <a:pPr>
              <a:buNone/>
              <a:defRPr sz="2325" b="1">
                <a:solidFill>
                  <a:srgbClr val="CDEBFF"/>
                </a:solidFill>
                <a:latin typeface="Arial"/>
                <a:ea typeface="Arial"/>
                <a:cs typeface="Arial"/>
              </a:defRPr>
            </a:pPr>
            <a:r>
              <a:rPr sz="2800" b="1">
                <a:solidFill>
                  <a:srgbClr val="CDEBFF"/>
                </a:solidFill>
                <a:latin typeface="Arial"/>
                <a:ea typeface="Arial"/>
                <a:cs typeface="Arial"/>
              </a:rPr>
              <a:t>Goal: transform raw Tobii gaze exports into normalized AOI sequences, visual metrics and interpretable findings for human-dog communication research.</a:t>
            </a:r>
          </a:p>
        </p:txBody>
      </p:sp>
      <p:sp>
        <p:nvSpPr>
          <p:cNvPr id="12" name="Research Design-box">
            <a:extLst>
              <a:ext uri="{FF2B5EF4-FFF2-40B4-BE49-F238E27FC236}">
                <a16:creationId xmlns:a16="http://schemas.microsoft.com/office/drawing/2014/main" id="{06F14331-BA87-4087-9D54-9A88EBBCE8D2}"/>
              </a:ext>
            </a:extLst>
          </p:cNvPr>
          <p:cNvSpPr>
            <a:spLocks noGrp="1"/>
          </p:cNvSpPr>
          <p:nvPr/>
        </p:nvSpPr>
        <p:spPr>
          <a:xfrm>
            <a:off x="152400" y="9829800"/>
            <a:ext cx="9591675" cy="8048625"/>
          </a:xfrm>
          <a:prstGeom prst="roundRect">
            <a:avLst>
              <a:gd name="adj" fmla="val 237"/>
            </a:avLst>
          </a:prstGeom>
          <a:solidFill>
            <a:srgbClr val="EAF3FB"/>
          </a:solidFill>
          <a:ln w="28575">
            <a:solidFill>
              <a:srgbClr val="28235C"/>
            </a:solidFill>
            <a:prstDash val="solid"/>
          </a:ln>
        </p:spPr>
        <p:txBody>
          <a:bodyPr/>
          <a:lstStyle/>
          <a:p>
            <a:pPr marL="0" indent="0" algn="l">
              <a:buNone/>
            </a:pPr>
            <a:endParaRPr sz="2000"/>
          </a:p>
        </p:txBody>
      </p:sp>
      <p:sp>
        <p:nvSpPr>
          <p:cNvPr id="13" name="Research Design-title">
            <a:extLst>
              <a:ext uri="{FF2B5EF4-FFF2-40B4-BE49-F238E27FC236}">
                <a16:creationId xmlns:a16="http://schemas.microsoft.com/office/drawing/2014/main" id="{DD6992AB-0B56-40C2-B70C-6615952149DF}"/>
              </a:ext>
            </a:extLst>
          </p:cNvPr>
          <p:cNvSpPr>
            <a:spLocks noGrp="1"/>
          </p:cNvSpPr>
          <p:nvPr/>
        </p:nvSpPr>
        <p:spPr>
          <a:xfrm>
            <a:off x="419100" y="10039350"/>
            <a:ext cx="9058275" cy="590550"/>
          </a:xfrm>
          <a:prstGeom prst="rect">
            <a:avLst/>
          </a:prstGeom>
          <a:noFill/>
          <a:ln w="0">
            <a:noFill/>
            <a:prstDash val="solid"/>
          </a:ln>
        </p:spPr>
        <p:txBody>
          <a:bodyPr/>
          <a:lstStyle/>
          <a:p>
            <a:pPr>
              <a:buNone/>
              <a:defRPr sz="3450" b="1">
                <a:solidFill>
                  <a:srgbClr val="28235C"/>
                </a:solidFill>
                <a:latin typeface="Arial"/>
                <a:ea typeface="Arial"/>
                <a:cs typeface="Arial"/>
              </a:defRPr>
            </a:pPr>
            <a:r>
              <a:rPr sz="3600" b="1">
                <a:solidFill>
                  <a:srgbClr val="28235C"/>
                </a:solidFill>
                <a:latin typeface="Arial"/>
                <a:ea typeface="Arial"/>
                <a:cs typeface="Arial"/>
              </a:rPr>
              <a:t>RESEARCH DESIGN</a:t>
            </a:r>
          </a:p>
        </p:txBody>
      </p:sp>
      <p:sp>
        <p:nvSpPr>
          <p:cNvPr id="14" name="research-bullets">
            <a:extLst>
              <a:ext uri="{FF2B5EF4-FFF2-40B4-BE49-F238E27FC236}">
                <a16:creationId xmlns:a16="http://schemas.microsoft.com/office/drawing/2014/main" id="{4DBC1251-035D-411B-8903-C762BFB5360F}"/>
              </a:ext>
            </a:extLst>
          </p:cNvPr>
          <p:cNvSpPr>
            <a:spLocks noGrp="1"/>
          </p:cNvSpPr>
          <p:nvPr/>
        </p:nvSpPr>
        <p:spPr>
          <a:xfrm>
            <a:off x="457200" y="10858500"/>
            <a:ext cx="8782050" cy="2143125"/>
          </a:xfrm>
          <a:prstGeom prst="rect">
            <a:avLst/>
          </a:prstGeom>
          <a:noFill/>
          <a:ln w="0">
            <a:noFill/>
            <a:prstDash val="solid"/>
          </a:ln>
        </p:spPr>
        <p:txBody>
          <a:bodyPr/>
          <a:lstStyle/>
          <a:p>
            <a:pPr>
              <a:buNone/>
              <a:defRPr sz="2100">
                <a:solidFill>
                  <a:srgbClr val="121426"/>
                </a:solidFill>
                <a:latin typeface="Arial"/>
                <a:ea typeface="Arial"/>
                <a:cs typeface="Arial"/>
              </a:defRPr>
            </a:pPr>
            <a:r>
              <a:rPr sz="2800" dirty="0">
                <a:solidFill>
                  <a:srgbClr val="121426"/>
                </a:solidFill>
                <a:latin typeface="Arial"/>
                <a:ea typeface="Arial"/>
                <a:cs typeface="Arial"/>
              </a:rPr>
              <a:t>• 30 Braude students, ages 18-35; 24 male and 6 female</a:t>
            </a:r>
          </a:p>
          <a:p>
            <a:pPr>
              <a:buNone/>
              <a:defRPr sz="2100">
                <a:solidFill>
                  <a:srgbClr val="121426"/>
                </a:solidFill>
                <a:latin typeface="Arial"/>
                <a:ea typeface="Arial"/>
                <a:cs typeface="Arial"/>
              </a:defRPr>
            </a:pPr>
            <a:r>
              <a:rPr sz="2800" dirty="0">
                <a:solidFill>
                  <a:srgbClr val="121426"/>
                </a:solidFill>
                <a:latin typeface="Arial"/>
                <a:ea typeface="Arial"/>
                <a:cs typeface="Arial"/>
              </a:rPr>
              <a:t>• 8 dog videos: Boston Terrier and Jack Russell Terrier</a:t>
            </a:r>
          </a:p>
          <a:p>
            <a:pPr>
              <a:buNone/>
              <a:defRPr sz="2100">
                <a:solidFill>
                  <a:srgbClr val="121426"/>
                </a:solidFill>
                <a:latin typeface="Arial"/>
                <a:ea typeface="Arial"/>
                <a:cs typeface="Arial"/>
              </a:defRPr>
            </a:pPr>
            <a:r>
              <a:rPr sz="2800" dirty="0">
                <a:solidFill>
                  <a:srgbClr val="121426"/>
                </a:solidFill>
                <a:latin typeface="Arial"/>
                <a:ea typeface="Arial"/>
                <a:cs typeface="Arial"/>
              </a:rPr>
              <a:t>• 4 situations: called by name, ball play, separation, threat</a:t>
            </a:r>
          </a:p>
          <a:p>
            <a:pPr>
              <a:buNone/>
              <a:defRPr sz="2100">
                <a:solidFill>
                  <a:srgbClr val="121426"/>
                </a:solidFill>
                <a:latin typeface="Arial"/>
                <a:ea typeface="Arial"/>
                <a:cs typeface="Arial"/>
              </a:defRPr>
            </a:pPr>
            <a:r>
              <a:rPr sz="2800" dirty="0">
                <a:solidFill>
                  <a:srgbClr val="121426"/>
                </a:solidFill>
                <a:latin typeface="Arial"/>
                <a:ea typeface="Arial"/>
                <a:cs typeface="Arial"/>
              </a:rPr>
              <a:t>• After each video: emotion, situation and cue questions via Google Forms</a:t>
            </a:r>
          </a:p>
          <a:p>
            <a:pPr>
              <a:buNone/>
              <a:defRPr sz="2100">
                <a:solidFill>
                  <a:srgbClr val="121426"/>
                </a:solidFill>
                <a:latin typeface="Arial"/>
                <a:ea typeface="Arial"/>
                <a:cs typeface="Arial"/>
              </a:defRPr>
            </a:pPr>
            <a:r>
              <a:rPr sz="2800" dirty="0">
                <a:solidFill>
                  <a:srgbClr val="121426"/>
                </a:solidFill>
                <a:latin typeface="Arial"/>
                <a:ea typeface="Arial"/>
                <a:cs typeface="Arial"/>
              </a:rPr>
              <a:t>• Calibration thresholds used for accuracy, precision and data loss</a:t>
            </a:r>
          </a:p>
        </p:txBody>
      </p:sp>
      <p:sp>
        <p:nvSpPr>
          <p:cNvPr id="17" name="Technologies &amp; Tools-box">
            <a:extLst>
              <a:ext uri="{FF2B5EF4-FFF2-40B4-BE49-F238E27FC236}">
                <a16:creationId xmlns:a16="http://schemas.microsoft.com/office/drawing/2014/main" id="{7460D88C-856C-46C2-A054-7B75E8F762F6}"/>
              </a:ext>
            </a:extLst>
          </p:cNvPr>
          <p:cNvSpPr>
            <a:spLocks noGrp="1"/>
          </p:cNvSpPr>
          <p:nvPr/>
        </p:nvSpPr>
        <p:spPr>
          <a:xfrm>
            <a:off x="10010775" y="9829800"/>
            <a:ext cx="9591675" cy="8048625"/>
          </a:xfrm>
          <a:prstGeom prst="roundRect">
            <a:avLst>
              <a:gd name="adj" fmla="val 237"/>
            </a:avLst>
          </a:prstGeom>
          <a:solidFill>
            <a:srgbClr val="EAF3FB"/>
          </a:solidFill>
          <a:ln w="28575">
            <a:solidFill>
              <a:srgbClr val="28235C"/>
            </a:solidFill>
            <a:prstDash val="solid"/>
          </a:ln>
        </p:spPr>
        <p:txBody>
          <a:bodyPr/>
          <a:lstStyle/>
          <a:p>
            <a:pPr marL="0" indent="0" algn="l" defTabSz="914400" rtl="0">
              <a:buNone/>
            </a:pPr>
            <a:endParaRPr sz="2000"/>
          </a:p>
        </p:txBody>
      </p:sp>
      <p:sp>
        <p:nvSpPr>
          <p:cNvPr id="18" name="Technologies &amp; Tools-title">
            <a:extLst>
              <a:ext uri="{FF2B5EF4-FFF2-40B4-BE49-F238E27FC236}">
                <a16:creationId xmlns:a16="http://schemas.microsoft.com/office/drawing/2014/main" id="{315CCF05-B3C7-4809-B313-CFDE881408F3}"/>
              </a:ext>
            </a:extLst>
          </p:cNvPr>
          <p:cNvSpPr>
            <a:spLocks noGrp="1"/>
          </p:cNvSpPr>
          <p:nvPr/>
        </p:nvSpPr>
        <p:spPr>
          <a:xfrm>
            <a:off x="10277475" y="10039350"/>
            <a:ext cx="9058275" cy="590550"/>
          </a:xfrm>
          <a:prstGeom prst="rect">
            <a:avLst/>
          </a:prstGeom>
          <a:noFill/>
          <a:ln w="0">
            <a:noFill/>
            <a:prstDash val="solid"/>
          </a:ln>
        </p:spPr>
        <p:txBody>
          <a:bodyPr/>
          <a:lstStyle/>
          <a:p>
            <a:pPr>
              <a:buNone/>
              <a:defRPr sz="3450" b="1">
                <a:solidFill>
                  <a:srgbClr val="28235C"/>
                </a:solidFill>
                <a:latin typeface="Arial"/>
                <a:ea typeface="Arial"/>
                <a:cs typeface="Arial"/>
              </a:defRPr>
            </a:pPr>
            <a:r>
              <a:rPr sz="3600" b="1">
                <a:solidFill>
                  <a:srgbClr val="28235C"/>
                </a:solidFill>
                <a:latin typeface="Arial"/>
                <a:ea typeface="Arial"/>
                <a:cs typeface="Arial"/>
              </a:rPr>
              <a:t>TECHNOLOGIES &amp; TOOLS</a:t>
            </a:r>
          </a:p>
        </p:txBody>
      </p:sp>
      <p:sp>
        <p:nvSpPr>
          <p:cNvPr id="19" name="tech-bullets">
            <a:extLst>
              <a:ext uri="{FF2B5EF4-FFF2-40B4-BE49-F238E27FC236}">
                <a16:creationId xmlns:a16="http://schemas.microsoft.com/office/drawing/2014/main" id="{CF9EC463-264A-47A6-926E-818ED55BE578}"/>
              </a:ext>
            </a:extLst>
          </p:cNvPr>
          <p:cNvSpPr>
            <a:spLocks noGrp="1"/>
          </p:cNvSpPr>
          <p:nvPr/>
        </p:nvSpPr>
        <p:spPr>
          <a:xfrm>
            <a:off x="10315575" y="10858500"/>
            <a:ext cx="8782050" cy="3073064"/>
          </a:xfrm>
          <a:prstGeom prst="rect">
            <a:avLst/>
          </a:prstGeom>
          <a:noFill/>
          <a:ln w="0">
            <a:noFill/>
            <a:prstDash val="solid"/>
          </a:ln>
        </p:spPr>
        <p:txBody>
          <a:bodyPr/>
          <a:lstStyle/>
          <a:p>
            <a:pPr>
              <a:buNone/>
              <a:defRPr sz="2100">
                <a:solidFill>
                  <a:srgbClr val="121426"/>
                </a:solidFill>
                <a:latin typeface="Arial"/>
                <a:ea typeface="Arial"/>
                <a:cs typeface="Arial"/>
              </a:defRPr>
            </a:pPr>
            <a:r>
              <a:rPr sz="2800" dirty="0">
                <a:solidFill>
                  <a:srgbClr val="121426"/>
                </a:solidFill>
                <a:latin typeface="Arial"/>
                <a:ea typeface="Arial"/>
                <a:cs typeface="Arial"/>
              </a:rPr>
              <a:t>• Tobii Pro Spark / Tobii Pro Lab for stimulus presentation and gaze export</a:t>
            </a:r>
          </a:p>
          <a:p>
            <a:pPr>
              <a:buNone/>
              <a:defRPr sz="2100">
                <a:solidFill>
                  <a:srgbClr val="121426"/>
                </a:solidFill>
                <a:latin typeface="Arial"/>
                <a:ea typeface="Arial"/>
                <a:cs typeface="Arial"/>
              </a:defRPr>
            </a:pPr>
            <a:r>
              <a:rPr sz="2800" dirty="0">
                <a:solidFill>
                  <a:srgbClr val="121426"/>
                </a:solidFill>
                <a:latin typeface="Arial"/>
                <a:ea typeface="Arial"/>
                <a:cs typeface="Arial"/>
              </a:rPr>
              <a:t>• Google Forms for demographic and per-video questionnaires</a:t>
            </a:r>
          </a:p>
          <a:p>
            <a:pPr>
              <a:buNone/>
              <a:defRPr sz="2100">
                <a:solidFill>
                  <a:srgbClr val="121426"/>
                </a:solidFill>
                <a:latin typeface="Arial"/>
                <a:ea typeface="Arial"/>
                <a:cs typeface="Arial"/>
              </a:defRPr>
            </a:pPr>
            <a:r>
              <a:rPr sz="2800" dirty="0">
                <a:solidFill>
                  <a:srgbClr val="121426"/>
                </a:solidFill>
                <a:latin typeface="Arial"/>
                <a:ea typeface="Arial"/>
                <a:cs typeface="Arial"/>
              </a:rPr>
              <a:t>• Python, Google </a:t>
            </a:r>
            <a:r>
              <a:rPr sz="2800" dirty="0" err="1">
                <a:solidFill>
                  <a:srgbClr val="121426"/>
                </a:solidFill>
                <a:latin typeface="Arial"/>
                <a:ea typeface="Arial"/>
                <a:cs typeface="Arial"/>
              </a:rPr>
              <a:t>Colab</a:t>
            </a:r>
            <a:r>
              <a:rPr sz="2800" dirty="0">
                <a:solidFill>
                  <a:srgbClr val="121426"/>
                </a:solidFill>
                <a:latin typeface="Arial"/>
                <a:ea typeface="Arial"/>
                <a:cs typeface="Arial"/>
              </a:rPr>
              <a:t>, Pandas and Jupyter notebooks for cleaning and analysis</a:t>
            </a:r>
          </a:p>
        </p:txBody>
      </p:sp>
      <p:sp>
        <p:nvSpPr>
          <p:cNvPr id="21" name="Core Requirements-box">
            <a:extLst>
              <a:ext uri="{FF2B5EF4-FFF2-40B4-BE49-F238E27FC236}">
                <a16:creationId xmlns:a16="http://schemas.microsoft.com/office/drawing/2014/main" id="{9ABFE379-8C73-489D-960E-EF31BAEC40C6}"/>
              </a:ext>
            </a:extLst>
          </p:cNvPr>
          <p:cNvSpPr>
            <a:spLocks noGrp="1"/>
          </p:cNvSpPr>
          <p:nvPr/>
        </p:nvSpPr>
        <p:spPr>
          <a:xfrm>
            <a:off x="19869150" y="9829800"/>
            <a:ext cx="9591675" cy="8048625"/>
          </a:xfrm>
          <a:prstGeom prst="roundRect">
            <a:avLst>
              <a:gd name="adj" fmla="val 237"/>
            </a:avLst>
          </a:prstGeom>
          <a:solidFill>
            <a:srgbClr val="EAF3FB"/>
          </a:solidFill>
          <a:ln w="28575">
            <a:solidFill>
              <a:srgbClr val="28235C"/>
            </a:solidFill>
            <a:prstDash val="solid"/>
          </a:ln>
        </p:spPr>
        <p:txBody>
          <a:bodyPr/>
          <a:lstStyle/>
          <a:p>
            <a:pPr marL="0" indent="0" algn="l">
              <a:buNone/>
            </a:pPr>
            <a:endParaRPr sz="2000"/>
          </a:p>
        </p:txBody>
      </p:sp>
      <p:sp>
        <p:nvSpPr>
          <p:cNvPr id="22" name="Core Requirements-title">
            <a:extLst>
              <a:ext uri="{FF2B5EF4-FFF2-40B4-BE49-F238E27FC236}">
                <a16:creationId xmlns:a16="http://schemas.microsoft.com/office/drawing/2014/main" id="{58BDE6C2-4E81-4AE5-B42D-50C4ABF3DFF9}"/>
              </a:ext>
            </a:extLst>
          </p:cNvPr>
          <p:cNvSpPr>
            <a:spLocks noGrp="1"/>
          </p:cNvSpPr>
          <p:nvPr/>
        </p:nvSpPr>
        <p:spPr>
          <a:xfrm>
            <a:off x="20135850" y="10039350"/>
            <a:ext cx="9058275" cy="590550"/>
          </a:xfrm>
          <a:prstGeom prst="rect">
            <a:avLst/>
          </a:prstGeom>
          <a:noFill/>
          <a:ln w="0">
            <a:noFill/>
            <a:prstDash val="solid"/>
          </a:ln>
        </p:spPr>
        <p:txBody>
          <a:bodyPr/>
          <a:lstStyle/>
          <a:p>
            <a:pPr>
              <a:buNone/>
              <a:defRPr sz="3450" b="1">
                <a:solidFill>
                  <a:srgbClr val="28235C"/>
                </a:solidFill>
                <a:latin typeface="Arial"/>
                <a:ea typeface="Arial"/>
                <a:cs typeface="Arial"/>
              </a:defRPr>
            </a:pPr>
            <a:r>
              <a:rPr sz="3600" b="1">
                <a:solidFill>
                  <a:srgbClr val="28235C"/>
                </a:solidFill>
                <a:latin typeface="Arial"/>
                <a:ea typeface="Arial"/>
                <a:cs typeface="Arial"/>
              </a:rPr>
              <a:t>CORE REQUIREMENTS</a:t>
            </a:r>
          </a:p>
        </p:txBody>
      </p:sp>
      <p:sp>
        <p:nvSpPr>
          <p:cNvPr id="26" name="flow-1-num-text">
            <a:extLst>
              <a:ext uri="{FF2B5EF4-FFF2-40B4-BE49-F238E27FC236}">
                <a16:creationId xmlns:a16="http://schemas.microsoft.com/office/drawing/2014/main" id="{D2110A87-4135-45FD-B3E3-9EEEBDD2D269}"/>
              </a:ext>
            </a:extLst>
          </p:cNvPr>
          <p:cNvSpPr>
            <a:spLocks noGrp="1"/>
          </p:cNvSpPr>
          <p:nvPr/>
        </p:nvSpPr>
        <p:spPr>
          <a:xfrm>
            <a:off x="20745450" y="13477875"/>
            <a:ext cx="666750" cy="514350"/>
          </a:xfrm>
          <a:prstGeom prst="rect">
            <a:avLst/>
          </a:prstGeom>
          <a:noFill/>
          <a:ln w="0">
            <a:noFill/>
            <a:prstDash val="solid"/>
          </a:ln>
        </p:spPr>
        <p:txBody>
          <a:bodyPr/>
          <a:lstStyle/>
          <a:p>
            <a:pPr algn="ctr">
              <a:buNone/>
              <a:defRPr sz="3000" b="1">
                <a:solidFill>
                  <a:srgbClr val="FFFFFF"/>
                </a:solidFill>
                <a:latin typeface="Arial"/>
                <a:ea typeface="Arial"/>
                <a:cs typeface="Arial"/>
              </a:defRPr>
            </a:pPr>
            <a:endParaRPr sz="3200"/>
          </a:p>
        </p:txBody>
      </p:sp>
      <p:sp>
        <p:nvSpPr>
          <p:cNvPr id="39" name="Key Results-box">
            <a:extLst>
              <a:ext uri="{FF2B5EF4-FFF2-40B4-BE49-F238E27FC236}">
                <a16:creationId xmlns:a16="http://schemas.microsoft.com/office/drawing/2014/main" id="{E0F6C618-B210-4CD4-B331-C01697F36C2B}"/>
              </a:ext>
            </a:extLst>
          </p:cNvPr>
          <p:cNvSpPr>
            <a:spLocks noGrp="1"/>
          </p:cNvSpPr>
          <p:nvPr/>
        </p:nvSpPr>
        <p:spPr>
          <a:xfrm>
            <a:off x="152400" y="18240375"/>
            <a:ext cx="19431000" cy="12192000"/>
          </a:xfrm>
          <a:prstGeom prst="roundRect">
            <a:avLst>
              <a:gd name="adj" fmla="val 156"/>
            </a:avLst>
          </a:prstGeom>
          <a:solidFill>
            <a:srgbClr val="EAF3FB"/>
          </a:solidFill>
          <a:ln w="28575">
            <a:solidFill>
              <a:srgbClr val="28235C"/>
            </a:solidFill>
            <a:prstDash val="solid"/>
          </a:ln>
        </p:spPr>
        <p:txBody>
          <a:bodyPr/>
          <a:lstStyle/>
          <a:p>
            <a:pPr marL="0" indent="0" algn="l" defTabSz="914400" rtl="0">
              <a:buNone/>
            </a:pPr>
            <a:endParaRPr sz="2000"/>
          </a:p>
        </p:txBody>
      </p:sp>
      <p:sp>
        <p:nvSpPr>
          <p:cNvPr id="40" name="Key Results-title">
            <a:extLst>
              <a:ext uri="{FF2B5EF4-FFF2-40B4-BE49-F238E27FC236}">
                <a16:creationId xmlns:a16="http://schemas.microsoft.com/office/drawing/2014/main" id="{2B2ABA47-0803-4180-91A0-E095EA40918F}"/>
              </a:ext>
            </a:extLst>
          </p:cNvPr>
          <p:cNvSpPr>
            <a:spLocks noGrp="1"/>
          </p:cNvSpPr>
          <p:nvPr/>
        </p:nvSpPr>
        <p:spPr>
          <a:xfrm>
            <a:off x="419100" y="18449925"/>
            <a:ext cx="18897600" cy="590550"/>
          </a:xfrm>
          <a:prstGeom prst="rect">
            <a:avLst/>
          </a:prstGeom>
          <a:noFill/>
          <a:ln w="0">
            <a:noFill/>
            <a:prstDash val="solid"/>
          </a:ln>
        </p:spPr>
        <p:txBody>
          <a:bodyPr/>
          <a:lstStyle/>
          <a:p>
            <a:pPr>
              <a:buNone/>
              <a:defRPr sz="3450" b="1">
                <a:solidFill>
                  <a:srgbClr val="28235C"/>
                </a:solidFill>
                <a:latin typeface="Arial"/>
                <a:ea typeface="Arial"/>
                <a:cs typeface="Arial"/>
              </a:defRPr>
            </a:pPr>
            <a:r>
              <a:rPr sz="3600" b="1">
                <a:solidFill>
                  <a:srgbClr val="28235C"/>
                </a:solidFill>
                <a:latin typeface="Arial"/>
                <a:ea typeface="Arial"/>
                <a:cs typeface="Arial"/>
              </a:rPr>
              <a:t>KEY RESULTS</a:t>
            </a:r>
          </a:p>
        </p:txBody>
      </p:sp>
      <p:sp>
        <p:nvSpPr>
          <p:cNvPr id="42" name="bar-title">
            <a:extLst>
              <a:ext uri="{FF2B5EF4-FFF2-40B4-BE49-F238E27FC236}">
                <a16:creationId xmlns:a16="http://schemas.microsoft.com/office/drawing/2014/main" id="{C33319AD-9E15-4299-B97C-6E3044CF1F05}"/>
              </a:ext>
            </a:extLst>
          </p:cNvPr>
          <p:cNvSpPr>
            <a:spLocks noGrp="1"/>
          </p:cNvSpPr>
          <p:nvPr/>
        </p:nvSpPr>
        <p:spPr>
          <a:xfrm>
            <a:off x="723900" y="19539286"/>
            <a:ext cx="7143750" cy="47625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dirty="0">
                <a:solidFill>
                  <a:srgbClr val="121426"/>
                </a:solidFill>
                <a:latin typeface="Arial"/>
                <a:ea typeface="Arial"/>
                <a:cs typeface="Arial"/>
              </a:rPr>
              <a:t>AOI fixation distribution</a:t>
            </a:r>
          </a:p>
        </p:txBody>
      </p:sp>
      <p:sp>
        <p:nvSpPr>
          <p:cNvPr id="43" name="Face_TOP-bar-label">
            <a:extLst>
              <a:ext uri="{FF2B5EF4-FFF2-40B4-BE49-F238E27FC236}">
                <a16:creationId xmlns:a16="http://schemas.microsoft.com/office/drawing/2014/main" id="{0AE83014-DACC-4216-A0C6-A68DFFF340F5}"/>
              </a:ext>
            </a:extLst>
          </p:cNvPr>
          <p:cNvSpPr>
            <a:spLocks noGrp="1"/>
          </p:cNvSpPr>
          <p:nvPr/>
        </p:nvSpPr>
        <p:spPr>
          <a:xfrm>
            <a:off x="638176" y="20301286"/>
            <a:ext cx="2419350" cy="520364"/>
          </a:xfrm>
          <a:prstGeom prst="rect">
            <a:avLst/>
          </a:prstGeom>
          <a:noFill/>
          <a:ln w="0">
            <a:noFill/>
            <a:prstDash val="solid"/>
          </a:ln>
        </p:spPr>
        <p:txBody>
          <a:bodyPr/>
          <a:lstStyle/>
          <a:p>
            <a:pPr>
              <a:buNone/>
              <a:defRPr sz="1875" b="1">
                <a:solidFill>
                  <a:srgbClr val="121426"/>
                </a:solidFill>
                <a:latin typeface="Arial"/>
                <a:ea typeface="Arial"/>
                <a:cs typeface="Arial"/>
              </a:defRPr>
            </a:pPr>
            <a:r>
              <a:rPr lang="en-US" sz="2800" b="1" dirty="0">
                <a:solidFill>
                  <a:srgbClr val="121426"/>
                </a:solidFill>
                <a:latin typeface="Arial"/>
                <a:ea typeface="Arial"/>
                <a:cs typeface="Arial"/>
              </a:rPr>
              <a:t>Upper face</a:t>
            </a:r>
            <a:endParaRPr sz="2800" b="1" dirty="0">
              <a:solidFill>
                <a:srgbClr val="121426"/>
              </a:solidFill>
              <a:latin typeface="Arial"/>
              <a:ea typeface="Arial"/>
              <a:cs typeface="Arial"/>
            </a:endParaRPr>
          </a:p>
        </p:txBody>
      </p:sp>
      <p:sp>
        <p:nvSpPr>
          <p:cNvPr id="44" name="Face_TOP-bar-bg">
            <a:extLst>
              <a:ext uri="{FF2B5EF4-FFF2-40B4-BE49-F238E27FC236}">
                <a16:creationId xmlns:a16="http://schemas.microsoft.com/office/drawing/2014/main" id="{623008B9-A99F-47FC-BD62-5AAB76E57CFE}"/>
              </a:ext>
            </a:extLst>
          </p:cNvPr>
          <p:cNvSpPr>
            <a:spLocks noGrp="1"/>
          </p:cNvSpPr>
          <p:nvPr/>
        </p:nvSpPr>
        <p:spPr>
          <a:xfrm>
            <a:off x="3105150" y="20640675"/>
            <a:ext cx="8572500" cy="266700"/>
          </a:xfrm>
          <a:prstGeom prst="roundRect">
            <a:avLst>
              <a:gd name="adj" fmla="val 7143"/>
            </a:avLst>
          </a:prstGeom>
          <a:solidFill>
            <a:srgbClr val="EDF4FB"/>
          </a:solidFill>
          <a:ln w="28575">
            <a:noFill/>
            <a:prstDash val="solid"/>
          </a:ln>
        </p:spPr>
        <p:txBody>
          <a:bodyPr/>
          <a:lstStyle/>
          <a:p>
            <a:endParaRPr sz="2000"/>
          </a:p>
        </p:txBody>
      </p:sp>
      <p:sp>
        <p:nvSpPr>
          <p:cNvPr id="45" name="Face_TOP-bar-fill">
            <a:extLst>
              <a:ext uri="{FF2B5EF4-FFF2-40B4-BE49-F238E27FC236}">
                <a16:creationId xmlns:a16="http://schemas.microsoft.com/office/drawing/2014/main" id="{79F84CE3-B135-478D-8C21-E8C752C57625}"/>
              </a:ext>
            </a:extLst>
          </p:cNvPr>
          <p:cNvSpPr>
            <a:spLocks noGrp="1"/>
          </p:cNvSpPr>
          <p:nvPr/>
        </p:nvSpPr>
        <p:spPr>
          <a:xfrm>
            <a:off x="3105150" y="20367961"/>
            <a:ext cx="8572500" cy="266700"/>
          </a:xfrm>
          <a:prstGeom prst="roundRect">
            <a:avLst>
              <a:gd name="adj" fmla="val 7143"/>
            </a:avLst>
          </a:prstGeom>
          <a:solidFill>
            <a:srgbClr val="14A098"/>
          </a:solidFill>
          <a:ln w="28575">
            <a:noFill/>
            <a:prstDash val="solid"/>
          </a:ln>
        </p:spPr>
        <p:txBody>
          <a:bodyPr/>
          <a:lstStyle/>
          <a:p>
            <a:pPr marL="0" indent="0" algn="l" defTabSz="914400" rtl="0"/>
            <a:endParaRPr sz="2000"/>
          </a:p>
        </p:txBody>
      </p:sp>
      <p:sp>
        <p:nvSpPr>
          <p:cNvPr id="46" name="Face_TOP-bar-note">
            <a:extLst>
              <a:ext uri="{FF2B5EF4-FFF2-40B4-BE49-F238E27FC236}">
                <a16:creationId xmlns:a16="http://schemas.microsoft.com/office/drawing/2014/main" id="{0BAB1A78-FF54-4BE3-83A5-C5A76F17335F}"/>
              </a:ext>
            </a:extLst>
          </p:cNvPr>
          <p:cNvSpPr>
            <a:spLocks noGrp="1"/>
          </p:cNvSpPr>
          <p:nvPr/>
        </p:nvSpPr>
        <p:spPr>
          <a:xfrm>
            <a:off x="11849100" y="20282236"/>
            <a:ext cx="1219200" cy="400050"/>
          </a:xfrm>
          <a:prstGeom prst="rect">
            <a:avLst/>
          </a:prstGeom>
          <a:noFill/>
          <a:ln w="0">
            <a:noFill/>
            <a:prstDash val="solid"/>
          </a:ln>
        </p:spPr>
        <p:txBody>
          <a:bodyPr/>
          <a:lstStyle/>
          <a:p>
            <a:pPr>
              <a:buNone/>
              <a:defRPr sz="1800" b="1">
                <a:solidFill>
                  <a:srgbClr val="121426"/>
                </a:solidFill>
                <a:latin typeface="Arial"/>
                <a:ea typeface="Arial"/>
                <a:cs typeface="Arial"/>
              </a:defRPr>
            </a:pPr>
            <a:r>
              <a:rPr sz="2400" b="1" dirty="0">
                <a:solidFill>
                  <a:srgbClr val="121426"/>
                </a:solidFill>
                <a:latin typeface="Arial"/>
                <a:ea typeface="Arial"/>
                <a:cs typeface="Arial"/>
              </a:rPr>
              <a:t>51.3%</a:t>
            </a:r>
          </a:p>
        </p:txBody>
      </p:sp>
      <p:sp>
        <p:nvSpPr>
          <p:cNvPr id="47" name="Face_BOTTOM-bar-label">
            <a:extLst>
              <a:ext uri="{FF2B5EF4-FFF2-40B4-BE49-F238E27FC236}">
                <a16:creationId xmlns:a16="http://schemas.microsoft.com/office/drawing/2014/main" id="{3ACF065E-F62F-4B81-8699-3E627D3C3ED8}"/>
              </a:ext>
            </a:extLst>
          </p:cNvPr>
          <p:cNvSpPr>
            <a:spLocks noGrp="1"/>
          </p:cNvSpPr>
          <p:nvPr/>
        </p:nvSpPr>
        <p:spPr>
          <a:xfrm>
            <a:off x="638176" y="21120436"/>
            <a:ext cx="2419350" cy="520364"/>
          </a:xfrm>
          <a:prstGeom prst="rect">
            <a:avLst/>
          </a:prstGeom>
          <a:noFill/>
          <a:ln w="0">
            <a:noFill/>
            <a:prstDash val="solid"/>
          </a:ln>
        </p:spPr>
        <p:txBody>
          <a:bodyPr/>
          <a:lstStyle/>
          <a:p>
            <a:pPr>
              <a:buNone/>
              <a:defRPr sz="1875" b="1">
                <a:solidFill>
                  <a:srgbClr val="121426"/>
                </a:solidFill>
                <a:latin typeface="Arial"/>
                <a:ea typeface="Arial"/>
                <a:cs typeface="Arial"/>
              </a:defRPr>
            </a:pPr>
            <a:r>
              <a:rPr lang="en-US" sz="2800" b="1" dirty="0">
                <a:solidFill>
                  <a:srgbClr val="121426"/>
                </a:solidFill>
                <a:latin typeface="Arial"/>
                <a:ea typeface="Arial"/>
                <a:cs typeface="Arial"/>
              </a:rPr>
              <a:t>Lower face</a:t>
            </a:r>
            <a:endParaRPr sz="2800" b="1" dirty="0">
              <a:solidFill>
                <a:srgbClr val="121426"/>
              </a:solidFill>
              <a:latin typeface="Arial"/>
              <a:ea typeface="Arial"/>
              <a:cs typeface="Arial"/>
            </a:endParaRPr>
          </a:p>
        </p:txBody>
      </p:sp>
      <p:sp>
        <p:nvSpPr>
          <p:cNvPr id="48" name="Face_BOTTOM-bar-bg">
            <a:extLst>
              <a:ext uri="{FF2B5EF4-FFF2-40B4-BE49-F238E27FC236}">
                <a16:creationId xmlns:a16="http://schemas.microsoft.com/office/drawing/2014/main" id="{C1F3C575-447B-4020-9E3E-88AB2B15B8C7}"/>
              </a:ext>
            </a:extLst>
          </p:cNvPr>
          <p:cNvSpPr>
            <a:spLocks noGrp="1"/>
          </p:cNvSpPr>
          <p:nvPr/>
        </p:nvSpPr>
        <p:spPr>
          <a:xfrm>
            <a:off x="3105150" y="21459825"/>
            <a:ext cx="8572500" cy="266700"/>
          </a:xfrm>
          <a:prstGeom prst="roundRect">
            <a:avLst>
              <a:gd name="adj" fmla="val 7143"/>
            </a:avLst>
          </a:prstGeom>
          <a:solidFill>
            <a:srgbClr val="EDF4FB"/>
          </a:solidFill>
          <a:ln w="28575">
            <a:noFill/>
            <a:prstDash val="solid"/>
          </a:ln>
        </p:spPr>
        <p:txBody>
          <a:bodyPr/>
          <a:lstStyle/>
          <a:p>
            <a:endParaRPr sz="2000"/>
          </a:p>
        </p:txBody>
      </p:sp>
      <p:sp>
        <p:nvSpPr>
          <p:cNvPr id="49" name="Face_BOTTOM-bar-fill">
            <a:extLst>
              <a:ext uri="{FF2B5EF4-FFF2-40B4-BE49-F238E27FC236}">
                <a16:creationId xmlns:a16="http://schemas.microsoft.com/office/drawing/2014/main" id="{927DC978-DD78-485D-9DD5-5B031621412E}"/>
              </a:ext>
            </a:extLst>
          </p:cNvPr>
          <p:cNvSpPr>
            <a:spLocks noGrp="1"/>
          </p:cNvSpPr>
          <p:nvPr/>
        </p:nvSpPr>
        <p:spPr>
          <a:xfrm>
            <a:off x="3105150" y="21187111"/>
            <a:ext cx="4469572" cy="266700"/>
          </a:xfrm>
          <a:prstGeom prst="roundRect">
            <a:avLst>
              <a:gd name="adj" fmla="val 7143"/>
            </a:avLst>
          </a:prstGeom>
          <a:solidFill>
            <a:srgbClr val="3975A8"/>
          </a:solidFill>
          <a:ln w="28575">
            <a:noFill/>
            <a:prstDash val="solid"/>
          </a:ln>
        </p:spPr>
        <p:txBody>
          <a:bodyPr/>
          <a:lstStyle/>
          <a:p>
            <a:endParaRPr sz="2000"/>
          </a:p>
        </p:txBody>
      </p:sp>
      <p:sp>
        <p:nvSpPr>
          <p:cNvPr id="50" name="Face_BOTTOM-bar-note">
            <a:extLst>
              <a:ext uri="{FF2B5EF4-FFF2-40B4-BE49-F238E27FC236}">
                <a16:creationId xmlns:a16="http://schemas.microsoft.com/office/drawing/2014/main" id="{6D6F36D3-B8F6-4155-B9DC-7160535B383D}"/>
              </a:ext>
            </a:extLst>
          </p:cNvPr>
          <p:cNvSpPr>
            <a:spLocks noGrp="1"/>
          </p:cNvSpPr>
          <p:nvPr/>
        </p:nvSpPr>
        <p:spPr>
          <a:xfrm>
            <a:off x="11849100" y="21101386"/>
            <a:ext cx="1219200" cy="400050"/>
          </a:xfrm>
          <a:prstGeom prst="rect">
            <a:avLst/>
          </a:prstGeom>
          <a:noFill/>
          <a:ln w="0">
            <a:noFill/>
            <a:prstDash val="solid"/>
          </a:ln>
        </p:spPr>
        <p:txBody>
          <a:bodyPr/>
          <a:lstStyle/>
          <a:p>
            <a:pPr>
              <a:buNone/>
              <a:defRPr sz="1800" b="1">
                <a:solidFill>
                  <a:srgbClr val="121426"/>
                </a:solidFill>
                <a:latin typeface="Arial"/>
                <a:ea typeface="Arial"/>
                <a:cs typeface="Arial"/>
              </a:defRPr>
            </a:pPr>
            <a:r>
              <a:rPr sz="2400" b="1">
                <a:solidFill>
                  <a:srgbClr val="121426"/>
                </a:solidFill>
                <a:latin typeface="Arial"/>
                <a:ea typeface="Arial"/>
                <a:cs typeface="Arial"/>
              </a:rPr>
              <a:t>26.7%</a:t>
            </a:r>
          </a:p>
        </p:txBody>
      </p:sp>
      <p:sp>
        <p:nvSpPr>
          <p:cNvPr id="51" name="Torso-bar-label">
            <a:extLst>
              <a:ext uri="{FF2B5EF4-FFF2-40B4-BE49-F238E27FC236}">
                <a16:creationId xmlns:a16="http://schemas.microsoft.com/office/drawing/2014/main" id="{80CF4A03-E694-41E1-B35C-85E7B79B04FD}"/>
              </a:ext>
            </a:extLst>
          </p:cNvPr>
          <p:cNvSpPr>
            <a:spLocks noGrp="1"/>
          </p:cNvSpPr>
          <p:nvPr/>
        </p:nvSpPr>
        <p:spPr>
          <a:xfrm>
            <a:off x="638176" y="21939586"/>
            <a:ext cx="2419350" cy="520364"/>
          </a:xfrm>
          <a:prstGeom prst="rect">
            <a:avLst/>
          </a:prstGeom>
          <a:noFill/>
          <a:ln w="0">
            <a:noFill/>
            <a:prstDash val="solid"/>
          </a:ln>
        </p:spPr>
        <p:txBody>
          <a:bodyPr/>
          <a:lstStyle/>
          <a:p>
            <a:pPr>
              <a:buNone/>
              <a:defRPr sz="1875" b="1">
                <a:solidFill>
                  <a:srgbClr val="121426"/>
                </a:solidFill>
                <a:latin typeface="Arial"/>
                <a:ea typeface="Arial"/>
                <a:cs typeface="Arial"/>
              </a:defRPr>
            </a:pPr>
            <a:r>
              <a:rPr sz="2800" b="1">
                <a:solidFill>
                  <a:srgbClr val="121426"/>
                </a:solidFill>
                <a:latin typeface="Arial"/>
                <a:ea typeface="Arial"/>
                <a:cs typeface="Arial"/>
              </a:rPr>
              <a:t>Torso</a:t>
            </a:r>
          </a:p>
        </p:txBody>
      </p:sp>
      <p:sp>
        <p:nvSpPr>
          <p:cNvPr id="52" name="Torso-bar-bg">
            <a:extLst>
              <a:ext uri="{FF2B5EF4-FFF2-40B4-BE49-F238E27FC236}">
                <a16:creationId xmlns:a16="http://schemas.microsoft.com/office/drawing/2014/main" id="{58DD3B1B-C2F4-49E9-97C0-7ED1C53E81EF}"/>
              </a:ext>
            </a:extLst>
          </p:cNvPr>
          <p:cNvSpPr>
            <a:spLocks noGrp="1"/>
          </p:cNvSpPr>
          <p:nvPr/>
        </p:nvSpPr>
        <p:spPr>
          <a:xfrm>
            <a:off x="3105150" y="22278975"/>
            <a:ext cx="8572500" cy="266700"/>
          </a:xfrm>
          <a:prstGeom prst="roundRect">
            <a:avLst>
              <a:gd name="adj" fmla="val 7143"/>
            </a:avLst>
          </a:prstGeom>
          <a:solidFill>
            <a:srgbClr val="EDF4FB"/>
          </a:solidFill>
          <a:ln w="28575">
            <a:noFill/>
            <a:prstDash val="solid"/>
          </a:ln>
        </p:spPr>
        <p:txBody>
          <a:bodyPr/>
          <a:lstStyle/>
          <a:p>
            <a:endParaRPr sz="2000"/>
          </a:p>
        </p:txBody>
      </p:sp>
      <p:sp>
        <p:nvSpPr>
          <p:cNvPr id="53" name="Torso-bar-fill">
            <a:extLst>
              <a:ext uri="{FF2B5EF4-FFF2-40B4-BE49-F238E27FC236}">
                <a16:creationId xmlns:a16="http://schemas.microsoft.com/office/drawing/2014/main" id="{FD9D589F-F8CE-4529-9FBF-463D15567F04}"/>
              </a:ext>
            </a:extLst>
          </p:cNvPr>
          <p:cNvSpPr>
            <a:spLocks noGrp="1"/>
          </p:cNvSpPr>
          <p:nvPr/>
        </p:nvSpPr>
        <p:spPr>
          <a:xfrm>
            <a:off x="3105150" y="22006261"/>
            <a:ext cx="3138303" cy="266700"/>
          </a:xfrm>
          <a:prstGeom prst="roundRect">
            <a:avLst>
              <a:gd name="adj" fmla="val 7143"/>
            </a:avLst>
          </a:prstGeom>
          <a:solidFill>
            <a:srgbClr val="F27C38"/>
          </a:solidFill>
          <a:ln w="28575">
            <a:noFill/>
            <a:prstDash val="solid"/>
          </a:ln>
        </p:spPr>
        <p:txBody>
          <a:bodyPr/>
          <a:lstStyle/>
          <a:p>
            <a:endParaRPr sz="2000"/>
          </a:p>
        </p:txBody>
      </p:sp>
      <p:sp>
        <p:nvSpPr>
          <p:cNvPr id="54" name="Torso-bar-note">
            <a:extLst>
              <a:ext uri="{FF2B5EF4-FFF2-40B4-BE49-F238E27FC236}">
                <a16:creationId xmlns:a16="http://schemas.microsoft.com/office/drawing/2014/main" id="{C04C136C-98BE-4443-A2B6-BF4BCB0DC0C6}"/>
              </a:ext>
            </a:extLst>
          </p:cNvPr>
          <p:cNvSpPr>
            <a:spLocks noGrp="1"/>
          </p:cNvSpPr>
          <p:nvPr/>
        </p:nvSpPr>
        <p:spPr>
          <a:xfrm>
            <a:off x="11849100" y="21920536"/>
            <a:ext cx="1219200" cy="400050"/>
          </a:xfrm>
          <a:prstGeom prst="rect">
            <a:avLst/>
          </a:prstGeom>
          <a:noFill/>
          <a:ln w="0">
            <a:noFill/>
            <a:prstDash val="solid"/>
          </a:ln>
        </p:spPr>
        <p:txBody>
          <a:bodyPr/>
          <a:lstStyle/>
          <a:p>
            <a:pPr>
              <a:buNone/>
              <a:defRPr sz="1800" b="1">
                <a:solidFill>
                  <a:srgbClr val="121426"/>
                </a:solidFill>
                <a:latin typeface="Arial"/>
                <a:ea typeface="Arial"/>
                <a:cs typeface="Arial"/>
              </a:defRPr>
            </a:pPr>
            <a:r>
              <a:rPr sz="2400" b="1">
                <a:solidFill>
                  <a:srgbClr val="121426"/>
                </a:solidFill>
                <a:latin typeface="Arial"/>
                <a:ea typeface="Arial"/>
                <a:cs typeface="Arial"/>
              </a:rPr>
              <a:t>18.8%</a:t>
            </a:r>
          </a:p>
        </p:txBody>
      </p:sp>
      <p:sp>
        <p:nvSpPr>
          <p:cNvPr id="55" name="Legs-bar-label">
            <a:extLst>
              <a:ext uri="{FF2B5EF4-FFF2-40B4-BE49-F238E27FC236}">
                <a16:creationId xmlns:a16="http://schemas.microsoft.com/office/drawing/2014/main" id="{52FBA5C4-C80B-4CA7-8D60-0BAEC8A3144A}"/>
              </a:ext>
            </a:extLst>
          </p:cNvPr>
          <p:cNvSpPr>
            <a:spLocks noGrp="1"/>
          </p:cNvSpPr>
          <p:nvPr/>
        </p:nvSpPr>
        <p:spPr>
          <a:xfrm>
            <a:off x="638176" y="22758736"/>
            <a:ext cx="2419350" cy="520364"/>
          </a:xfrm>
          <a:prstGeom prst="rect">
            <a:avLst/>
          </a:prstGeom>
          <a:noFill/>
          <a:ln w="0">
            <a:noFill/>
            <a:prstDash val="solid"/>
          </a:ln>
        </p:spPr>
        <p:txBody>
          <a:bodyPr/>
          <a:lstStyle/>
          <a:p>
            <a:pPr>
              <a:buNone/>
              <a:defRPr sz="1875" b="1">
                <a:solidFill>
                  <a:srgbClr val="121426"/>
                </a:solidFill>
                <a:latin typeface="Arial"/>
                <a:ea typeface="Arial"/>
                <a:cs typeface="Arial"/>
              </a:defRPr>
            </a:pPr>
            <a:r>
              <a:rPr sz="2800" b="1">
                <a:solidFill>
                  <a:srgbClr val="121426"/>
                </a:solidFill>
                <a:latin typeface="Arial"/>
                <a:ea typeface="Arial"/>
                <a:cs typeface="Arial"/>
              </a:rPr>
              <a:t>Legs</a:t>
            </a:r>
          </a:p>
        </p:txBody>
      </p:sp>
      <p:sp>
        <p:nvSpPr>
          <p:cNvPr id="56" name="Legs-bar-bg">
            <a:extLst>
              <a:ext uri="{FF2B5EF4-FFF2-40B4-BE49-F238E27FC236}">
                <a16:creationId xmlns:a16="http://schemas.microsoft.com/office/drawing/2014/main" id="{013BB5FA-9A16-4EB6-932E-5943465FAC8A}"/>
              </a:ext>
            </a:extLst>
          </p:cNvPr>
          <p:cNvSpPr>
            <a:spLocks noGrp="1"/>
          </p:cNvSpPr>
          <p:nvPr/>
        </p:nvSpPr>
        <p:spPr>
          <a:xfrm>
            <a:off x="3105150" y="23098125"/>
            <a:ext cx="8572500" cy="266700"/>
          </a:xfrm>
          <a:prstGeom prst="roundRect">
            <a:avLst>
              <a:gd name="adj" fmla="val 7143"/>
            </a:avLst>
          </a:prstGeom>
          <a:solidFill>
            <a:srgbClr val="EDF4FB"/>
          </a:solidFill>
          <a:ln w="28575">
            <a:noFill/>
            <a:prstDash val="solid"/>
          </a:ln>
        </p:spPr>
        <p:txBody>
          <a:bodyPr/>
          <a:lstStyle/>
          <a:p>
            <a:endParaRPr sz="2000"/>
          </a:p>
        </p:txBody>
      </p:sp>
      <p:sp>
        <p:nvSpPr>
          <p:cNvPr id="57" name="Legs-bar-fill">
            <a:extLst>
              <a:ext uri="{FF2B5EF4-FFF2-40B4-BE49-F238E27FC236}">
                <a16:creationId xmlns:a16="http://schemas.microsoft.com/office/drawing/2014/main" id="{B8E3444D-DD53-4D58-A978-958C289F2786}"/>
              </a:ext>
            </a:extLst>
          </p:cNvPr>
          <p:cNvSpPr>
            <a:spLocks noGrp="1"/>
          </p:cNvSpPr>
          <p:nvPr/>
        </p:nvSpPr>
        <p:spPr>
          <a:xfrm>
            <a:off x="3105150" y="22825411"/>
            <a:ext cx="305537" cy="266700"/>
          </a:xfrm>
          <a:prstGeom prst="roundRect">
            <a:avLst>
              <a:gd name="adj" fmla="val 7143"/>
            </a:avLst>
          </a:prstGeom>
          <a:solidFill>
            <a:srgbClr val="D84D4D"/>
          </a:solidFill>
          <a:ln w="28575">
            <a:noFill/>
            <a:prstDash val="solid"/>
          </a:ln>
        </p:spPr>
        <p:txBody>
          <a:bodyPr/>
          <a:lstStyle/>
          <a:p>
            <a:endParaRPr sz="2000"/>
          </a:p>
        </p:txBody>
      </p:sp>
      <p:sp>
        <p:nvSpPr>
          <p:cNvPr id="58" name="Legs-bar-note">
            <a:extLst>
              <a:ext uri="{FF2B5EF4-FFF2-40B4-BE49-F238E27FC236}">
                <a16:creationId xmlns:a16="http://schemas.microsoft.com/office/drawing/2014/main" id="{3DC7A29F-3DA2-4529-8B50-AEB8B18E50AB}"/>
              </a:ext>
            </a:extLst>
          </p:cNvPr>
          <p:cNvSpPr>
            <a:spLocks noGrp="1"/>
          </p:cNvSpPr>
          <p:nvPr/>
        </p:nvSpPr>
        <p:spPr>
          <a:xfrm>
            <a:off x="11849100" y="22739686"/>
            <a:ext cx="1219200" cy="400050"/>
          </a:xfrm>
          <a:prstGeom prst="rect">
            <a:avLst/>
          </a:prstGeom>
          <a:noFill/>
          <a:ln w="0">
            <a:noFill/>
            <a:prstDash val="solid"/>
          </a:ln>
        </p:spPr>
        <p:txBody>
          <a:bodyPr/>
          <a:lstStyle/>
          <a:p>
            <a:pPr>
              <a:buNone/>
              <a:defRPr sz="1800" b="1">
                <a:solidFill>
                  <a:srgbClr val="121426"/>
                </a:solidFill>
                <a:latin typeface="Arial"/>
                <a:ea typeface="Arial"/>
                <a:cs typeface="Arial"/>
              </a:defRPr>
            </a:pPr>
            <a:r>
              <a:rPr sz="2400" b="1">
                <a:solidFill>
                  <a:srgbClr val="121426"/>
                </a:solidFill>
                <a:latin typeface="Arial"/>
                <a:ea typeface="Arial"/>
                <a:cs typeface="Arial"/>
              </a:rPr>
              <a:t>1.8%</a:t>
            </a:r>
          </a:p>
        </p:txBody>
      </p:sp>
      <p:sp>
        <p:nvSpPr>
          <p:cNvPr id="59" name="Tail-bar-label">
            <a:extLst>
              <a:ext uri="{FF2B5EF4-FFF2-40B4-BE49-F238E27FC236}">
                <a16:creationId xmlns:a16="http://schemas.microsoft.com/office/drawing/2014/main" id="{E762284F-0121-4E78-AB07-6DA4ED22FEF3}"/>
              </a:ext>
            </a:extLst>
          </p:cNvPr>
          <p:cNvSpPr>
            <a:spLocks noGrp="1"/>
          </p:cNvSpPr>
          <p:nvPr/>
        </p:nvSpPr>
        <p:spPr>
          <a:xfrm>
            <a:off x="638176" y="23577886"/>
            <a:ext cx="2419350" cy="520364"/>
          </a:xfrm>
          <a:prstGeom prst="rect">
            <a:avLst/>
          </a:prstGeom>
          <a:noFill/>
          <a:ln w="0">
            <a:noFill/>
            <a:prstDash val="solid"/>
          </a:ln>
        </p:spPr>
        <p:txBody>
          <a:bodyPr/>
          <a:lstStyle/>
          <a:p>
            <a:pPr>
              <a:buNone/>
              <a:defRPr sz="1875" b="1">
                <a:solidFill>
                  <a:srgbClr val="121426"/>
                </a:solidFill>
                <a:latin typeface="Arial"/>
                <a:ea typeface="Arial"/>
                <a:cs typeface="Arial"/>
              </a:defRPr>
            </a:pPr>
            <a:r>
              <a:rPr sz="2800" b="1">
                <a:solidFill>
                  <a:srgbClr val="121426"/>
                </a:solidFill>
                <a:latin typeface="Arial"/>
                <a:ea typeface="Arial"/>
                <a:cs typeface="Arial"/>
              </a:rPr>
              <a:t>Tail</a:t>
            </a:r>
          </a:p>
        </p:txBody>
      </p:sp>
      <p:sp>
        <p:nvSpPr>
          <p:cNvPr id="60" name="Tail-bar-bg">
            <a:extLst>
              <a:ext uri="{FF2B5EF4-FFF2-40B4-BE49-F238E27FC236}">
                <a16:creationId xmlns:a16="http://schemas.microsoft.com/office/drawing/2014/main" id="{738FA38C-5581-4402-86A8-A058DEB7338D}"/>
              </a:ext>
            </a:extLst>
          </p:cNvPr>
          <p:cNvSpPr>
            <a:spLocks noGrp="1"/>
          </p:cNvSpPr>
          <p:nvPr/>
        </p:nvSpPr>
        <p:spPr>
          <a:xfrm>
            <a:off x="3105150" y="23917275"/>
            <a:ext cx="8572500" cy="266700"/>
          </a:xfrm>
          <a:prstGeom prst="roundRect">
            <a:avLst>
              <a:gd name="adj" fmla="val 7143"/>
            </a:avLst>
          </a:prstGeom>
          <a:solidFill>
            <a:srgbClr val="EDF4FB"/>
          </a:solidFill>
          <a:ln w="28575">
            <a:noFill/>
            <a:prstDash val="solid"/>
          </a:ln>
        </p:spPr>
        <p:txBody>
          <a:bodyPr/>
          <a:lstStyle/>
          <a:p>
            <a:endParaRPr sz="2000"/>
          </a:p>
        </p:txBody>
      </p:sp>
      <p:sp>
        <p:nvSpPr>
          <p:cNvPr id="61" name="Tail-bar-fill">
            <a:extLst>
              <a:ext uri="{FF2B5EF4-FFF2-40B4-BE49-F238E27FC236}">
                <a16:creationId xmlns:a16="http://schemas.microsoft.com/office/drawing/2014/main" id="{A4B444E1-AE8C-4F6D-8A0A-86823FCF97A7}"/>
              </a:ext>
            </a:extLst>
          </p:cNvPr>
          <p:cNvSpPr>
            <a:spLocks noGrp="1"/>
          </p:cNvSpPr>
          <p:nvPr/>
        </p:nvSpPr>
        <p:spPr>
          <a:xfrm>
            <a:off x="3105150" y="23644561"/>
            <a:ext cx="235700" cy="266700"/>
          </a:xfrm>
          <a:prstGeom prst="roundRect">
            <a:avLst>
              <a:gd name="adj" fmla="val 8082"/>
            </a:avLst>
          </a:prstGeom>
          <a:solidFill>
            <a:srgbClr val="62A744"/>
          </a:solidFill>
          <a:ln w="28575">
            <a:noFill/>
            <a:prstDash val="solid"/>
          </a:ln>
        </p:spPr>
        <p:txBody>
          <a:bodyPr/>
          <a:lstStyle/>
          <a:p>
            <a:endParaRPr sz="2000"/>
          </a:p>
        </p:txBody>
      </p:sp>
      <p:sp>
        <p:nvSpPr>
          <p:cNvPr id="62" name="Tail-bar-note">
            <a:extLst>
              <a:ext uri="{FF2B5EF4-FFF2-40B4-BE49-F238E27FC236}">
                <a16:creationId xmlns:a16="http://schemas.microsoft.com/office/drawing/2014/main" id="{28806AB7-D48C-4A5F-83D0-A289C9AD967F}"/>
              </a:ext>
            </a:extLst>
          </p:cNvPr>
          <p:cNvSpPr>
            <a:spLocks noGrp="1"/>
          </p:cNvSpPr>
          <p:nvPr/>
        </p:nvSpPr>
        <p:spPr>
          <a:xfrm>
            <a:off x="11849100" y="23558836"/>
            <a:ext cx="1219200" cy="400050"/>
          </a:xfrm>
          <a:prstGeom prst="rect">
            <a:avLst/>
          </a:prstGeom>
          <a:noFill/>
          <a:ln w="0">
            <a:noFill/>
            <a:prstDash val="solid"/>
          </a:ln>
        </p:spPr>
        <p:txBody>
          <a:bodyPr/>
          <a:lstStyle/>
          <a:p>
            <a:pPr>
              <a:buNone/>
              <a:defRPr sz="1800" b="1">
                <a:solidFill>
                  <a:srgbClr val="121426"/>
                </a:solidFill>
                <a:latin typeface="Arial"/>
                <a:ea typeface="Arial"/>
                <a:cs typeface="Arial"/>
              </a:defRPr>
            </a:pPr>
            <a:r>
              <a:rPr sz="2400" b="1">
                <a:solidFill>
                  <a:srgbClr val="121426"/>
                </a:solidFill>
                <a:latin typeface="Arial"/>
                <a:ea typeface="Arial"/>
                <a:cs typeface="Arial"/>
              </a:rPr>
              <a:t>1.4%</a:t>
            </a:r>
          </a:p>
        </p:txBody>
      </p:sp>
      <p:sp>
        <p:nvSpPr>
          <p:cNvPr id="63" name="interpretation-title">
            <a:extLst>
              <a:ext uri="{FF2B5EF4-FFF2-40B4-BE49-F238E27FC236}">
                <a16:creationId xmlns:a16="http://schemas.microsoft.com/office/drawing/2014/main" id="{E911D08C-296D-4192-A3EC-28C33DAFAC23}"/>
              </a:ext>
            </a:extLst>
          </p:cNvPr>
          <p:cNvSpPr>
            <a:spLocks noGrp="1"/>
          </p:cNvSpPr>
          <p:nvPr/>
        </p:nvSpPr>
        <p:spPr>
          <a:xfrm>
            <a:off x="723900" y="25241250"/>
            <a:ext cx="5238750" cy="47625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a:solidFill>
                  <a:srgbClr val="121426"/>
                </a:solidFill>
                <a:latin typeface="Arial"/>
                <a:ea typeface="Arial"/>
                <a:cs typeface="Arial"/>
              </a:rPr>
              <a:t>Interpretation</a:t>
            </a:r>
          </a:p>
        </p:txBody>
      </p:sp>
      <p:sp>
        <p:nvSpPr>
          <p:cNvPr id="64" name="interpretation-bullets">
            <a:extLst>
              <a:ext uri="{FF2B5EF4-FFF2-40B4-BE49-F238E27FC236}">
                <a16:creationId xmlns:a16="http://schemas.microsoft.com/office/drawing/2014/main" id="{3C3646B2-E807-4BFF-8405-706F0D6BB828}"/>
              </a:ext>
            </a:extLst>
          </p:cNvPr>
          <p:cNvSpPr>
            <a:spLocks noGrp="1"/>
          </p:cNvSpPr>
          <p:nvPr/>
        </p:nvSpPr>
        <p:spPr>
          <a:xfrm>
            <a:off x="723900" y="25812750"/>
            <a:ext cx="8429625" cy="1285875"/>
          </a:xfrm>
          <a:prstGeom prst="rect">
            <a:avLst/>
          </a:prstGeom>
          <a:noFill/>
          <a:ln w="0">
            <a:noFill/>
            <a:prstDash val="solid"/>
          </a:ln>
        </p:spPr>
        <p:txBody>
          <a:bodyPr/>
          <a:lstStyle/>
          <a:p>
            <a:pPr>
              <a:buNone/>
              <a:defRPr sz="2100">
                <a:solidFill>
                  <a:srgbClr val="121426"/>
                </a:solidFill>
                <a:latin typeface="Arial"/>
                <a:ea typeface="Arial"/>
                <a:cs typeface="Arial"/>
              </a:defRPr>
            </a:pPr>
            <a:r>
              <a:rPr sz="2800" dirty="0">
                <a:solidFill>
                  <a:srgbClr val="121426"/>
                </a:solidFill>
                <a:latin typeface="Arial"/>
                <a:ea typeface="Arial"/>
                <a:cs typeface="Arial"/>
              </a:rPr>
              <a:t>• Participants relied mainly on facial information, especially upper-face cues.</a:t>
            </a:r>
          </a:p>
          <a:p>
            <a:pPr>
              <a:buNone/>
              <a:defRPr sz="2100">
                <a:solidFill>
                  <a:srgbClr val="121426"/>
                </a:solidFill>
                <a:latin typeface="Arial"/>
                <a:ea typeface="Arial"/>
                <a:cs typeface="Arial"/>
              </a:defRPr>
            </a:pPr>
            <a:r>
              <a:rPr sz="2800" dirty="0">
                <a:solidFill>
                  <a:srgbClr val="121426"/>
                </a:solidFill>
                <a:latin typeface="Arial"/>
                <a:ea typeface="Arial"/>
                <a:cs typeface="Arial"/>
              </a:rPr>
              <a:t>• Tail and legs were often reported as useful, but received very little sustained fixation time.</a:t>
            </a:r>
          </a:p>
          <a:p>
            <a:pPr>
              <a:buNone/>
              <a:defRPr sz="2100">
                <a:solidFill>
                  <a:srgbClr val="121426"/>
                </a:solidFill>
                <a:latin typeface="Arial"/>
                <a:ea typeface="Arial"/>
                <a:cs typeface="Arial"/>
              </a:defRPr>
            </a:pPr>
            <a:r>
              <a:rPr sz="2800" dirty="0">
                <a:solidFill>
                  <a:srgbClr val="121426"/>
                </a:solidFill>
                <a:latin typeface="Arial"/>
                <a:ea typeface="Arial"/>
                <a:cs typeface="Arial"/>
              </a:rPr>
              <a:t>• Correct situation recognition was not tied to one fixed AOI; useful cues changed by video.</a:t>
            </a:r>
          </a:p>
        </p:txBody>
      </p:sp>
      <p:pic>
        <p:nvPicPr>
          <p:cNvPr id="777" name="Picture 177"/>
          <p:cNvPicPr>
            <a:picLocks noChangeAspect="1"/>
          </p:cNvPicPr>
          <p:nvPr/>
        </p:nvPicPr>
        <p:blipFill>
          <a:blip r:embed="rId4"/>
          <a:srcRect t="4891" r="1860" b="-358"/>
          <a:stretch>
            <a:fillRect/>
          </a:stretch>
        </p:blipFill>
        <p:spPr>
          <a:xfrm>
            <a:off x="9677400" y="25524000"/>
            <a:ext cx="8880423" cy="4279951"/>
          </a:xfrm>
          <a:prstGeom prst="rect">
            <a:avLst/>
          </a:prstGeom>
        </p:spPr>
      </p:pic>
      <p:pic>
        <p:nvPicPr>
          <p:cNvPr id="778" name="Picture 178"/>
          <p:cNvPicPr>
            <a:picLocks noChangeAspect="1"/>
          </p:cNvPicPr>
          <p:nvPr/>
        </p:nvPicPr>
        <p:blipFill>
          <a:blip r:embed="rId5"/>
          <a:srcRect t="4066" r="2361"/>
          <a:stretch>
            <a:fillRect/>
          </a:stretch>
        </p:blipFill>
        <p:spPr>
          <a:xfrm>
            <a:off x="13119339" y="20015536"/>
            <a:ext cx="6216412" cy="4157662"/>
          </a:xfrm>
          <a:prstGeom prst="rect">
            <a:avLst/>
          </a:prstGeom>
        </p:spPr>
      </p:pic>
      <p:sp>
        <p:nvSpPr>
          <p:cNvPr id="67" name="Metrics &amp; Evidence-box">
            <a:extLst>
              <a:ext uri="{FF2B5EF4-FFF2-40B4-BE49-F238E27FC236}">
                <a16:creationId xmlns:a16="http://schemas.microsoft.com/office/drawing/2014/main" id="{5621CD53-C0B4-4394-8432-E9F1B26C10D4}"/>
              </a:ext>
            </a:extLst>
          </p:cNvPr>
          <p:cNvSpPr>
            <a:spLocks noGrp="1"/>
          </p:cNvSpPr>
          <p:nvPr/>
        </p:nvSpPr>
        <p:spPr>
          <a:xfrm>
            <a:off x="19859625" y="18240375"/>
            <a:ext cx="10467975" cy="12192000"/>
          </a:xfrm>
          <a:prstGeom prst="roundRect">
            <a:avLst>
              <a:gd name="adj" fmla="val 182"/>
            </a:avLst>
          </a:prstGeom>
          <a:solidFill>
            <a:srgbClr val="EAF3FB"/>
          </a:solidFill>
          <a:ln w="28575">
            <a:solidFill>
              <a:srgbClr val="28235C"/>
            </a:solidFill>
            <a:prstDash val="solid"/>
          </a:ln>
        </p:spPr>
        <p:txBody>
          <a:bodyPr/>
          <a:lstStyle/>
          <a:p>
            <a:pPr marL="0" indent="0" algn="l" defTabSz="914400" rtl="0"/>
            <a:endParaRPr sz="2000"/>
          </a:p>
        </p:txBody>
      </p:sp>
      <p:sp>
        <p:nvSpPr>
          <p:cNvPr id="68" name="Metrics &amp; Evidence-title">
            <a:extLst>
              <a:ext uri="{FF2B5EF4-FFF2-40B4-BE49-F238E27FC236}">
                <a16:creationId xmlns:a16="http://schemas.microsoft.com/office/drawing/2014/main" id="{87BD493F-37F5-4471-A707-130703118921}"/>
              </a:ext>
            </a:extLst>
          </p:cNvPr>
          <p:cNvSpPr>
            <a:spLocks noGrp="1"/>
          </p:cNvSpPr>
          <p:nvPr/>
        </p:nvSpPr>
        <p:spPr>
          <a:xfrm>
            <a:off x="20126325" y="18449925"/>
            <a:ext cx="9934575" cy="590550"/>
          </a:xfrm>
          <a:prstGeom prst="rect">
            <a:avLst/>
          </a:prstGeom>
          <a:noFill/>
          <a:ln w="0">
            <a:noFill/>
            <a:prstDash val="solid"/>
          </a:ln>
        </p:spPr>
        <p:txBody>
          <a:bodyPr/>
          <a:lstStyle/>
          <a:p>
            <a:pPr>
              <a:buNone/>
              <a:defRPr sz="3450" b="1">
                <a:solidFill>
                  <a:srgbClr val="28235C"/>
                </a:solidFill>
                <a:latin typeface="Arial"/>
                <a:ea typeface="Arial"/>
                <a:cs typeface="Arial"/>
              </a:defRPr>
            </a:pPr>
            <a:r>
              <a:rPr sz="3600" b="1">
                <a:solidFill>
                  <a:srgbClr val="28235C"/>
                </a:solidFill>
                <a:latin typeface="Arial"/>
                <a:ea typeface="Arial"/>
                <a:cs typeface="Arial"/>
              </a:rPr>
              <a:t>METRICS &amp; EVIDENCE</a:t>
            </a:r>
          </a:p>
        </p:txBody>
      </p:sp>
      <p:sp>
        <p:nvSpPr>
          <p:cNvPr id="69" name="participants-kpi">
            <a:extLst>
              <a:ext uri="{FF2B5EF4-FFF2-40B4-BE49-F238E27FC236}">
                <a16:creationId xmlns:a16="http://schemas.microsoft.com/office/drawing/2014/main" id="{9BCCF08D-9E16-4B29-8AC7-791D20ADE266}"/>
              </a:ext>
            </a:extLst>
          </p:cNvPr>
          <p:cNvSpPr>
            <a:spLocks noGrp="1"/>
          </p:cNvSpPr>
          <p:nvPr/>
        </p:nvSpPr>
        <p:spPr>
          <a:xfrm>
            <a:off x="20288250" y="19259550"/>
            <a:ext cx="2209800" cy="1562100"/>
          </a:xfrm>
          <a:prstGeom prst="roundRect">
            <a:avLst>
              <a:gd name="adj" fmla="val 3659"/>
            </a:avLst>
          </a:prstGeom>
          <a:solidFill>
            <a:srgbClr val="FFFFFF"/>
          </a:solidFill>
          <a:ln w="28575">
            <a:solidFill>
              <a:srgbClr val="9BB6D3"/>
            </a:solidFill>
            <a:prstDash val="solid"/>
          </a:ln>
        </p:spPr>
        <p:txBody>
          <a:bodyPr/>
          <a:lstStyle/>
          <a:p>
            <a:endParaRPr sz="2000"/>
          </a:p>
        </p:txBody>
      </p:sp>
      <p:sp>
        <p:nvSpPr>
          <p:cNvPr id="70" name="participants-value">
            <a:extLst>
              <a:ext uri="{FF2B5EF4-FFF2-40B4-BE49-F238E27FC236}">
                <a16:creationId xmlns:a16="http://schemas.microsoft.com/office/drawing/2014/main" id="{E6F84D3C-0BE1-4EEA-A3CF-FC2E823CE5AA}"/>
              </a:ext>
            </a:extLst>
          </p:cNvPr>
          <p:cNvSpPr>
            <a:spLocks noGrp="1"/>
          </p:cNvSpPr>
          <p:nvPr/>
        </p:nvSpPr>
        <p:spPr>
          <a:xfrm>
            <a:off x="20459700" y="19411950"/>
            <a:ext cx="1866900" cy="685800"/>
          </a:xfrm>
          <a:prstGeom prst="rect">
            <a:avLst/>
          </a:prstGeom>
          <a:noFill/>
          <a:ln w="0">
            <a:noFill/>
            <a:prstDash val="solid"/>
          </a:ln>
        </p:spPr>
        <p:txBody>
          <a:bodyPr/>
          <a:lstStyle/>
          <a:p>
            <a:pPr algn="ctr">
              <a:buNone/>
              <a:defRPr sz="4350" b="1">
                <a:solidFill>
                  <a:srgbClr val="28235C"/>
                </a:solidFill>
                <a:latin typeface="Arial"/>
                <a:ea typeface="Arial"/>
                <a:cs typeface="Arial"/>
              </a:defRPr>
            </a:pPr>
            <a:r>
              <a:rPr sz="4400" b="1">
                <a:solidFill>
                  <a:srgbClr val="28235C"/>
                </a:solidFill>
                <a:latin typeface="Arial"/>
                <a:ea typeface="Arial"/>
                <a:cs typeface="Arial"/>
              </a:rPr>
              <a:t>30</a:t>
            </a:r>
          </a:p>
        </p:txBody>
      </p:sp>
      <p:sp>
        <p:nvSpPr>
          <p:cNvPr id="71" name="participants-label">
            <a:extLst>
              <a:ext uri="{FF2B5EF4-FFF2-40B4-BE49-F238E27FC236}">
                <a16:creationId xmlns:a16="http://schemas.microsoft.com/office/drawing/2014/main" id="{38D28FEC-1C53-4A74-A53C-2B68718439A5}"/>
              </a:ext>
            </a:extLst>
          </p:cNvPr>
          <p:cNvSpPr>
            <a:spLocks noGrp="1"/>
          </p:cNvSpPr>
          <p:nvPr/>
        </p:nvSpPr>
        <p:spPr>
          <a:xfrm>
            <a:off x="20478750" y="20154900"/>
            <a:ext cx="1828800" cy="514350"/>
          </a:xfrm>
          <a:prstGeom prst="rect">
            <a:avLst/>
          </a:prstGeom>
          <a:noFill/>
          <a:ln w="0">
            <a:noFill/>
            <a:prstDash val="solid"/>
          </a:ln>
        </p:spPr>
        <p:txBody>
          <a:bodyPr/>
          <a:lstStyle/>
          <a:p>
            <a:pPr algn="ctr">
              <a:buNone/>
              <a:defRPr sz="1950">
                <a:solidFill>
                  <a:srgbClr val="405372"/>
                </a:solidFill>
                <a:latin typeface="Arial"/>
                <a:ea typeface="Arial"/>
                <a:cs typeface="Arial"/>
              </a:defRPr>
            </a:pPr>
            <a:r>
              <a:rPr sz="2000">
                <a:solidFill>
                  <a:srgbClr val="405372"/>
                </a:solidFill>
                <a:latin typeface="Arial"/>
                <a:ea typeface="Arial"/>
                <a:cs typeface="Arial"/>
              </a:rPr>
              <a:t>participants</a:t>
            </a:r>
          </a:p>
        </p:txBody>
      </p:sp>
      <p:sp>
        <p:nvSpPr>
          <p:cNvPr id="72" name="videos-kpi">
            <a:extLst>
              <a:ext uri="{FF2B5EF4-FFF2-40B4-BE49-F238E27FC236}">
                <a16:creationId xmlns:a16="http://schemas.microsoft.com/office/drawing/2014/main" id="{DE2426D2-AB6B-4A50-9508-559BA7C87FA5}"/>
              </a:ext>
            </a:extLst>
          </p:cNvPr>
          <p:cNvSpPr>
            <a:spLocks noGrp="1"/>
          </p:cNvSpPr>
          <p:nvPr/>
        </p:nvSpPr>
        <p:spPr>
          <a:xfrm>
            <a:off x="22764750" y="19259550"/>
            <a:ext cx="2209800" cy="1562100"/>
          </a:xfrm>
          <a:prstGeom prst="roundRect">
            <a:avLst>
              <a:gd name="adj" fmla="val 3659"/>
            </a:avLst>
          </a:prstGeom>
          <a:solidFill>
            <a:srgbClr val="FFFFFF"/>
          </a:solidFill>
          <a:ln w="28575">
            <a:solidFill>
              <a:srgbClr val="9BB6D3"/>
            </a:solidFill>
            <a:prstDash val="solid"/>
          </a:ln>
        </p:spPr>
        <p:txBody>
          <a:bodyPr/>
          <a:lstStyle/>
          <a:p>
            <a:endParaRPr sz="2000"/>
          </a:p>
        </p:txBody>
      </p:sp>
      <p:sp>
        <p:nvSpPr>
          <p:cNvPr id="73" name="videos-value">
            <a:extLst>
              <a:ext uri="{FF2B5EF4-FFF2-40B4-BE49-F238E27FC236}">
                <a16:creationId xmlns:a16="http://schemas.microsoft.com/office/drawing/2014/main" id="{C7E35DDE-03D7-4B9C-83CD-5FE3BC349FF8}"/>
              </a:ext>
            </a:extLst>
          </p:cNvPr>
          <p:cNvSpPr>
            <a:spLocks noGrp="1"/>
          </p:cNvSpPr>
          <p:nvPr/>
        </p:nvSpPr>
        <p:spPr>
          <a:xfrm>
            <a:off x="22936200" y="19411950"/>
            <a:ext cx="1866900" cy="685800"/>
          </a:xfrm>
          <a:prstGeom prst="rect">
            <a:avLst/>
          </a:prstGeom>
          <a:noFill/>
          <a:ln w="0">
            <a:noFill/>
            <a:prstDash val="solid"/>
          </a:ln>
        </p:spPr>
        <p:txBody>
          <a:bodyPr/>
          <a:lstStyle/>
          <a:p>
            <a:pPr algn="ctr">
              <a:buNone/>
              <a:defRPr sz="4350" b="1">
                <a:solidFill>
                  <a:srgbClr val="14A098"/>
                </a:solidFill>
                <a:latin typeface="Arial"/>
                <a:ea typeface="Arial"/>
                <a:cs typeface="Arial"/>
              </a:defRPr>
            </a:pPr>
            <a:r>
              <a:rPr sz="4400" b="1">
                <a:solidFill>
                  <a:srgbClr val="14A098"/>
                </a:solidFill>
                <a:latin typeface="Arial"/>
                <a:ea typeface="Arial"/>
                <a:cs typeface="Arial"/>
              </a:rPr>
              <a:t>8</a:t>
            </a:r>
          </a:p>
        </p:txBody>
      </p:sp>
      <p:sp>
        <p:nvSpPr>
          <p:cNvPr id="74" name="videos-label">
            <a:extLst>
              <a:ext uri="{FF2B5EF4-FFF2-40B4-BE49-F238E27FC236}">
                <a16:creationId xmlns:a16="http://schemas.microsoft.com/office/drawing/2014/main" id="{3C549D1B-75D3-45F1-AB56-65AC314EACD7}"/>
              </a:ext>
            </a:extLst>
          </p:cNvPr>
          <p:cNvSpPr>
            <a:spLocks noGrp="1"/>
          </p:cNvSpPr>
          <p:nvPr/>
        </p:nvSpPr>
        <p:spPr>
          <a:xfrm>
            <a:off x="22955250" y="20154900"/>
            <a:ext cx="1828800" cy="514350"/>
          </a:xfrm>
          <a:prstGeom prst="rect">
            <a:avLst/>
          </a:prstGeom>
          <a:noFill/>
          <a:ln w="0">
            <a:noFill/>
            <a:prstDash val="solid"/>
          </a:ln>
        </p:spPr>
        <p:txBody>
          <a:bodyPr/>
          <a:lstStyle/>
          <a:p>
            <a:pPr algn="ctr">
              <a:buNone/>
              <a:defRPr sz="1950">
                <a:solidFill>
                  <a:srgbClr val="405372"/>
                </a:solidFill>
                <a:latin typeface="Arial"/>
                <a:ea typeface="Arial"/>
                <a:cs typeface="Arial"/>
              </a:defRPr>
            </a:pPr>
            <a:r>
              <a:rPr sz="2000">
                <a:solidFill>
                  <a:srgbClr val="405372"/>
                </a:solidFill>
                <a:latin typeface="Arial"/>
                <a:ea typeface="Arial"/>
                <a:cs typeface="Arial"/>
              </a:rPr>
              <a:t>videos</a:t>
            </a:r>
          </a:p>
        </p:txBody>
      </p:sp>
      <p:sp>
        <p:nvSpPr>
          <p:cNvPr id="75" name="raw rows-kpi">
            <a:extLst>
              <a:ext uri="{FF2B5EF4-FFF2-40B4-BE49-F238E27FC236}">
                <a16:creationId xmlns:a16="http://schemas.microsoft.com/office/drawing/2014/main" id="{E6862406-D7AC-42DB-93D1-69FE3815601A}"/>
              </a:ext>
            </a:extLst>
          </p:cNvPr>
          <p:cNvSpPr>
            <a:spLocks noGrp="1"/>
          </p:cNvSpPr>
          <p:nvPr/>
        </p:nvSpPr>
        <p:spPr>
          <a:xfrm>
            <a:off x="25241250" y="19259550"/>
            <a:ext cx="2571750" cy="1562100"/>
          </a:xfrm>
          <a:prstGeom prst="roundRect">
            <a:avLst>
              <a:gd name="adj" fmla="val 3659"/>
            </a:avLst>
          </a:prstGeom>
          <a:solidFill>
            <a:srgbClr val="FFFFFF"/>
          </a:solidFill>
          <a:ln w="28575">
            <a:solidFill>
              <a:srgbClr val="9BB6D3"/>
            </a:solidFill>
            <a:prstDash val="solid"/>
          </a:ln>
        </p:spPr>
        <p:txBody>
          <a:bodyPr/>
          <a:lstStyle/>
          <a:p>
            <a:endParaRPr sz="2000"/>
          </a:p>
        </p:txBody>
      </p:sp>
      <p:sp>
        <p:nvSpPr>
          <p:cNvPr id="76" name="raw rows-value">
            <a:extLst>
              <a:ext uri="{FF2B5EF4-FFF2-40B4-BE49-F238E27FC236}">
                <a16:creationId xmlns:a16="http://schemas.microsoft.com/office/drawing/2014/main" id="{93029E28-40FC-4372-AFE1-FA7E345442E9}"/>
              </a:ext>
            </a:extLst>
          </p:cNvPr>
          <p:cNvSpPr>
            <a:spLocks noGrp="1"/>
          </p:cNvSpPr>
          <p:nvPr/>
        </p:nvSpPr>
        <p:spPr>
          <a:xfrm>
            <a:off x="25412700" y="19411950"/>
            <a:ext cx="2228850" cy="685800"/>
          </a:xfrm>
          <a:prstGeom prst="rect">
            <a:avLst/>
          </a:prstGeom>
          <a:noFill/>
          <a:ln w="0">
            <a:noFill/>
            <a:prstDash val="solid"/>
          </a:ln>
        </p:spPr>
        <p:txBody>
          <a:bodyPr/>
          <a:lstStyle/>
          <a:p>
            <a:pPr algn="ctr">
              <a:buNone/>
              <a:defRPr sz="4350" b="1">
                <a:solidFill>
                  <a:srgbClr val="F27C38"/>
                </a:solidFill>
                <a:latin typeface="Arial"/>
                <a:ea typeface="Arial"/>
                <a:cs typeface="Arial"/>
              </a:defRPr>
            </a:pPr>
            <a:r>
              <a:rPr sz="4400" b="1">
                <a:solidFill>
                  <a:srgbClr val="F27C38"/>
                </a:solidFill>
                <a:latin typeface="Arial"/>
                <a:ea typeface="Arial"/>
                <a:cs typeface="Arial"/>
              </a:rPr>
              <a:t>48,871</a:t>
            </a:r>
          </a:p>
        </p:txBody>
      </p:sp>
      <p:sp>
        <p:nvSpPr>
          <p:cNvPr id="77" name="raw rows-label">
            <a:extLst>
              <a:ext uri="{FF2B5EF4-FFF2-40B4-BE49-F238E27FC236}">
                <a16:creationId xmlns:a16="http://schemas.microsoft.com/office/drawing/2014/main" id="{C82AB634-462F-4B9A-87FA-8A24B9CF1F43}"/>
              </a:ext>
            </a:extLst>
          </p:cNvPr>
          <p:cNvSpPr>
            <a:spLocks noGrp="1"/>
          </p:cNvSpPr>
          <p:nvPr/>
        </p:nvSpPr>
        <p:spPr>
          <a:xfrm>
            <a:off x="25431750" y="20154900"/>
            <a:ext cx="2190750" cy="514350"/>
          </a:xfrm>
          <a:prstGeom prst="rect">
            <a:avLst/>
          </a:prstGeom>
          <a:noFill/>
          <a:ln w="0">
            <a:noFill/>
            <a:prstDash val="solid"/>
          </a:ln>
        </p:spPr>
        <p:txBody>
          <a:bodyPr/>
          <a:lstStyle/>
          <a:p>
            <a:pPr algn="ctr">
              <a:buNone/>
              <a:defRPr sz="1950">
                <a:solidFill>
                  <a:srgbClr val="405372"/>
                </a:solidFill>
                <a:latin typeface="Arial"/>
                <a:ea typeface="Arial"/>
                <a:cs typeface="Arial"/>
              </a:defRPr>
            </a:pPr>
            <a:r>
              <a:rPr sz="2000">
                <a:solidFill>
                  <a:srgbClr val="405372"/>
                </a:solidFill>
                <a:latin typeface="Arial"/>
                <a:ea typeface="Arial"/>
                <a:cs typeface="Arial"/>
              </a:rPr>
              <a:t>raw rows</a:t>
            </a:r>
          </a:p>
        </p:txBody>
      </p:sp>
      <p:sp>
        <p:nvSpPr>
          <p:cNvPr id="78" name="usable AOI rows-kpi">
            <a:extLst>
              <a:ext uri="{FF2B5EF4-FFF2-40B4-BE49-F238E27FC236}">
                <a16:creationId xmlns:a16="http://schemas.microsoft.com/office/drawing/2014/main" id="{A8065121-D505-461F-AA73-808A34FC1E8C}"/>
              </a:ext>
            </a:extLst>
          </p:cNvPr>
          <p:cNvSpPr>
            <a:spLocks noGrp="1"/>
          </p:cNvSpPr>
          <p:nvPr/>
        </p:nvSpPr>
        <p:spPr>
          <a:xfrm>
            <a:off x="28079700" y="19259550"/>
            <a:ext cx="1952625" cy="1562100"/>
          </a:xfrm>
          <a:prstGeom prst="roundRect">
            <a:avLst>
              <a:gd name="adj" fmla="val 3659"/>
            </a:avLst>
          </a:prstGeom>
          <a:solidFill>
            <a:srgbClr val="FFFFFF"/>
          </a:solidFill>
          <a:ln w="28575">
            <a:solidFill>
              <a:srgbClr val="9BB6D3"/>
            </a:solidFill>
            <a:prstDash val="solid"/>
          </a:ln>
        </p:spPr>
        <p:txBody>
          <a:bodyPr/>
          <a:lstStyle/>
          <a:p>
            <a:endParaRPr sz="2000"/>
          </a:p>
        </p:txBody>
      </p:sp>
      <p:sp>
        <p:nvSpPr>
          <p:cNvPr id="79" name="usable AOI rows-value">
            <a:extLst>
              <a:ext uri="{FF2B5EF4-FFF2-40B4-BE49-F238E27FC236}">
                <a16:creationId xmlns:a16="http://schemas.microsoft.com/office/drawing/2014/main" id="{76D627E1-3CB6-4B1B-B1E2-94BC8AF978C8}"/>
              </a:ext>
            </a:extLst>
          </p:cNvPr>
          <p:cNvSpPr>
            <a:spLocks noGrp="1"/>
          </p:cNvSpPr>
          <p:nvPr/>
        </p:nvSpPr>
        <p:spPr>
          <a:xfrm>
            <a:off x="28251150" y="19411950"/>
            <a:ext cx="1609725" cy="685800"/>
          </a:xfrm>
          <a:prstGeom prst="rect">
            <a:avLst/>
          </a:prstGeom>
          <a:noFill/>
          <a:ln w="0">
            <a:noFill/>
            <a:prstDash val="solid"/>
          </a:ln>
        </p:spPr>
        <p:txBody>
          <a:bodyPr/>
          <a:lstStyle/>
          <a:p>
            <a:pPr algn="ctr">
              <a:buNone/>
              <a:defRPr sz="4350" b="1">
                <a:solidFill>
                  <a:srgbClr val="3975A8"/>
                </a:solidFill>
                <a:latin typeface="Arial"/>
                <a:ea typeface="Arial"/>
                <a:cs typeface="Arial"/>
              </a:defRPr>
            </a:pPr>
            <a:r>
              <a:rPr sz="4400" b="1">
                <a:solidFill>
                  <a:srgbClr val="3975A8"/>
                </a:solidFill>
                <a:latin typeface="Arial"/>
                <a:ea typeface="Arial"/>
                <a:cs typeface="Arial"/>
              </a:rPr>
              <a:t>3,831</a:t>
            </a:r>
          </a:p>
        </p:txBody>
      </p:sp>
      <p:sp>
        <p:nvSpPr>
          <p:cNvPr id="80" name="usable AOI rows-label">
            <a:extLst>
              <a:ext uri="{FF2B5EF4-FFF2-40B4-BE49-F238E27FC236}">
                <a16:creationId xmlns:a16="http://schemas.microsoft.com/office/drawing/2014/main" id="{DF55FAC5-4F00-4F79-A087-0A4CBDE66B52}"/>
              </a:ext>
            </a:extLst>
          </p:cNvPr>
          <p:cNvSpPr>
            <a:spLocks noGrp="1"/>
          </p:cNvSpPr>
          <p:nvPr/>
        </p:nvSpPr>
        <p:spPr>
          <a:xfrm>
            <a:off x="28270200" y="20154900"/>
            <a:ext cx="1571625" cy="514350"/>
          </a:xfrm>
          <a:prstGeom prst="rect">
            <a:avLst/>
          </a:prstGeom>
          <a:noFill/>
          <a:ln w="0">
            <a:noFill/>
            <a:prstDash val="solid"/>
          </a:ln>
        </p:spPr>
        <p:txBody>
          <a:bodyPr/>
          <a:lstStyle/>
          <a:p>
            <a:pPr algn="ctr">
              <a:buNone/>
              <a:defRPr sz="1950">
                <a:solidFill>
                  <a:srgbClr val="405372"/>
                </a:solidFill>
                <a:latin typeface="Arial"/>
                <a:ea typeface="Arial"/>
                <a:cs typeface="Arial"/>
              </a:defRPr>
            </a:pPr>
            <a:r>
              <a:rPr sz="2000">
                <a:solidFill>
                  <a:srgbClr val="405372"/>
                </a:solidFill>
                <a:latin typeface="Arial"/>
                <a:ea typeface="Arial"/>
                <a:cs typeface="Arial"/>
              </a:rPr>
              <a:t>usable AOI rows</a:t>
            </a:r>
          </a:p>
        </p:txBody>
      </p:sp>
      <p:sp>
        <p:nvSpPr>
          <p:cNvPr id="81" name="scan-title">
            <a:extLst>
              <a:ext uri="{FF2B5EF4-FFF2-40B4-BE49-F238E27FC236}">
                <a16:creationId xmlns:a16="http://schemas.microsoft.com/office/drawing/2014/main" id="{51C47776-619A-4BF5-AEE9-538864A48F4B}"/>
              </a:ext>
            </a:extLst>
          </p:cNvPr>
          <p:cNvSpPr>
            <a:spLocks noGrp="1"/>
          </p:cNvSpPr>
          <p:nvPr/>
        </p:nvSpPr>
        <p:spPr>
          <a:xfrm>
            <a:off x="20288250" y="21221700"/>
            <a:ext cx="5429250" cy="43815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a:solidFill>
                  <a:srgbClr val="121426"/>
                </a:solidFill>
                <a:latin typeface="Arial"/>
                <a:ea typeface="Arial"/>
                <a:cs typeface="Arial"/>
              </a:rPr>
              <a:t>Scanpath similarity</a:t>
            </a:r>
          </a:p>
        </p:txBody>
      </p:sp>
      <p:sp>
        <p:nvSpPr>
          <p:cNvPr id="82" name="scan-bullets">
            <a:extLst>
              <a:ext uri="{FF2B5EF4-FFF2-40B4-BE49-F238E27FC236}">
                <a16:creationId xmlns:a16="http://schemas.microsoft.com/office/drawing/2014/main" id="{A06E6C9D-E38B-40C0-A295-75F7D37D373C}"/>
              </a:ext>
            </a:extLst>
          </p:cNvPr>
          <p:cNvSpPr>
            <a:spLocks noGrp="1"/>
          </p:cNvSpPr>
          <p:nvPr/>
        </p:nvSpPr>
        <p:spPr>
          <a:xfrm>
            <a:off x="20288250" y="21736050"/>
            <a:ext cx="9429750" cy="1257300"/>
          </a:xfrm>
          <a:prstGeom prst="rect">
            <a:avLst/>
          </a:prstGeom>
          <a:noFill/>
          <a:ln w="0">
            <a:noFill/>
            <a:prstDash val="solid"/>
          </a:ln>
        </p:spPr>
        <p:txBody>
          <a:bodyPr/>
          <a:lstStyle/>
          <a:p>
            <a:pPr>
              <a:buNone/>
              <a:defRPr sz="2025">
                <a:solidFill>
                  <a:srgbClr val="121426"/>
                </a:solidFill>
                <a:latin typeface="Arial"/>
                <a:ea typeface="Arial"/>
                <a:cs typeface="Arial"/>
              </a:defRPr>
            </a:pPr>
            <a:r>
              <a:rPr sz="2400">
                <a:solidFill>
                  <a:srgbClr val="121426"/>
                </a:solidFill>
                <a:latin typeface="Arial"/>
                <a:ea typeface="Arial"/>
                <a:cs typeface="Arial"/>
              </a:rPr>
              <a:t>• Highest mean similarity: Video 1, called-by-name brachycephalic dog, about 0.57.</a:t>
            </a:r>
          </a:p>
          <a:p>
            <a:pPr>
              <a:buNone/>
              <a:defRPr sz="2025">
                <a:solidFill>
                  <a:srgbClr val="121426"/>
                </a:solidFill>
                <a:latin typeface="Arial"/>
                <a:ea typeface="Arial"/>
                <a:cs typeface="Arial"/>
              </a:defRPr>
            </a:pPr>
            <a:r>
              <a:rPr sz="2400">
                <a:solidFill>
                  <a:srgbClr val="121426"/>
                </a:solidFill>
                <a:latin typeface="Arial"/>
                <a:ea typeface="Arial"/>
                <a:cs typeface="Arial"/>
              </a:rPr>
              <a:t>• Lowest mean similarity: Video 2, ball-play normocephalic dog, about 0.40.</a:t>
            </a:r>
          </a:p>
          <a:p>
            <a:pPr>
              <a:buNone/>
              <a:defRPr sz="2025">
                <a:solidFill>
                  <a:srgbClr val="121426"/>
                </a:solidFill>
                <a:latin typeface="Arial"/>
                <a:ea typeface="Arial"/>
                <a:cs typeface="Arial"/>
              </a:defRPr>
            </a:pPr>
            <a:r>
              <a:rPr sz="2400">
                <a:solidFill>
                  <a:srgbClr val="121426"/>
                </a:solidFill>
                <a:latin typeface="Arial"/>
                <a:ea typeface="Arial"/>
                <a:cs typeface="Arial"/>
              </a:rPr>
              <a:t>• Viewing strategy changed with movement, posture, camera angle and AOI visibility.</a:t>
            </a:r>
          </a:p>
        </p:txBody>
      </p:sp>
      <p:pic>
        <p:nvPicPr>
          <p:cNvPr id="795" name="Picture 195"/>
          <p:cNvPicPr>
            <a:picLocks noChangeAspect="1"/>
          </p:cNvPicPr>
          <p:nvPr/>
        </p:nvPicPr>
        <p:blipFill>
          <a:blip r:embed="rId6"/>
          <a:stretch/>
        </p:blipFill>
        <p:spPr>
          <a:xfrm>
            <a:off x="22639407" y="24669750"/>
            <a:ext cx="4917937" cy="4476750"/>
          </a:xfrm>
          <a:prstGeom prst="rect">
            <a:avLst/>
          </a:prstGeom>
        </p:spPr>
      </p:pic>
      <p:sp>
        <p:nvSpPr>
          <p:cNvPr id="84" name="Development, Challenges &amp; Demo-box">
            <a:extLst>
              <a:ext uri="{FF2B5EF4-FFF2-40B4-BE49-F238E27FC236}">
                <a16:creationId xmlns:a16="http://schemas.microsoft.com/office/drawing/2014/main" id="{031B684A-0DE5-463F-B3B4-C1B1D30DB51D}"/>
              </a:ext>
            </a:extLst>
          </p:cNvPr>
          <p:cNvSpPr>
            <a:spLocks noGrp="1"/>
          </p:cNvSpPr>
          <p:nvPr/>
        </p:nvSpPr>
        <p:spPr>
          <a:xfrm>
            <a:off x="152400" y="30813375"/>
            <a:ext cx="30175200" cy="7524750"/>
          </a:xfrm>
          <a:prstGeom prst="roundRect">
            <a:avLst>
              <a:gd name="adj" fmla="val 253"/>
            </a:avLst>
          </a:prstGeom>
          <a:solidFill>
            <a:srgbClr val="EAF3FB"/>
          </a:solidFill>
          <a:ln w="28575">
            <a:solidFill>
              <a:srgbClr val="28235C"/>
            </a:solidFill>
            <a:prstDash val="solid"/>
          </a:ln>
        </p:spPr>
        <p:txBody>
          <a:bodyPr/>
          <a:lstStyle/>
          <a:p>
            <a:endParaRPr sz="2000"/>
          </a:p>
        </p:txBody>
      </p:sp>
      <p:sp>
        <p:nvSpPr>
          <p:cNvPr id="85" name="Development, Challenges &amp; Demo-title">
            <a:extLst>
              <a:ext uri="{FF2B5EF4-FFF2-40B4-BE49-F238E27FC236}">
                <a16:creationId xmlns:a16="http://schemas.microsoft.com/office/drawing/2014/main" id="{B8610DB4-198C-4CCA-B33C-44B2223E4172}"/>
              </a:ext>
            </a:extLst>
          </p:cNvPr>
          <p:cNvSpPr>
            <a:spLocks noGrp="1"/>
          </p:cNvSpPr>
          <p:nvPr/>
        </p:nvSpPr>
        <p:spPr>
          <a:xfrm>
            <a:off x="419100" y="31022925"/>
            <a:ext cx="29641800" cy="590550"/>
          </a:xfrm>
          <a:prstGeom prst="rect">
            <a:avLst/>
          </a:prstGeom>
          <a:noFill/>
          <a:ln w="0">
            <a:noFill/>
            <a:prstDash val="solid"/>
          </a:ln>
        </p:spPr>
        <p:txBody>
          <a:bodyPr/>
          <a:lstStyle/>
          <a:p>
            <a:pPr>
              <a:buNone/>
              <a:defRPr sz="3450" b="1">
                <a:solidFill>
                  <a:srgbClr val="28235C"/>
                </a:solidFill>
                <a:latin typeface="Arial"/>
                <a:ea typeface="Arial"/>
                <a:cs typeface="Arial"/>
              </a:defRPr>
            </a:pPr>
            <a:r>
              <a:rPr sz="3600" b="1">
                <a:solidFill>
                  <a:srgbClr val="28235C"/>
                </a:solidFill>
                <a:latin typeface="Arial"/>
                <a:ea typeface="Arial"/>
                <a:cs typeface="Arial"/>
              </a:rPr>
              <a:t>DEVELOPMENT, CHALLENGES &amp; DEMO</a:t>
            </a:r>
          </a:p>
        </p:txBody>
      </p:sp>
      <p:sp>
        <p:nvSpPr>
          <p:cNvPr id="86" name="dev-title">
            <a:extLst>
              <a:ext uri="{FF2B5EF4-FFF2-40B4-BE49-F238E27FC236}">
                <a16:creationId xmlns:a16="http://schemas.microsoft.com/office/drawing/2014/main" id="{6B164B99-2BCD-4320-9A91-006182E78296}"/>
              </a:ext>
            </a:extLst>
          </p:cNvPr>
          <p:cNvSpPr>
            <a:spLocks noGrp="1"/>
          </p:cNvSpPr>
          <p:nvPr/>
        </p:nvSpPr>
        <p:spPr>
          <a:xfrm>
            <a:off x="533400" y="31718250"/>
            <a:ext cx="6858000" cy="41910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a:solidFill>
                  <a:srgbClr val="121426"/>
                </a:solidFill>
                <a:latin typeface="Arial"/>
                <a:ea typeface="Arial"/>
                <a:cs typeface="Arial"/>
              </a:rPr>
              <a:t>Development workflow</a:t>
            </a:r>
          </a:p>
        </p:txBody>
      </p:sp>
      <p:sp>
        <p:nvSpPr>
          <p:cNvPr id="87" name="flow-1">
            <a:extLst>
              <a:ext uri="{FF2B5EF4-FFF2-40B4-BE49-F238E27FC236}">
                <a16:creationId xmlns:a16="http://schemas.microsoft.com/office/drawing/2014/main" id="{F0228F5C-B3D4-4731-8168-FE71A4455454}"/>
              </a:ext>
            </a:extLst>
          </p:cNvPr>
          <p:cNvSpPr>
            <a:spLocks noGrp="1"/>
          </p:cNvSpPr>
          <p:nvPr/>
        </p:nvSpPr>
        <p:spPr>
          <a:xfrm>
            <a:off x="533400" y="32308800"/>
            <a:ext cx="9144000" cy="1381125"/>
          </a:xfrm>
          <a:prstGeom prst="roundRect">
            <a:avLst>
              <a:gd name="adj" fmla="val 4138"/>
            </a:avLst>
          </a:prstGeom>
          <a:solidFill>
            <a:srgbClr val="FFFFFF"/>
          </a:solidFill>
          <a:ln w="28575">
            <a:solidFill>
              <a:srgbClr val="9BB6D3"/>
            </a:solidFill>
            <a:prstDash val="solid"/>
          </a:ln>
        </p:spPr>
        <p:txBody>
          <a:bodyPr/>
          <a:lstStyle/>
          <a:p>
            <a:endParaRPr sz="2000"/>
          </a:p>
        </p:txBody>
      </p:sp>
      <p:sp>
        <p:nvSpPr>
          <p:cNvPr id="88" name="flow-1-num">
            <a:extLst>
              <a:ext uri="{FF2B5EF4-FFF2-40B4-BE49-F238E27FC236}">
                <a16:creationId xmlns:a16="http://schemas.microsoft.com/office/drawing/2014/main" id="{DE6C0B46-A247-4D67-8588-A2E1140AA799}"/>
              </a:ext>
            </a:extLst>
          </p:cNvPr>
          <p:cNvSpPr>
            <a:spLocks noGrp="1"/>
          </p:cNvSpPr>
          <p:nvPr/>
        </p:nvSpPr>
        <p:spPr>
          <a:xfrm>
            <a:off x="704850" y="32518350"/>
            <a:ext cx="666750" cy="666750"/>
          </a:xfrm>
          <a:prstGeom prst="roundRect">
            <a:avLst>
              <a:gd name="adj" fmla="val 8571"/>
            </a:avLst>
          </a:prstGeom>
          <a:solidFill>
            <a:srgbClr val="28235C"/>
          </a:solidFill>
          <a:ln w="28575">
            <a:solidFill>
              <a:srgbClr val="28235C"/>
            </a:solidFill>
            <a:prstDash val="solid"/>
          </a:ln>
        </p:spPr>
        <p:txBody>
          <a:bodyPr/>
          <a:lstStyle/>
          <a:p>
            <a:endParaRPr sz="2000"/>
          </a:p>
        </p:txBody>
      </p:sp>
      <p:sp>
        <p:nvSpPr>
          <p:cNvPr id="89" name="flow-1-num-text">
            <a:extLst>
              <a:ext uri="{FF2B5EF4-FFF2-40B4-BE49-F238E27FC236}">
                <a16:creationId xmlns:a16="http://schemas.microsoft.com/office/drawing/2014/main" id="{760D42BB-A61C-42D2-B229-CA5BBBA30AC5}"/>
              </a:ext>
            </a:extLst>
          </p:cNvPr>
          <p:cNvSpPr>
            <a:spLocks noGrp="1"/>
          </p:cNvSpPr>
          <p:nvPr/>
        </p:nvSpPr>
        <p:spPr>
          <a:xfrm>
            <a:off x="704850" y="32575500"/>
            <a:ext cx="666750" cy="514350"/>
          </a:xfrm>
          <a:prstGeom prst="rect">
            <a:avLst/>
          </a:prstGeom>
          <a:noFill/>
          <a:ln w="0">
            <a:noFill/>
            <a:prstDash val="solid"/>
          </a:ln>
        </p:spPr>
        <p:txBody>
          <a:bodyPr/>
          <a:lstStyle/>
          <a:p>
            <a:pPr algn="ctr">
              <a:buNone/>
              <a:defRPr sz="3000" b="1">
                <a:solidFill>
                  <a:srgbClr val="FFFFFF"/>
                </a:solidFill>
                <a:latin typeface="Arial"/>
                <a:ea typeface="Arial"/>
                <a:cs typeface="Arial"/>
              </a:defRPr>
            </a:pPr>
            <a:r>
              <a:rPr sz="3200" b="1">
                <a:solidFill>
                  <a:srgbClr val="FFFFFF"/>
                </a:solidFill>
                <a:latin typeface="Arial"/>
                <a:ea typeface="Arial"/>
                <a:cs typeface="Arial"/>
              </a:rPr>
              <a:t>1</a:t>
            </a:r>
          </a:p>
        </p:txBody>
      </p:sp>
      <p:sp>
        <p:nvSpPr>
          <p:cNvPr id="90" name="flow-1-title">
            <a:extLst>
              <a:ext uri="{FF2B5EF4-FFF2-40B4-BE49-F238E27FC236}">
                <a16:creationId xmlns:a16="http://schemas.microsoft.com/office/drawing/2014/main" id="{F89C37AC-2103-414E-A0ED-00AA31A6F1F1}"/>
              </a:ext>
            </a:extLst>
          </p:cNvPr>
          <p:cNvSpPr>
            <a:spLocks noGrp="1"/>
          </p:cNvSpPr>
          <p:nvPr/>
        </p:nvSpPr>
        <p:spPr>
          <a:xfrm>
            <a:off x="1524000" y="32499300"/>
            <a:ext cx="7981950" cy="361950"/>
          </a:xfrm>
          <a:prstGeom prst="rect">
            <a:avLst/>
          </a:prstGeom>
          <a:noFill/>
          <a:ln w="0">
            <a:noFill/>
            <a:prstDash val="solid"/>
          </a:ln>
        </p:spPr>
        <p:txBody>
          <a:bodyPr/>
          <a:lstStyle/>
          <a:p>
            <a:pPr>
              <a:buNone/>
              <a:defRPr sz="2100" b="1">
                <a:solidFill>
                  <a:srgbClr val="28235C"/>
                </a:solidFill>
                <a:latin typeface="Arial"/>
                <a:ea typeface="Arial"/>
                <a:cs typeface="Arial"/>
              </a:defRPr>
            </a:pPr>
            <a:r>
              <a:rPr sz="2400" b="1">
                <a:solidFill>
                  <a:srgbClr val="28235C"/>
                </a:solidFill>
                <a:latin typeface="Arial"/>
                <a:ea typeface="Arial"/>
                <a:cs typeface="Arial"/>
              </a:rPr>
              <a:t>Experiment</a:t>
            </a:r>
          </a:p>
        </p:txBody>
      </p:sp>
      <p:sp>
        <p:nvSpPr>
          <p:cNvPr id="91" name="flow-1-detail">
            <a:extLst>
              <a:ext uri="{FF2B5EF4-FFF2-40B4-BE49-F238E27FC236}">
                <a16:creationId xmlns:a16="http://schemas.microsoft.com/office/drawing/2014/main" id="{1C3853BC-6372-4B3F-BA3F-8AAD657CADBB}"/>
              </a:ext>
            </a:extLst>
          </p:cNvPr>
          <p:cNvSpPr>
            <a:spLocks noGrp="1"/>
          </p:cNvSpPr>
          <p:nvPr/>
        </p:nvSpPr>
        <p:spPr>
          <a:xfrm>
            <a:off x="1524000" y="32899350"/>
            <a:ext cx="7981950" cy="571500"/>
          </a:xfrm>
          <a:prstGeom prst="rect">
            <a:avLst/>
          </a:prstGeom>
          <a:noFill/>
          <a:ln w="0">
            <a:noFill/>
            <a:prstDash val="solid"/>
          </a:ln>
        </p:spPr>
        <p:txBody>
          <a:bodyPr/>
          <a:lstStyle/>
          <a:p>
            <a:pPr>
              <a:buNone/>
              <a:defRPr sz="1725">
                <a:solidFill>
                  <a:srgbClr val="405372"/>
                </a:solidFill>
                <a:latin typeface="Arial"/>
                <a:ea typeface="Arial"/>
                <a:cs typeface="Arial"/>
              </a:defRPr>
            </a:pPr>
            <a:r>
              <a:rPr>
                <a:solidFill>
                  <a:srgbClr val="405372"/>
                </a:solidFill>
                <a:latin typeface="Arial"/>
                <a:ea typeface="Arial"/>
                <a:cs typeface="Arial"/>
              </a:rPr>
              <a:t>Present videos and collect gaze + questionnaire data.</a:t>
            </a:r>
          </a:p>
        </p:txBody>
      </p:sp>
      <p:sp>
        <p:nvSpPr>
          <p:cNvPr id="92" name="flow-2">
            <a:extLst>
              <a:ext uri="{FF2B5EF4-FFF2-40B4-BE49-F238E27FC236}">
                <a16:creationId xmlns:a16="http://schemas.microsoft.com/office/drawing/2014/main" id="{22D9905C-B3C4-42D0-ACE7-6EA9E7F283E0}"/>
              </a:ext>
            </a:extLst>
          </p:cNvPr>
          <p:cNvSpPr>
            <a:spLocks noGrp="1"/>
          </p:cNvSpPr>
          <p:nvPr/>
        </p:nvSpPr>
        <p:spPr>
          <a:xfrm>
            <a:off x="533400" y="33928050"/>
            <a:ext cx="9144000" cy="1381125"/>
          </a:xfrm>
          <a:prstGeom prst="roundRect">
            <a:avLst>
              <a:gd name="adj" fmla="val 4138"/>
            </a:avLst>
          </a:prstGeom>
          <a:solidFill>
            <a:srgbClr val="FFFFFF"/>
          </a:solidFill>
          <a:ln w="28575">
            <a:solidFill>
              <a:srgbClr val="9BB6D3"/>
            </a:solidFill>
            <a:prstDash val="solid"/>
          </a:ln>
        </p:spPr>
        <p:txBody>
          <a:bodyPr/>
          <a:lstStyle/>
          <a:p>
            <a:endParaRPr sz="2000"/>
          </a:p>
        </p:txBody>
      </p:sp>
      <p:sp>
        <p:nvSpPr>
          <p:cNvPr id="93" name="flow-2-num">
            <a:extLst>
              <a:ext uri="{FF2B5EF4-FFF2-40B4-BE49-F238E27FC236}">
                <a16:creationId xmlns:a16="http://schemas.microsoft.com/office/drawing/2014/main" id="{10D02311-3546-42E5-957B-2C4A302EADF3}"/>
              </a:ext>
            </a:extLst>
          </p:cNvPr>
          <p:cNvSpPr>
            <a:spLocks noGrp="1"/>
          </p:cNvSpPr>
          <p:nvPr/>
        </p:nvSpPr>
        <p:spPr>
          <a:xfrm>
            <a:off x="704850" y="34137600"/>
            <a:ext cx="666750" cy="666750"/>
          </a:xfrm>
          <a:prstGeom prst="roundRect">
            <a:avLst>
              <a:gd name="adj" fmla="val 8571"/>
            </a:avLst>
          </a:prstGeom>
          <a:solidFill>
            <a:srgbClr val="28235C"/>
          </a:solidFill>
          <a:ln w="28575">
            <a:solidFill>
              <a:srgbClr val="28235C"/>
            </a:solidFill>
            <a:prstDash val="solid"/>
          </a:ln>
        </p:spPr>
        <p:txBody>
          <a:bodyPr/>
          <a:lstStyle/>
          <a:p>
            <a:endParaRPr sz="2000"/>
          </a:p>
        </p:txBody>
      </p:sp>
      <p:sp>
        <p:nvSpPr>
          <p:cNvPr id="94" name="flow-2-num-text">
            <a:extLst>
              <a:ext uri="{FF2B5EF4-FFF2-40B4-BE49-F238E27FC236}">
                <a16:creationId xmlns:a16="http://schemas.microsoft.com/office/drawing/2014/main" id="{2DCD4F56-5E86-4F78-83B5-BDBA96E9A44A}"/>
              </a:ext>
            </a:extLst>
          </p:cNvPr>
          <p:cNvSpPr>
            <a:spLocks noGrp="1"/>
          </p:cNvSpPr>
          <p:nvPr/>
        </p:nvSpPr>
        <p:spPr>
          <a:xfrm>
            <a:off x="704850" y="34194750"/>
            <a:ext cx="666750" cy="514350"/>
          </a:xfrm>
          <a:prstGeom prst="rect">
            <a:avLst/>
          </a:prstGeom>
          <a:noFill/>
          <a:ln w="0">
            <a:noFill/>
            <a:prstDash val="solid"/>
          </a:ln>
        </p:spPr>
        <p:txBody>
          <a:bodyPr/>
          <a:lstStyle/>
          <a:p>
            <a:pPr algn="ctr">
              <a:buNone/>
              <a:defRPr sz="3000" b="1">
                <a:solidFill>
                  <a:srgbClr val="FFFFFF"/>
                </a:solidFill>
                <a:latin typeface="Arial"/>
                <a:ea typeface="Arial"/>
                <a:cs typeface="Arial"/>
              </a:defRPr>
            </a:pPr>
            <a:r>
              <a:rPr sz="3200" b="1">
                <a:solidFill>
                  <a:srgbClr val="FFFFFF"/>
                </a:solidFill>
                <a:latin typeface="Arial"/>
                <a:ea typeface="Arial"/>
                <a:cs typeface="Arial"/>
              </a:rPr>
              <a:t>2</a:t>
            </a:r>
          </a:p>
        </p:txBody>
      </p:sp>
      <p:sp>
        <p:nvSpPr>
          <p:cNvPr id="95" name="flow-2-title">
            <a:extLst>
              <a:ext uri="{FF2B5EF4-FFF2-40B4-BE49-F238E27FC236}">
                <a16:creationId xmlns:a16="http://schemas.microsoft.com/office/drawing/2014/main" id="{5F295BB5-B05D-4E49-9542-6668DEC944D1}"/>
              </a:ext>
            </a:extLst>
          </p:cNvPr>
          <p:cNvSpPr>
            <a:spLocks noGrp="1"/>
          </p:cNvSpPr>
          <p:nvPr/>
        </p:nvSpPr>
        <p:spPr>
          <a:xfrm>
            <a:off x="1524000" y="34118550"/>
            <a:ext cx="7981950" cy="361950"/>
          </a:xfrm>
          <a:prstGeom prst="rect">
            <a:avLst/>
          </a:prstGeom>
          <a:noFill/>
          <a:ln w="0">
            <a:noFill/>
            <a:prstDash val="solid"/>
          </a:ln>
        </p:spPr>
        <p:txBody>
          <a:bodyPr/>
          <a:lstStyle/>
          <a:p>
            <a:pPr>
              <a:buNone/>
              <a:defRPr sz="2100" b="1">
                <a:solidFill>
                  <a:srgbClr val="28235C"/>
                </a:solidFill>
                <a:latin typeface="Arial"/>
                <a:ea typeface="Arial"/>
                <a:cs typeface="Arial"/>
              </a:defRPr>
            </a:pPr>
            <a:r>
              <a:rPr sz="2400" b="1">
                <a:solidFill>
                  <a:srgbClr val="28235C"/>
                </a:solidFill>
                <a:latin typeface="Arial"/>
                <a:ea typeface="Arial"/>
                <a:cs typeface="Arial"/>
              </a:rPr>
              <a:t>Preprocess</a:t>
            </a:r>
          </a:p>
        </p:txBody>
      </p:sp>
      <p:sp>
        <p:nvSpPr>
          <p:cNvPr id="96" name="flow-2-detail">
            <a:extLst>
              <a:ext uri="{FF2B5EF4-FFF2-40B4-BE49-F238E27FC236}">
                <a16:creationId xmlns:a16="http://schemas.microsoft.com/office/drawing/2014/main" id="{C51A25F7-F1FF-4F61-B73E-21570D150DB9}"/>
              </a:ext>
            </a:extLst>
          </p:cNvPr>
          <p:cNvSpPr>
            <a:spLocks noGrp="1"/>
          </p:cNvSpPr>
          <p:nvPr/>
        </p:nvSpPr>
        <p:spPr>
          <a:xfrm>
            <a:off x="1524000" y="34518600"/>
            <a:ext cx="7981950" cy="571500"/>
          </a:xfrm>
          <a:prstGeom prst="rect">
            <a:avLst/>
          </a:prstGeom>
          <a:noFill/>
          <a:ln w="0">
            <a:noFill/>
            <a:prstDash val="solid"/>
          </a:ln>
        </p:spPr>
        <p:txBody>
          <a:bodyPr/>
          <a:lstStyle/>
          <a:p>
            <a:pPr>
              <a:buNone/>
              <a:defRPr sz="1725">
                <a:solidFill>
                  <a:srgbClr val="405372"/>
                </a:solidFill>
                <a:latin typeface="Arial"/>
                <a:ea typeface="Arial"/>
                <a:cs typeface="Arial"/>
              </a:defRPr>
            </a:pPr>
            <a:r>
              <a:rPr dirty="0">
                <a:solidFill>
                  <a:srgbClr val="405372"/>
                </a:solidFill>
                <a:latin typeface="Arial"/>
                <a:ea typeface="Arial"/>
                <a:cs typeface="Arial"/>
              </a:rPr>
              <a:t>Filter unusable rows, split face regions, resolve AOI conflicts.</a:t>
            </a:r>
          </a:p>
        </p:txBody>
      </p:sp>
      <p:sp>
        <p:nvSpPr>
          <p:cNvPr id="97" name="flow-3">
            <a:extLst>
              <a:ext uri="{FF2B5EF4-FFF2-40B4-BE49-F238E27FC236}">
                <a16:creationId xmlns:a16="http://schemas.microsoft.com/office/drawing/2014/main" id="{4121AF6D-C11F-4213-A2A1-CAA4A2E9A44D}"/>
              </a:ext>
            </a:extLst>
          </p:cNvPr>
          <p:cNvSpPr>
            <a:spLocks noGrp="1"/>
          </p:cNvSpPr>
          <p:nvPr/>
        </p:nvSpPr>
        <p:spPr>
          <a:xfrm>
            <a:off x="533400" y="35547300"/>
            <a:ext cx="9144000" cy="1381125"/>
          </a:xfrm>
          <a:prstGeom prst="roundRect">
            <a:avLst>
              <a:gd name="adj" fmla="val 4138"/>
            </a:avLst>
          </a:prstGeom>
          <a:solidFill>
            <a:srgbClr val="FFFFFF"/>
          </a:solidFill>
          <a:ln w="28575">
            <a:solidFill>
              <a:srgbClr val="9BB6D3"/>
            </a:solidFill>
            <a:prstDash val="solid"/>
          </a:ln>
        </p:spPr>
        <p:txBody>
          <a:bodyPr/>
          <a:lstStyle/>
          <a:p>
            <a:endParaRPr sz="2000"/>
          </a:p>
        </p:txBody>
      </p:sp>
      <p:sp>
        <p:nvSpPr>
          <p:cNvPr id="98" name="flow-3-num">
            <a:extLst>
              <a:ext uri="{FF2B5EF4-FFF2-40B4-BE49-F238E27FC236}">
                <a16:creationId xmlns:a16="http://schemas.microsoft.com/office/drawing/2014/main" id="{A7C2EE29-A994-4641-AD57-C65A32ABD017}"/>
              </a:ext>
            </a:extLst>
          </p:cNvPr>
          <p:cNvSpPr>
            <a:spLocks noGrp="1"/>
          </p:cNvSpPr>
          <p:nvPr/>
        </p:nvSpPr>
        <p:spPr>
          <a:xfrm>
            <a:off x="704850" y="35756850"/>
            <a:ext cx="666750" cy="666750"/>
          </a:xfrm>
          <a:prstGeom prst="roundRect">
            <a:avLst>
              <a:gd name="adj" fmla="val 8571"/>
            </a:avLst>
          </a:prstGeom>
          <a:solidFill>
            <a:srgbClr val="28235C"/>
          </a:solidFill>
          <a:ln w="28575">
            <a:solidFill>
              <a:srgbClr val="28235C"/>
            </a:solidFill>
            <a:prstDash val="solid"/>
          </a:ln>
        </p:spPr>
        <p:txBody>
          <a:bodyPr/>
          <a:lstStyle/>
          <a:p>
            <a:endParaRPr sz="2000"/>
          </a:p>
        </p:txBody>
      </p:sp>
      <p:sp>
        <p:nvSpPr>
          <p:cNvPr id="99" name="flow-3-num-text">
            <a:extLst>
              <a:ext uri="{FF2B5EF4-FFF2-40B4-BE49-F238E27FC236}">
                <a16:creationId xmlns:a16="http://schemas.microsoft.com/office/drawing/2014/main" id="{4C1C81D7-3F52-4E9E-9EC2-06C3C06AEE57}"/>
              </a:ext>
            </a:extLst>
          </p:cNvPr>
          <p:cNvSpPr>
            <a:spLocks noGrp="1"/>
          </p:cNvSpPr>
          <p:nvPr/>
        </p:nvSpPr>
        <p:spPr>
          <a:xfrm>
            <a:off x="704850" y="35814000"/>
            <a:ext cx="666750" cy="514350"/>
          </a:xfrm>
          <a:prstGeom prst="rect">
            <a:avLst/>
          </a:prstGeom>
          <a:noFill/>
          <a:ln w="0">
            <a:noFill/>
            <a:prstDash val="solid"/>
          </a:ln>
        </p:spPr>
        <p:txBody>
          <a:bodyPr/>
          <a:lstStyle/>
          <a:p>
            <a:pPr algn="ctr">
              <a:buNone/>
              <a:defRPr sz="3000" b="1">
                <a:solidFill>
                  <a:srgbClr val="FFFFFF"/>
                </a:solidFill>
                <a:latin typeface="Arial"/>
                <a:ea typeface="Arial"/>
                <a:cs typeface="Arial"/>
              </a:defRPr>
            </a:pPr>
            <a:r>
              <a:rPr sz="3200" b="1">
                <a:solidFill>
                  <a:srgbClr val="FFFFFF"/>
                </a:solidFill>
                <a:latin typeface="Arial"/>
                <a:ea typeface="Arial"/>
                <a:cs typeface="Arial"/>
              </a:rPr>
              <a:t>3</a:t>
            </a:r>
          </a:p>
        </p:txBody>
      </p:sp>
      <p:sp>
        <p:nvSpPr>
          <p:cNvPr id="100" name="flow-3-title">
            <a:extLst>
              <a:ext uri="{FF2B5EF4-FFF2-40B4-BE49-F238E27FC236}">
                <a16:creationId xmlns:a16="http://schemas.microsoft.com/office/drawing/2014/main" id="{B4A7A98E-966E-4B66-A0C3-07FEEA1C6DA1}"/>
              </a:ext>
            </a:extLst>
          </p:cNvPr>
          <p:cNvSpPr>
            <a:spLocks noGrp="1"/>
          </p:cNvSpPr>
          <p:nvPr/>
        </p:nvSpPr>
        <p:spPr>
          <a:xfrm>
            <a:off x="1524000" y="35737800"/>
            <a:ext cx="7981950" cy="361950"/>
          </a:xfrm>
          <a:prstGeom prst="rect">
            <a:avLst/>
          </a:prstGeom>
          <a:noFill/>
          <a:ln w="0">
            <a:noFill/>
            <a:prstDash val="solid"/>
          </a:ln>
        </p:spPr>
        <p:txBody>
          <a:bodyPr/>
          <a:lstStyle/>
          <a:p>
            <a:pPr>
              <a:buNone/>
              <a:defRPr sz="2100" b="1">
                <a:solidFill>
                  <a:srgbClr val="28235C"/>
                </a:solidFill>
                <a:latin typeface="Arial"/>
                <a:ea typeface="Arial"/>
                <a:cs typeface="Arial"/>
              </a:defRPr>
            </a:pPr>
            <a:r>
              <a:rPr sz="2400" b="1">
                <a:solidFill>
                  <a:srgbClr val="28235C"/>
                </a:solidFill>
                <a:latin typeface="Arial"/>
                <a:ea typeface="Arial"/>
                <a:cs typeface="Arial"/>
              </a:rPr>
              <a:t>Analyze</a:t>
            </a:r>
          </a:p>
        </p:txBody>
      </p:sp>
      <p:sp>
        <p:nvSpPr>
          <p:cNvPr id="101" name="flow-3-detail">
            <a:extLst>
              <a:ext uri="{FF2B5EF4-FFF2-40B4-BE49-F238E27FC236}">
                <a16:creationId xmlns:a16="http://schemas.microsoft.com/office/drawing/2014/main" id="{780F7CF3-F9AA-45C2-AA14-4D181F45E0CA}"/>
              </a:ext>
            </a:extLst>
          </p:cNvPr>
          <p:cNvSpPr>
            <a:spLocks noGrp="1"/>
          </p:cNvSpPr>
          <p:nvPr/>
        </p:nvSpPr>
        <p:spPr>
          <a:xfrm>
            <a:off x="1524000" y="36137850"/>
            <a:ext cx="7981950" cy="571500"/>
          </a:xfrm>
          <a:prstGeom prst="rect">
            <a:avLst/>
          </a:prstGeom>
          <a:noFill/>
          <a:ln w="0">
            <a:noFill/>
            <a:prstDash val="solid"/>
          </a:ln>
        </p:spPr>
        <p:txBody>
          <a:bodyPr/>
          <a:lstStyle/>
          <a:p>
            <a:pPr>
              <a:buNone/>
              <a:defRPr sz="1725">
                <a:solidFill>
                  <a:srgbClr val="405372"/>
                </a:solidFill>
                <a:latin typeface="Arial"/>
                <a:ea typeface="Arial"/>
                <a:cs typeface="Arial"/>
              </a:defRPr>
            </a:pPr>
            <a:r>
              <a:rPr>
                <a:solidFill>
                  <a:srgbClr val="405372"/>
                </a:solidFill>
                <a:latin typeface="Arial"/>
                <a:ea typeface="Arial"/>
                <a:cs typeface="Arial"/>
              </a:rPr>
              <a:t>Generate AOI proportions, transitions, scanpaths and recognition charts.</a:t>
            </a:r>
          </a:p>
        </p:txBody>
      </p:sp>
      <p:sp>
        <p:nvSpPr>
          <p:cNvPr id="102" name="challenge-title">
            <a:extLst>
              <a:ext uri="{FF2B5EF4-FFF2-40B4-BE49-F238E27FC236}">
                <a16:creationId xmlns:a16="http://schemas.microsoft.com/office/drawing/2014/main" id="{935AC7E6-C5F3-453C-B649-74B0E4CE5A81}"/>
              </a:ext>
            </a:extLst>
          </p:cNvPr>
          <p:cNvSpPr>
            <a:spLocks noGrp="1"/>
          </p:cNvSpPr>
          <p:nvPr/>
        </p:nvSpPr>
        <p:spPr>
          <a:xfrm>
            <a:off x="10525125" y="31718250"/>
            <a:ext cx="7239000" cy="41910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a:solidFill>
                  <a:srgbClr val="121426"/>
                </a:solidFill>
                <a:latin typeface="Arial"/>
                <a:ea typeface="Arial"/>
                <a:cs typeface="Arial"/>
              </a:rPr>
              <a:t>Challenges and constraints</a:t>
            </a:r>
          </a:p>
        </p:txBody>
      </p:sp>
      <p:sp>
        <p:nvSpPr>
          <p:cNvPr id="103" name="challenge-bullets">
            <a:extLst>
              <a:ext uri="{FF2B5EF4-FFF2-40B4-BE49-F238E27FC236}">
                <a16:creationId xmlns:a16="http://schemas.microsoft.com/office/drawing/2014/main" id="{A367F95A-F200-4CEE-8991-E9DDED802CBC}"/>
              </a:ext>
            </a:extLst>
          </p:cNvPr>
          <p:cNvSpPr>
            <a:spLocks noGrp="1"/>
          </p:cNvSpPr>
          <p:nvPr/>
        </p:nvSpPr>
        <p:spPr>
          <a:xfrm>
            <a:off x="10525125" y="32308800"/>
            <a:ext cx="8858250" cy="1676400"/>
          </a:xfrm>
          <a:prstGeom prst="rect">
            <a:avLst/>
          </a:prstGeom>
          <a:noFill/>
          <a:ln w="0">
            <a:noFill/>
            <a:prstDash val="solid"/>
          </a:ln>
        </p:spPr>
        <p:txBody>
          <a:bodyPr/>
          <a:lstStyle/>
          <a:p>
            <a:pPr>
              <a:buNone/>
              <a:defRPr sz="2025">
                <a:solidFill>
                  <a:srgbClr val="121426"/>
                </a:solidFill>
                <a:latin typeface="Arial"/>
                <a:ea typeface="Arial"/>
                <a:cs typeface="Arial"/>
              </a:defRPr>
            </a:pPr>
            <a:r>
              <a:rPr sz="2400">
                <a:solidFill>
                  <a:srgbClr val="121426"/>
                </a:solidFill>
                <a:latin typeface="Arial"/>
                <a:ea typeface="Arial"/>
                <a:cs typeface="Arial"/>
              </a:rPr>
              <a:t>• Sunlight, head movement and blinking affected calibration stability.</a:t>
            </a:r>
          </a:p>
          <a:p>
            <a:pPr>
              <a:buNone/>
              <a:defRPr sz="2025">
                <a:solidFill>
                  <a:srgbClr val="121426"/>
                </a:solidFill>
                <a:latin typeface="Arial"/>
                <a:ea typeface="Arial"/>
                <a:cs typeface="Arial"/>
              </a:defRPr>
            </a:pPr>
            <a:r>
              <a:rPr sz="2400">
                <a:solidFill>
                  <a:srgbClr val="121426"/>
                </a:solidFill>
                <a:latin typeface="Arial"/>
                <a:ea typeface="Arial"/>
                <a:cs typeface="Arial"/>
              </a:rPr>
              <a:t>• Participants with glasses were excluded to improve tracking reliability.</a:t>
            </a:r>
          </a:p>
          <a:p>
            <a:pPr>
              <a:buNone/>
              <a:defRPr sz="2025">
                <a:solidFill>
                  <a:srgbClr val="121426"/>
                </a:solidFill>
                <a:latin typeface="Arial"/>
                <a:ea typeface="Arial"/>
                <a:cs typeface="Arial"/>
              </a:defRPr>
            </a:pPr>
            <a:r>
              <a:rPr sz="2400">
                <a:solidFill>
                  <a:srgbClr val="121426"/>
                </a:solidFill>
                <a:latin typeface="Arial"/>
                <a:ea typeface="Arial"/>
                <a:cs typeface="Arial"/>
              </a:rPr>
              <a:t>• Video AOIs were dynamic; fine facial labels had to be merged into robust categories.</a:t>
            </a:r>
          </a:p>
          <a:p>
            <a:pPr>
              <a:buNone/>
              <a:defRPr sz="2025">
                <a:solidFill>
                  <a:srgbClr val="121426"/>
                </a:solidFill>
                <a:latin typeface="Arial"/>
                <a:ea typeface="Arial"/>
                <a:cs typeface="Arial"/>
              </a:defRPr>
            </a:pPr>
            <a:r>
              <a:rPr sz="2400">
                <a:solidFill>
                  <a:srgbClr val="121426"/>
                </a:solidFill>
                <a:latin typeface="Arial"/>
                <a:ea typeface="Arial"/>
                <a:cs typeface="Arial"/>
              </a:rPr>
              <a:t>• Sample was small and gender-imbalanced, so analysis remains descriptive and exploratory.</a:t>
            </a:r>
          </a:p>
        </p:txBody>
      </p:sp>
      <p:pic>
        <p:nvPicPr>
          <p:cNvPr id="816" name="Picture 216"/>
          <p:cNvPicPr>
            <a:picLocks noChangeAspect="1"/>
          </p:cNvPicPr>
          <p:nvPr/>
        </p:nvPicPr>
        <p:blipFill>
          <a:blip r:embed="rId7"/>
          <a:srcRect t="18717" b="18717"/>
          <a:stretch>
            <a:fillRect/>
          </a:stretch>
        </p:blipFill>
        <p:spPr>
          <a:xfrm>
            <a:off x="10525125" y="35385375"/>
            <a:ext cx="8858250" cy="2190750"/>
          </a:xfrm>
          <a:prstGeom prst="roundRect">
            <a:avLst/>
          </a:prstGeom>
        </p:spPr>
      </p:pic>
      <p:sp>
        <p:nvSpPr>
          <p:cNvPr id="105" name="demo-title">
            <a:extLst>
              <a:ext uri="{FF2B5EF4-FFF2-40B4-BE49-F238E27FC236}">
                <a16:creationId xmlns:a16="http://schemas.microsoft.com/office/drawing/2014/main" id="{5A276EA3-8024-45D5-983D-B34F19257071}"/>
              </a:ext>
            </a:extLst>
          </p:cNvPr>
          <p:cNvSpPr>
            <a:spLocks noGrp="1"/>
          </p:cNvSpPr>
          <p:nvPr/>
        </p:nvSpPr>
        <p:spPr>
          <a:xfrm>
            <a:off x="20526375" y="31718250"/>
            <a:ext cx="8382000" cy="41910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a:solidFill>
                  <a:srgbClr val="121426"/>
                </a:solidFill>
                <a:latin typeface="Arial"/>
                <a:ea typeface="Arial"/>
                <a:cs typeface="Arial"/>
              </a:rPr>
              <a:t>Poster demo: how the system works</a:t>
            </a:r>
          </a:p>
        </p:txBody>
      </p:sp>
      <p:sp>
        <p:nvSpPr>
          <p:cNvPr id="106" name="demo-bullets">
            <a:extLst>
              <a:ext uri="{FF2B5EF4-FFF2-40B4-BE49-F238E27FC236}">
                <a16:creationId xmlns:a16="http://schemas.microsoft.com/office/drawing/2014/main" id="{000E5F97-FDDA-45F9-8302-DD3B085E148A}"/>
              </a:ext>
            </a:extLst>
          </p:cNvPr>
          <p:cNvSpPr>
            <a:spLocks noGrp="1"/>
          </p:cNvSpPr>
          <p:nvPr/>
        </p:nvSpPr>
        <p:spPr>
          <a:xfrm>
            <a:off x="20526375" y="32308800"/>
            <a:ext cx="8858250" cy="1676400"/>
          </a:xfrm>
          <a:prstGeom prst="rect">
            <a:avLst/>
          </a:prstGeom>
          <a:noFill/>
          <a:ln w="0">
            <a:noFill/>
            <a:prstDash val="solid"/>
          </a:ln>
        </p:spPr>
        <p:txBody>
          <a:bodyPr/>
          <a:lstStyle/>
          <a:p>
            <a:pPr>
              <a:buNone/>
              <a:defRPr sz="2025">
                <a:solidFill>
                  <a:srgbClr val="121426"/>
                </a:solidFill>
                <a:latin typeface="Arial"/>
                <a:ea typeface="Arial"/>
                <a:cs typeface="Arial"/>
              </a:defRPr>
            </a:pPr>
            <a:r>
              <a:rPr sz="2400" dirty="0">
                <a:solidFill>
                  <a:srgbClr val="121426"/>
                </a:solidFill>
                <a:latin typeface="Arial"/>
                <a:ea typeface="Arial"/>
                <a:cs typeface="Arial"/>
              </a:rPr>
              <a:t>• Show the Tobii experiment timeline and AOI annotation.</a:t>
            </a:r>
          </a:p>
          <a:p>
            <a:pPr>
              <a:buNone/>
              <a:defRPr sz="2025">
                <a:solidFill>
                  <a:srgbClr val="121426"/>
                </a:solidFill>
                <a:latin typeface="Arial"/>
                <a:ea typeface="Arial"/>
                <a:cs typeface="Arial"/>
              </a:defRPr>
            </a:pPr>
            <a:r>
              <a:rPr sz="2400" dirty="0">
                <a:solidFill>
                  <a:srgbClr val="121426"/>
                </a:solidFill>
                <a:latin typeface="Arial"/>
                <a:ea typeface="Arial"/>
                <a:cs typeface="Arial"/>
              </a:rPr>
              <a:t>• Open the cleaned dataset to explain </a:t>
            </a:r>
            <a:r>
              <a:rPr sz="2400" dirty="0" err="1">
                <a:solidFill>
                  <a:srgbClr val="121426"/>
                </a:solidFill>
                <a:latin typeface="Arial"/>
                <a:ea typeface="Arial"/>
                <a:cs typeface="Arial"/>
              </a:rPr>
              <a:t>Face_TOP</a:t>
            </a:r>
            <a:r>
              <a:rPr sz="2400" dirty="0">
                <a:solidFill>
                  <a:srgbClr val="121426"/>
                </a:solidFill>
                <a:latin typeface="Arial"/>
                <a:ea typeface="Arial"/>
                <a:cs typeface="Arial"/>
              </a:rPr>
              <a:t>, </a:t>
            </a:r>
            <a:r>
              <a:rPr sz="2400" dirty="0" err="1">
                <a:solidFill>
                  <a:srgbClr val="121426"/>
                </a:solidFill>
                <a:latin typeface="Arial"/>
                <a:ea typeface="Arial"/>
                <a:cs typeface="Arial"/>
              </a:rPr>
              <a:t>Face_BOTTOM</a:t>
            </a:r>
            <a:r>
              <a:rPr sz="2400" dirty="0">
                <a:solidFill>
                  <a:srgbClr val="121426"/>
                </a:solidFill>
                <a:latin typeface="Arial"/>
                <a:ea typeface="Arial"/>
                <a:cs typeface="Arial"/>
              </a:rPr>
              <a:t>, Torso, Tail and Legs.</a:t>
            </a:r>
          </a:p>
          <a:p>
            <a:pPr>
              <a:buNone/>
              <a:defRPr sz="2025">
                <a:solidFill>
                  <a:srgbClr val="121426"/>
                </a:solidFill>
                <a:latin typeface="Arial"/>
                <a:ea typeface="Arial"/>
                <a:cs typeface="Arial"/>
              </a:defRPr>
            </a:pPr>
            <a:r>
              <a:rPr sz="2400" dirty="0">
                <a:solidFill>
                  <a:srgbClr val="121426"/>
                </a:solidFill>
                <a:latin typeface="Arial"/>
                <a:ea typeface="Arial"/>
                <a:cs typeface="Arial"/>
              </a:rPr>
              <a:t>• Walk through charts that compare gaze behavior with participant answers.</a:t>
            </a:r>
          </a:p>
          <a:p>
            <a:pPr>
              <a:buNone/>
              <a:defRPr sz="2025">
                <a:solidFill>
                  <a:srgbClr val="121426"/>
                </a:solidFill>
                <a:latin typeface="Arial"/>
                <a:ea typeface="Arial"/>
                <a:cs typeface="Arial"/>
              </a:defRPr>
            </a:pPr>
            <a:r>
              <a:rPr sz="2400" dirty="0">
                <a:solidFill>
                  <a:srgbClr val="121426"/>
                </a:solidFill>
                <a:latin typeface="Arial"/>
                <a:ea typeface="Arial"/>
                <a:cs typeface="Arial"/>
              </a:rPr>
              <a:t>• Use the live notebook or prepared video if the tracker is unavailable.</a:t>
            </a:r>
          </a:p>
        </p:txBody>
      </p:sp>
      <p:pic>
        <p:nvPicPr>
          <p:cNvPr id="819" name="Picture 219"/>
          <p:cNvPicPr>
            <a:picLocks noChangeAspect="1"/>
          </p:cNvPicPr>
          <p:nvPr/>
        </p:nvPicPr>
        <p:blipFill>
          <a:blip r:embed="rId8"/>
          <a:srcRect t="21120" b="21120"/>
          <a:stretch>
            <a:fillRect/>
          </a:stretch>
        </p:blipFill>
        <p:spPr>
          <a:xfrm>
            <a:off x="20526375" y="35385375"/>
            <a:ext cx="8858250" cy="2190750"/>
          </a:xfrm>
          <a:prstGeom prst="roundRect">
            <a:avLst/>
          </a:prstGeom>
        </p:spPr>
      </p:pic>
      <p:sp>
        <p:nvSpPr>
          <p:cNvPr id="108" name="footer-bg">
            <a:extLst>
              <a:ext uri="{FF2B5EF4-FFF2-40B4-BE49-F238E27FC236}">
                <a16:creationId xmlns:a16="http://schemas.microsoft.com/office/drawing/2014/main" id="{2D8738CC-9225-410C-A770-E0E0013C8FAB}"/>
              </a:ext>
            </a:extLst>
          </p:cNvPr>
          <p:cNvSpPr>
            <a:spLocks noGrp="1"/>
          </p:cNvSpPr>
          <p:nvPr/>
        </p:nvSpPr>
        <p:spPr>
          <a:xfrm>
            <a:off x="152400" y="38719125"/>
            <a:ext cx="30175200" cy="6667500"/>
          </a:xfrm>
          <a:prstGeom prst="rect">
            <a:avLst/>
          </a:prstGeom>
          <a:solidFill>
            <a:srgbClr val="28235C"/>
          </a:solidFill>
          <a:ln w="0">
            <a:solidFill>
              <a:srgbClr val="28235C"/>
            </a:solidFill>
            <a:prstDash val="solid"/>
          </a:ln>
        </p:spPr>
        <p:txBody>
          <a:bodyPr/>
          <a:lstStyle/>
          <a:p>
            <a:pPr marL="0" indent="0" algn="l">
              <a:buNone/>
            </a:pPr>
            <a:endParaRPr sz="2000"/>
          </a:p>
        </p:txBody>
      </p:sp>
      <p:sp>
        <p:nvSpPr>
          <p:cNvPr id="109" name="conclusion-title">
            <a:extLst>
              <a:ext uri="{FF2B5EF4-FFF2-40B4-BE49-F238E27FC236}">
                <a16:creationId xmlns:a16="http://schemas.microsoft.com/office/drawing/2014/main" id="{E3D72546-8123-4B33-A210-6A0900FC77C1}"/>
              </a:ext>
            </a:extLst>
          </p:cNvPr>
          <p:cNvSpPr>
            <a:spLocks noGrp="1"/>
          </p:cNvSpPr>
          <p:nvPr/>
        </p:nvSpPr>
        <p:spPr>
          <a:xfrm>
            <a:off x="571500" y="39052500"/>
            <a:ext cx="6191250" cy="552450"/>
          </a:xfrm>
          <a:prstGeom prst="rect">
            <a:avLst/>
          </a:prstGeom>
          <a:noFill/>
          <a:ln w="0">
            <a:noFill/>
            <a:prstDash val="solid"/>
          </a:ln>
        </p:spPr>
        <p:txBody>
          <a:bodyPr/>
          <a:lstStyle/>
          <a:p>
            <a:pPr>
              <a:buNone/>
              <a:defRPr sz="3600" b="1">
                <a:solidFill>
                  <a:srgbClr val="FFFFFF"/>
                </a:solidFill>
                <a:latin typeface="Arial"/>
                <a:ea typeface="Arial"/>
                <a:cs typeface="Arial"/>
              </a:defRPr>
            </a:pPr>
            <a:r>
              <a:rPr sz="4000" b="1">
                <a:solidFill>
                  <a:srgbClr val="FFFFFF"/>
                </a:solidFill>
                <a:latin typeface="Arial"/>
                <a:ea typeface="Arial"/>
                <a:cs typeface="Arial"/>
              </a:rPr>
              <a:t>CONCLUSION</a:t>
            </a:r>
          </a:p>
        </p:txBody>
      </p:sp>
      <p:sp>
        <p:nvSpPr>
          <p:cNvPr id="110" name="conclusion-copy">
            <a:extLst>
              <a:ext uri="{FF2B5EF4-FFF2-40B4-BE49-F238E27FC236}">
                <a16:creationId xmlns:a16="http://schemas.microsoft.com/office/drawing/2014/main" id="{F3548EE0-0CBD-4F72-8441-A79552F6F6B8}"/>
              </a:ext>
            </a:extLst>
          </p:cNvPr>
          <p:cNvSpPr>
            <a:spLocks noGrp="1"/>
          </p:cNvSpPr>
          <p:nvPr/>
        </p:nvSpPr>
        <p:spPr>
          <a:xfrm>
            <a:off x="571500" y="39719250"/>
            <a:ext cx="28860750" cy="1666875"/>
          </a:xfrm>
          <a:prstGeom prst="rect">
            <a:avLst/>
          </a:prstGeom>
          <a:noFill/>
          <a:ln w="0">
            <a:noFill/>
            <a:prstDash val="solid"/>
          </a:ln>
        </p:spPr>
        <p:txBody>
          <a:bodyPr/>
          <a:lstStyle/>
          <a:p>
            <a:pPr>
              <a:buNone/>
              <a:defRPr sz="2475">
                <a:solidFill>
                  <a:srgbClr val="FFFFFF"/>
                </a:solidFill>
                <a:latin typeface="Arial"/>
                <a:ea typeface="Arial"/>
                <a:cs typeface="Arial"/>
              </a:defRPr>
            </a:pPr>
            <a:r>
              <a:rPr sz="2800" dirty="0">
                <a:solidFill>
                  <a:srgbClr val="FFFFFF"/>
                </a:solidFill>
                <a:latin typeface="Arial"/>
                <a:ea typeface="Arial"/>
                <a:cs typeface="Arial"/>
              </a:rPr>
              <a:t>Eye tracking gives an objective view of how humans interpret dog emotions in dynamic video. The strongest and most consistent attention was directed toward facial regions, especially </a:t>
            </a:r>
            <a:r>
              <a:rPr sz="2800" dirty="0" err="1">
                <a:solidFill>
                  <a:srgbClr val="FFFFFF"/>
                </a:solidFill>
                <a:latin typeface="Arial"/>
                <a:ea typeface="Arial"/>
                <a:cs typeface="Arial"/>
              </a:rPr>
              <a:t>Face_TOP</a:t>
            </a:r>
            <a:r>
              <a:rPr sz="2800" dirty="0">
                <a:solidFill>
                  <a:srgbClr val="FFFFFF"/>
                </a:solidFill>
                <a:latin typeface="Arial"/>
                <a:ea typeface="Arial"/>
                <a:cs typeface="Arial"/>
              </a:rPr>
              <a:t>, but situation recognition also depended on movement, posture, dog type and cue clarity. Combining gaze data with questionnaire answers revealed a gap between what participants said was informative and where they actually looked.</a:t>
            </a:r>
          </a:p>
        </p:txBody>
      </p:sp>
      <p:sp>
        <p:nvSpPr>
          <p:cNvPr id="111" name="future-title">
            <a:extLst>
              <a:ext uri="{FF2B5EF4-FFF2-40B4-BE49-F238E27FC236}">
                <a16:creationId xmlns:a16="http://schemas.microsoft.com/office/drawing/2014/main" id="{6F50AF18-2F1F-48A5-AF44-F458E78589ED}"/>
              </a:ext>
            </a:extLst>
          </p:cNvPr>
          <p:cNvSpPr>
            <a:spLocks noGrp="1"/>
          </p:cNvSpPr>
          <p:nvPr/>
        </p:nvSpPr>
        <p:spPr>
          <a:xfrm>
            <a:off x="571500" y="41795700"/>
            <a:ext cx="6191250" cy="552450"/>
          </a:xfrm>
          <a:prstGeom prst="rect">
            <a:avLst/>
          </a:prstGeom>
          <a:noFill/>
          <a:ln w="0">
            <a:noFill/>
            <a:prstDash val="solid"/>
          </a:ln>
        </p:spPr>
        <p:txBody>
          <a:bodyPr/>
          <a:lstStyle/>
          <a:p>
            <a:pPr>
              <a:buNone/>
              <a:defRPr sz="3450" b="1">
                <a:solidFill>
                  <a:srgbClr val="FFFFFF"/>
                </a:solidFill>
                <a:latin typeface="Arial"/>
                <a:ea typeface="Arial"/>
                <a:cs typeface="Arial"/>
              </a:defRPr>
            </a:pPr>
            <a:r>
              <a:rPr sz="3600" b="1">
                <a:solidFill>
                  <a:srgbClr val="FFFFFF"/>
                </a:solidFill>
                <a:latin typeface="Arial"/>
                <a:ea typeface="Arial"/>
                <a:cs typeface="Arial"/>
              </a:rPr>
              <a:t>FUTURE WORK</a:t>
            </a:r>
          </a:p>
        </p:txBody>
      </p:sp>
      <p:sp>
        <p:nvSpPr>
          <p:cNvPr id="112" name="future-copy">
            <a:extLst>
              <a:ext uri="{FF2B5EF4-FFF2-40B4-BE49-F238E27FC236}">
                <a16:creationId xmlns:a16="http://schemas.microsoft.com/office/drawing/2014/main" id="{7AF602AD-70D4-4A61-BF21-86EC9F8291A6}"/>
              </a:ext>
            </a:extLst>
          </p:cNvPr>
          <p:cNvSpPr>
            <a:spLocks noGrp="1"/>
          </p:cNvSpPr>
          <p:nvPr/>
        </p:nvSpPr>
        <p:spPr>
          <a:xfrm>
            <a:off x="571500" y="42443400"/>
            <a:ext cx="28860750" cy="857250"/>
          </a:xfrm>
          <a:prstGeom prst="rect">
            <a:avLst/>
          </a:prstGeom>
          <a:noFill/>
          <a:ln w="0">
            <a:noFill/>
            <a:prstDash val="solid"/>
          </a:ln>
        </p:spPr>
        <p:txBody>
          <a:bodyPr/>
          <a:lstStyle/>
          <a:p>
            <a:pPr>
              <a:buNone/>
              <a:defRPr sz="2400">
                <a:solidFill>
                  <a:srgbClr val="DDEBFF"/>
                </a:solidFill>
                <a:latin typeface="Arial"/>
                <a:ea typeface="Arial"/>
                <a:cs typeface="Arial"/>
              </a:defRPr>
            </a:pPr>
            <a:r>
              <a:rPr sz="2800">
                <a:solidFill>
                  <a:srgbClr val="DDEBFF"/>
                </a:solidFill>
                <a:latin typeface="Arial"/>
                <a:ea typeface="Arial"/>
                <a:cs typeface="Arial"/>
              </a:rPr>
              <a:t>Expand the participant pool, improve video quality and AOI visibility, add inferential statistics, and package the notebook workflow into a reproducible analysis tool for future human-animal interaction studies.</a:t>
            </a:r>
          </a:p>
        </p:txBody>
      </p:sp>
      <p:sp>
        <p:nvSpPr>
          <p:cNvPr id="113" name="footer-sources">
            <a:extLst>
              <a:ext uri="{FF2B5EF4-FFF2-40B4-BE49-F238E27FC236}">
                <a16:creationId xmlns:a16="http://schemas.microsoft.com/office/drawing/2014/main" id="{10D7C50F-9C2C-41B7-8133-1E80BE7D3733}"/>
              </a:ext>
            </a:extLst>
          </p:cNvPr>
          <p:cNvSpPr>
            <a:spLocks noGrp="1"/>
          </p:cNvSpPr>
          <p:nvPr/>
        </p:nvSpPr>
        <p:spPr>
          <a:xfrm>
            <a:off x="571500" y="44062650"/>
            <a:ext cx="19050000" cy="400050"/>
          </a:xfrm>
          <a:prstGeom prst="rect">
            <a:avLst/>
          </a:prstGeom>
          <a:noFill/>
          <a:ln w="0">
            <a:noFill/>
            <a:prstDash val="solid"/>
          </a:ln>
        </p:spPr>
        <p:txBody>
          <a:bodyPr/>
          <a:lstStyle/>
          <a:p>
            <a:pPr>
              <a:buNone/>
              <a:defRPr sz="1800">
                <a:solidFill>
                  <a:srgbClr val="CDEBFF"/>
                </a:solidFill>
                <a:latin typeface="Arial"/>
                <a:ea typeface="Arial"/>
                <a:cs typeface="Arial"/>
              </a:defRPr>
            </a:pPr>
            <a:r>
              <a:rPr sz="2000">
                <a:solidFill>
                  <a:srgbClr val="CDEBFF"/>
                </a:solidFill>
                <a:latin typeface="Arial"/>
                <a:ea typeface="Arial"/>
                <a:cs typeface="Arial"/>
              </a:rPr>
              <a:t>Sources: project report, cleaned Tobii AOI dataset, questionnaire files and user-provided poster examples.</a:t>
            </a:r>
          </a:p>
        </p:txBody>
      </p:sp>
      <p:pic>
        <p:nvPicPr>
          <p:cNvPr id="826" name="Picture 14"/>
          <p:cNvPicPr>
            <a:picLocks noChangeAspect="1"/>
          </p:cNvPicPr>
          <p:nvPr/>
        </p:nvPicPr>
        <p:blipFill>
          <a:blip r:embed="rId9"/>
          <a:srcRect t="16832" r="4934"/>
          <a:stretch>
            <a:fillRect/>
          </a:stretch>
        </p:blipFill>
        <p:spPr>
          <a:xfrm>
            <a:off x="1017440" y="14888937"/>
            <a:ext cx="3002480" cy="2880000"/>
          </a:xfrm>
          <a:prstGeom prst="rect">
            <a:avLst/>
          </a:prstGeom>
        </p:spPr>
      </p:pic>
      <p:pic>
        <p:nvPicPr>
          <p:cNvPr id="827" name="Picture 15"/>
          <p:cNvPicPr>
            <a:picLocks noChangeAspect="1"/>
          </p:cNvPicPr>
          <p:nvPr/>
        </p:nvPicPr>
        <p:blipFill>
          <a:blip r:embed="rId10"/>
          <a:stretch>
            <a:fillRect/>
          </a:stretch>
        </p:blipFill>
        <p:spPr>
          <a:xfrm>
            <a:off x="5761771" y="14949014"/>
            <a:ext cx="2973658" cy="2880000"/>
          </a:xfrm>
          <a:prstGeom prst="rect">
            <a:avLst/>
          </a:prstGeom>
        </p:spPr>
      </p:pic>
      <p:pic>
        <p:nvPicPr>
          <p:cNvPr id="828" name="Picture 19"/>
          <p:cNvPicPr>
            <a:picLocks noChangeAspect="1"/>
          </p:cNvPicPr>
          <p:nvPr/>
        </p:nvPicPr>
        <p:blipFill>
          <a:blip r:embed="rId11"/>
          <a:stretch>
            <a:fillRect/>
          </a:stretch>
        </p:blipFill>
        <p:spPr>
          <a:xfrm>
            <a:off x="12616804" y="13719491"/>
            <a:ext cx="3123940" cy="4022073"/>
          </a:xfrm>
          <a:prstGeom prst="rect">
            <a:avLst/>
          </a:prstGeom>
        </p:spPr>
      </p:pic>
      <p:sp>
        <p:nvSpPr>
          <p:cNvPr id="123" name="core-visual-clean-panel">
            <a:extLst>
              <a:ext uri="{FF2B5EF4-FFF2-40B4-BE49-F238E27FC236}">
                <a16:creationId xmlns:a16="http://schemas.microsoft.com/office/drawing/2014/main" id="{FDADD317-AE59-4749-95FC-E8BC7D3C73E4}"/>
              </a:ext>
            </a:extLst>
          </p:cNvPr>
          <p:cNvSpPr>
            <a:spLocks noGrp="1"/>
          </p:cNvSpPr>
          <p:nvPr/>
        </p:nvSpPr>
        <p:spPr>
          <a:xfrm>
            <a:off x="20193000" y="13792200"/>
            <a:ext cx="8953500" cy="3476625"/>
          </a:xfrm>
          <a:prstGeom prst="rect">
            <a:avLst/>
          </a:prstGeom>
          <a:solidFill>
            <a:srgbClr val="EAF3FB"/>
          </a:solidFill>
          <a:ln w="0">
            <a:solidFill>
              <a:srgbClr val="EAF3FB"/>
            </a:solidFill>
            <a:prstDash val="solid"/>
          </a:ln>
        </p:spPr>
        <p:txBody>
          <a:bodyPr/>
          <a:lstStyle/>
          <a:p>
            <a:endParaRPr sz="2000"/>
          </a:p>
        </p:txBody>
      </p:sp>
      <p:sp>
        <p:nvSpPr>
          <p:cNvPr id="124" name="core-visual-caption">
            <a:extLst>
              <a:ext uri="{FF2B5EF4-FFF2-40B4-BE49-F238E27FC236}">
                <a16:creationId xmlns:a16="http://schemas.microsoft.com/office/drawing/2014/main" id="{1D98FA32-4065-45D2-ADEA-753DA03F5F77}"/>
              </a:ext>
            </a:extLst>
          </p:cNvPr>
          <p:cNvSpPr>
            <a:spLocks noGrp="1"/>
          </p:cNvSpPr>
          <p:nvPr/>
        </p:nvSpPr>
        <p:spPr>
          <a:xfrm>
            <a:off x="20335875" y="13858875"/>
            <a:ext cx="8572500" cy="323850"/>
          </a:xfrm>
          <a:prstGeom prst="rect">
            <a:avLst/>
          </a:prstGeom>
          <a:noFill/>
          <a:ln w="0">
            <a:noFill/>
            <a:prstDash val="solid"/>
          </a:ln>
        </p:spPr>
        <p:txBody>
          <a:bodyPr/>
          <a:lstStyle/>
          <a:p>
            <a:pPr algn="ctr">
              <a:buNone/>
              <a:defRPr sz="1725" b="1">
                <a:solidFill>
                  <a:srgbClr val="28235C"/>
                </a:solidFill>
                <a:latin typeface="Arial"/>
                <a:ea typeface="Arial"/>
                <a:cs typeface="Arial"/>
              </a:defRPr>
            </a:pPr>
            <a:r>
              <a:rPr b="1">
                <a:solidFill>
                  <a:srgbClr val="28235C"/>
                </a:solidFill>
                <a:latin typeface="Arial"/>
                <a:ea typeface="Arial"/>
                <a:cs typeface="Arial"/>
              </a:rPr>
              <a:t>From raw observations to interpretable findings</a:t>
            </a:r>
          </a:p>
        </p:txBody>
      </p:sp>
      <p:sp>
        <p:nvSpPr>
          <p:cNvPr id="125" name="core-recordings-box">
            <a:extLst>
              <a:ext uri="{FF2B5EF4-FFF2-40B4-BE49-F238E27FC236}">
                <a16:creationId xmlns:a16="http://schemas.microsoft.com/office/drawing/2014/main" id="{E006D29F-8393-4012-A097-99BA24C590F6}"/>
              </a:ext>
            </a:extLst>
          </p:cNvPr>
          <p:cNvSpPr>
            <a:spLocks noGrp="1"/>
          </p:cNvSpPr>
          <p:nvPr/>
        </p:nvSpPr>
        <p:spPr>
          <a:xfrm>
            <a:off x="20431125" y="14382750"/>
            <a:ext cx="2333625" cy="1257300"/>
          </a:xfrm>
          <a:prstGeom prst="roundRect">
            <a:avLst>
              <a:gd name="adj" fmla="val 4545"/>
            </a:avLst>
          </a:prstGeom>
          <a:solidFill>
            <a:srgbClr val="FFFFFF"/>
          </a:solidFill>
          <a:ln w="19050">
            <a:solidFill>
              <a:srgbClr val="9BB6D3"/>
            </a:solidFill>
            <a:prstDash val="solid"/>
          </a:ln>
        </p:spPr>
        <p:txBody>
          <a:bodyPr/>
          <a:lstStyle/>
          <a:p>
            <a:endParaRPr sz="2000"/>
          </a:p>
        </p:txBody>
      </p:sp>
      <p:sp>
        <p:nvSpPr>
          <p:cNvPr id="126" name="core-recordings-title">
            <a:extLst>
              <a:ext uri="{FF2B5EF4-FFF2-40B4-BE49-F238E27FC236}">
                <a16:creationId xmlns:a16="http://schemas.microsoft.com/office/drawing/2014/main" id="{6D793A42-D350-4162-AE08-B9CF0B497AF9}"/>
              </a:ext>
            </a:extLst>
          </p:cNvPr>
          <p:cNvSpPr>
            <a:spLocks noGrp="1"/>
          </p:cNvSpPr>
          <p:nvPr/>
        </p:nvSpPr>
        <p:spPr>
          <a:xfrm>
            <a:off x="20602575" y="14535150"/>
            <a:ext cx="1990725" cy="285750"/>
          </a:xfrm>
          <a:prstGeom prst="rect">
            <a:avLst/>
          </a:prstGeom>
          <a:noFill/>
          <a:ln w="0">
            <a:noFill/>
            <a:prstDash val="solid"/>
          </a:ln>
        </p:spPr>
        <p:txBody>
          <a:bodyPr/>
          <a:lstStyle/>
          <a:p>
            <a:pPr algn="ctr">
              <a:buNone/>
              <a:defRPr sz="1800" b="1">
                <a:solidFill>
                  <a:srgbClr val="28235C"/>
                </a:solidFill>
                <a:latin typeface="Arial"/>
                <a:ea typeface="Arial"/>
                <a:cs typeface="Arial"/>
              </a:defRPr>
            </a:pPr>
            <a:r>
              <a:rPr sz="2000" b="1">
                <a:solidFill>
                  <a:srgbClr val="28235C"/>
                </a:solidFill>
                <a:latin typeface="Arial"/>
                <a:ea typeface="Arial"/>
                <a:cs typeface="Arial"/>
              </a:rPr>
              <a:t>Recordings</a:t>
            </a:r>
          </a:p>
        </p:txBody>
      </p:sp>
      <p:sp>
        <p:nvSpPr>
          <p:cNvPr id="127" name="core-recordings-subtitle">
            <a:extLst>
              <a:ext uri="{FF2B5EF4-FFF2-40B4-BE49-F238E27FC236}">
                <a16:creationId xmlns:a16="http://schemas.microsoft.com/office/drawing/2014/main" id="{E1AF9974-0103-4888-80D0-E150FA4322CE}"/>
              </a:ext>
            </a:extLst>
          </p:cNvPr>
          <p:cNvSpPr>
            <a:spLocks noGrp="1"/>
          </p:cNvSpPr>
          <p:nvPr/>
        </p:nvSpPr>
        <p:spPr>
          <a:xfrm>
            <a:off x="20602575" y="14859000"/>
            <a:ext cx="1990725" cy="723900"/>
          </a:xfrm>
          <a:prstGeom prst="rect">
            <a:avLst/>
          </a:prstGeom>
          <a:noFill/>
          <a:ln w="0">
            <a:noFill/>
            <a:prstDash val="solid"/>
          </a:ln>
        </p:spPr>
        <p:txBody>
          <a:bodyPr/>
          <a:lstStyle/>
          <a:p>
            <a:pPr algn="ctr">
              <a:buNone/>
              <a:defRPr sz="1425">
                <a:solidFill>
                  <a:srgbClr val="405372"/>
                </a:solidFill>
                <a:latin typeface="Arial"/>
                <a:ea typeface="Arial"/>
                <a:cs typeface="Arial"/>
              </a:defRPr>
            </a:pPr>
            <a:r>
              <a:rPr sz="1600">
                <a:solidFill>
                  <a:srgbClr val="405372"/>
                </a:solidFill>
                <a:latin typeface="Arial"/>
                <a:ea typeface="Arial"/>
                <a:cs typeface="Arial"/>
              </a:rPr>
              <a:t>Tobii gaze data</a:t>
            </a:r>
          </a:p>
        </p:txBody>
      </p:sp>
      <p:sp>
        <p:nvSpPr>
          <p:cNvPr id="128" name="core-questionnaires-box">
            <a:extLst>
              <a:ext uri="{FF2B5EF4-FFF2-40B4-BE49-F238E27FC236}">
                <a16:creationId xmlns:a16="http://schemas.microsoft.com/office/drawing/2014/main" id="{01990791-3B29-4267-BF05-A406CAC38DD8}"/>
              </a:ext>
            </a:extLst>
          </p:cNvPr>
          <p:cNvSpPr>
            <a:spLocks noGrp="1"/>
          </p:cNvSpPr>
          <p:nvPr/>
        </p:nvSpPr>
        <p:spPr>
          <a:xfrm>
            <a:off x="20431125" y="15811500"/>
            <a:ext cx="2333625" cy="1257300"/>
          </a:xfrm>
          <a:prstGeom prst="roundRect">
            <a:avLst>
              <a:gd name="adj" fmla="val 4545"/>
            </a:avLst>
          </a:prstGeom>
          <a:solidFill>
            <a:srgbClr val="FFFFFF"/>
          </a:solidFill>
          <a:ln w="19050">
            <a:solidFill>
              <a:srgbClr val="9BB6D3"/>
            </a:solidFill>
            <a:prstDash val="solid"/>
          </a:ln>
        </p:spPr>
        <p:txBody>
          <a:bodyPr/>
          <a:lstStyle/>
          <a:p>
            <a:endParaRPr sz="2000"/>
          </a:p>
        </p:txBody>
      </p:sp>
      <p:sp>
        <p:nvSpPr>
          <p:cNvPr id="129" name="core-questionnaires-title">
            <a:extLst>
              <a:ext uri="{FF2B5EF4-FFF2-40B4-BE49-F238E27FC236}">
                <a16:creationId xmlns:a16="http://schemas.microsoft.com/office/drawing/2014/main" id="{5F754D40-B494-470C-950C-B171483C20E6}"/>
              </a:ext>
            </a:extLst>
          </p:cNvPr>
          <p:cNvSpPr>
            <a:spLocks noGrp="1"/>
          </p:cNvSpPr>
          <p:nvPr/>
        </p:nvSpPr>
        <p:spPr>
          <a:xfrm>
            <a:off x="20602575" y="15963900"/>
            <a:ext cx="1990725" cy="285750"/>
          </a:xfrm>
          <a:prstGeom prst="rect">
            <a:avLst/>
          </a:prstGeom>
          <a:noFill/>
          <a:ln w="0">
            <a:noFill/>
            <a:prstDash val="solid"/>
          </a:ln>
        </p:spPr>
        <p:txBody>
          <a:bodyPr/>
          <a:lstStyle/>
          <a:p>
            <a:pPr algn="ctr">
              <a:buNone/>
              <a:defRPr sz="1800" b="1">
                <a:solidFill>
                  <a:srgbClr val="28235C"/>
                </a:solidFill>
                <a:latin typeface="Arial"/>
                <a:ea typeface="Arial"/>
                <a:cs typeface="Arial"/>
              </a:defRPr>
            </a:pPr>
            <a:r>
              <a:rPr sz="2000" b="1">
                <a:solidFill>
                  <a:srgbClr val="28235C"/>
                </a:solidFill>
                <a:latin typeface="Arial"/>
                <a:ea typeface="Arial"/>
                <a:cs typeface="Arial"/>
              </a:rPr>
              <a:t>Questionnaires</a:t>
            </a:r>
          </a:p>
        </p:txBody>
      </p:sp>
      <p:sp>
        <p:nvSpPr>
          <p:cNvPr id="130" name="core-questionnaires-subtitle">
            <a:extLst>
              <a:ext uri="{FF2B5EF4-FFF2-40B4-BE49-F238E27FC236}">
                <a16:creationId xmlns:a16="http://schemas.microsoft.com/office/drawing/2014/main" id="{15D1CB9D-1862-4746-95CF-BDF70A3E67C8}"/>
              </a:ext>
            </a:extLst>
          </p:cNvPr>
          <p:cNvSpPr>
            <a:spLocks noGrp="1"/>
          </p:cNvSpPr>
          <p:nvPr/>
        </p:nvSpPr>
        <p:spPr>
          <a:xfrm>
            <a:off x="20602575" y="16287750"/>
            <a:ext cx="1990725" cy="723900"/>
          </a:xfrm>
          <a:prstGeom prst="rect">
            <a:avLst/>
          </a:prstGeom>
          <a:noFill/>
          <a:ln w="0">
            <a:noFill/>
            <a:prstDash val="solid"/>
          </a:ln>
        </p:spPr>
        <p:txBody>
          <a:bodyPr/>
          <a:lstStyle/>
          <a:p>
            <a:pPr algn="ctr">
              <a:buNone/>
              <a:defRPr sz="1425">
                <a:solidFill>
                  <a:srgbClr val="405372"/>
                </a:solidFill>
                <a:latin typeface="Arial"/>
                <a:ea typeface="Arial"/>
                <a:cs typeface="Arial"/>
              </a:defRPr>
            </a:pPr>
            <a:r>
              <a:rPr sz="1600">
                <a:solidFill>
                  <a:srgbClr val="405372"/>
                </a:solidFill>
                <a:latin typeface="Arial"/>
                <a:ea typeface="Arial"/>
                <a:cs typeface="Arial"/>
              </a:rPr>
              <a:t>participant answers</a:t>
            </a:r>
          </a:p>
        </p:txBody>
      </p:sp>
      <p:sp>
        <p:nvSpPr>
          <p:cNvPr id="131" name="core-plus-circle">
            <a:extLst>
              <a:ext uri="{FF2B5EF4-FFF2-40B4-BE49-F238E27FC236}">
                <a16:creationId xmlns:a16="http://schemas.microsoft.com/office/drawing/2014/main" id="{842335E9-E24E-4E88-89BC-5D24FDD2F387}"/>
              </a:ext>
            </a:extLst>
          </p:cNvPr>
          <p:cNvSpPr>
            <a:spLocks noGrp="1"/>
          </p:cNvSpPr>
          <p:nvPr/>
        </p:nvSpPr>
        <p:spPr>
          <a:xfrm>
            <a:off x="23050500" y="15278100"/>
            <a:ext cx="552450" cy="552450"/>
          </a:xfrm>
          <a:prstGeom prst="roundRect">
            <a:avLst>
              <a:gd name="adj" fmla="val 10345"/>
            </a:avLst>
          </a:prstGeom>
          <a:solidFill>
            <a:srgbClr val="28235C"/>
          </a:solidFill>
          <a:ln w="19050">
            <a:solidFill>
              <a:srgbClr val="28235C"/>
            </a:solidFill>
            <a:prstDash val="solid"/>
          </a:ln>
        </p:spPr>
        <p:txBody>
          <a:bodyPr/>
          <a:lstStyle/>
          <a:p>
            <a:endParaRPr sz="2000"/>
          </a:p>
        </p:txBody>
      </p:sp>
      <p:sp>
        <p:nvSpPr>
          <p:cNvPr id="132" name="core-plus">
            <a:extLst>
              <a:ext uri="{FF2B5EF4-FFF2-40B4-BE49-F238E27FC236}">
                <a16:creationId xmlns:a16="http://schemas.microsoft.com/office/drawing/2014/main" id="{9249DAB1-A08D-4038-8C43-55D0DA989CC0}"/>
              </a:ext>
            </a:extLst>
          </p:cNvPr>
          <p:cNvSpPr>
            <a:spLocks noGrp="1"/>
          </p:cNvSpPr>
          <p:nvPr/>
        </p:nvSpPr>
        <p:spPr>
          <a:xfrm>
            <a:off x="23050500" y="15335250"/>
            <a:ext cx="552450" cy="381000"/>
          </a:xfrm>
          <a:prstGeom prst="rect">
            <a:avLst/>
          </a:prstGeom>
          <a:noFill/>
          <a:ln w="0">
            <a:noFill/>
            <a:prstDash val="solid"/>
          </a:ln>
        </p:spPr>
        <p:txBody>
          <a:bodyPr/>
          <a:lstStyle/>
          <a:p>
            <a:pPr algn="ctr">
              <a:buNone/>
              <a:defRPr sz="2550" b="1">
                <a:solidFill>
                  <a:srgbClr val="FFFFFF"/>
                </a:solidFill>
                <a:latin typeface="Arial"/>
                <a:ea typeface="Arial"/>
                <a:cs typeface="Arial"/>
              </a:defRPr>
            </a:pPr>
            <a:r>
              <a:rPr sz="2800" b="1">
                <a:solidFill>
                  <a:srgbClr val="FFFFFF"/>
                </a:solidFill>
                <a:latin typeface="Arial"/>
                <a:ea typeface="Arial"/>
                <a:cs typeface="Arial"/>
              </a:rPr>
              <a:t>+</a:t>
            </a:r>
          </a:p>
        </p:txBody>
      </p:sp>
      <p:sp>
        <p:nvSpPr>
          <p:cNvPr id="133" name="core-aoi-box">
            <a:extLst>
              <a:ext uri="{FF2B5EF4-FFF2-40B4-BE49-F238E27FC236}">
                <a16:creationId xmlns:a16="http://schemas.microsoft.com/office/drawing/2014/main" id="{3D8ED422-4753-4306-8F77-FF73AF1A3FFB}"/>
              </a:ext>
            </a:extLst>
          </p:cNvPr>
          <p:cNvSpPr>
            <a:spLocks noGrp="1"/>
          </p:cNvSpPr>
          <p:nvPr/>
        </p:nvSpPr>
        <p:spPr>
          <a:xfrm>
            <a:off x="23907750" y="14716125"/>
            <a:ext cx="2381250" cy="1666875"/>
          </a:xfrm>
          <a:prstGeom prst="roundRect">
            <a:avLst>
              <a:gd name="adj" fmla="val 3429"/>
            </a:avLst>
          </a:prstGeom>
          <a:solidFill>
            <a:srgbClr val="FFFFFF"/>
          </a:solidFill>
          <a:ln w="19050">
            <a:solidFill>
              <a:srgbClr val="9BB6D3"/>
            </a:solidFill>
            <a:prstDash val="solid"/>
          </a:ln>
        </p:spPr>
        <p:txBody>
          <a:bodyPr/>
          <a:lstStyle/>
          <a:p>
            <a:endParaRPr sz="2000"/>
          </a:p>
        </p:txBody>
      </p:sp>
      <p:sp>
        <p:nvSpPr>
          <p:cNvPr id="134" name="core-aoi-title">
            <a:extLst>
              <a:ext uri="{FF2B5EF4-FFF2-40B4-BE49-F238E27FC236}">
                <a16:creationId xmlns:a16="http://schemas.microsoft.com/office/drawing/2014/main" id="{B9DADDB4-49AB-4509-B575-C2368B215159}"/>
              </a:ext>
            </a:extLst>
          </p:cNvPr>
          <p:cNvSpPr>
            <a:spLocks noGrp="1"/>
          </p:cNvSpPr>
          <p:nvPr/>
        </p:nvSpPr>
        <p:spPr>
          <a:xfrm>
            <a:off x="24079200" y="14868525"/>
            <a:ext cx="2038350" cy="285750"/>
          </a:xfrm>
          <a:prstGeom prst="rect">
            <a:avLst/>
          </a:prstGeom>
          <a:noFill/>
          <a:ln w="0">
            <a:noFill/>
            <a:prstDash val="solid"/>
          </a:ln>
        </p:spPr>
        <p:txBody>
          <a:bodyPr/>
          <a:lstStyle/>
          <a:p>
            <a:pPr algn="ctr">
              <a:buNone/>
              <a:defRPr sz="1800" b="1">
                <a:solidFill>
                  <a:srgbClr val="28235C"/>
                </a:solidFill>
                <a:latin typeface="Arial"/>
                <a:ea typeface="Arial"/>
                <a:cs typeface="Arial"/>
              </a:defRPr>
            </a:pPr>
            <a:r>
              <a:rPr sz="2000" b="1">
                <a:solidFill>
                  <a:srgbClr val="28235C"/>
                </a:solidFill>
                <a:latin typeface="Arial"/>
                <a:ea typeface="Arial"/>
                <a:cs typeface="Arial"/>
              </a:rPr>
              <a:t>AOI Model</a:t>
            </a:r>
          </a:p>
        </p:txBody>
      </p:sp>
      <p:sp>
        <p:nvSpPr>
          <p:cNvPr id="135" name="core-aoi-subtitle">
            <a:extLst>
              <a:ext uri="{FF2B5EF4-FFF2-40B4-BE49-F238E27FC236}">
                <a16:creationId xmlns:a16="http://schemas.microsoft.com/office/drawing/2014/main" id="{908C629E-20F2-4E08-8B68-D608BB20B280}"/>
              </a:ext>
            </a:extLst>
          </p:cNvPr>
          <p:cNvSpPr>
            <a:spLocks noGrp="1"/>
          </p:cNvSpPr>
          <p:nvPr/>
        </p:nvSpPr>
        <p:spPr>
          <a:xfrm>
            <a:off x="24079200" y="15192375"/>
            <a:ext cx="2038350" cy="1133475"/>
          </a:xfrm>
          <a:prstGeom prst="rect">
            <a:avLst/>
          </a:prstGeom>
          <a:noFill/>
          <a:ln w="0">
            <a:noFill/>
            <a:prstDash val="solid"/>
          </a:ln>
        </p:spPr>
        <p:txBody>
          <a:bodyPr/>
          <a:lstStyle/>
          <a:p>
            <a:pPr algn="ctr">
              <a:buNone/>
              <a:defRPr sz="1425">
                <a:solidFill>
                  <a:srgbClr val="405372"/>
                </a:solidFill>
                <a:latin typeface="Arial"/>
                <a:ea typeface="Arial"/>
                <a:cs typeface="Arial"/>
              </a:defRPr>
            </a:pPr>
            <a:r>
              <a:rPr sz="1600" dirty="0" err="1">
                <a:solidFill>
                  <a:srgbClr val="405372"/>
                </a:solidFill>
                <a:latin typeface="Arial"/>
                <a:ea typeface="Arial"/>
                <a:cs typeface="Arial"/>
              </a:rPr>
              <a:t>Face_TOP</a:t>
            </a:r>
            <a:r>
              <a:rPr sz="1600" dirty="0">
                <a:solidFill>
                  <a:srgbClr val="405372"/>
                </a:solidFill>
                <a:latin typeface="Arial"/>
                <a:ea typeface="Arial"/>
                <a:cs typeface="Arial"/>
              </a:rPr>
              <a:t> • </a:t>
            </a:r>
            <a:r>
              <a:rPr sz="1600" dirty="0" err="1">
                <a:solidFill>
                  <a:srgbClr val="405372"/>
                </a:solidFill>
                <a:latin typeface="Arial"/>
                <a:ea typeface="Arial"/>
                <a:cs typeface="Arial"/>
              </a:rPr>
              <a:t>Face_BOTTOM</a:t>
            </a:r>
            <a:endParaRPr sz="1600" dirty="0">
              <a:solidFill>
                <a:srgbClr val="405372"/>
              </a:solidFill>
              <a:latin typeface="Arial"/>
              <a:ea typeface="Arial"/>
              <a:cs typeface="Arial"/>
            </a:endParaRPr>
          </a:p>
          <a:p>
            <a:pPr algn="ctr">
              <a:buNone/>
              <a:defRPr sz="1425">
                <a:solidFill>
                  <a:srgbClr val="405372"/>
                </a:solidFill>
                <a:latin typeface="Arial"/>
                <a:ea typeface="Arial"/>
                <a:cs typeface="Arial"/>
              </a:defRPr>
            </a:pPr>
            <a:r>
              <a:rPr sz="1600" dirty="0">
                <a:solidFill>
                  <a:srgbClr val="405372"/>
                </a:solidFill>
                <a:latin typeface="Arial"/>
                <a:ea typeface="Arial"/>
                <a:cs typeface="Arial"/>
              </a:rPr>
              <a:t>Torso • Tail • Legs</a:t>
            </a:r>
          </a:p>
        </p:txBody>
      </p:sp>
      <p:sp>
        <p:nvSpPr>
          <p:cNvPr id="136" name="core-arrow-1">
            <a:extLst>
              <a:ext uri="{FF2B5EF4-FFF2-40B4-BE49-F238E27FC236}">
                <a16:creationId xmlns:a16="http://schemas.microsoft.com/office/drawing/2014/main" id="{2F6B9761-3F13-4316-8F04-AC688E7BCEB0}"/>
              </a:ext>
            </a:extLst>
          </p:cNvPr>
          <p:cNvSpPr>
            <a:spLocks noGrp="1"/>
          </p:cNvSpPr>
          <p:nvPr/>
        </p:nvSpPr>
        <p:spPr>
          <a:xfrm>
            <a:off x="22764750" y="15001875"/>
            <a:ext cx="1000125" cy="495300"/>
          </a:xfrm>
          <a:prstGeom prst="rightArrow">
            <a:avLst/>
          </a:prstGeom>
          <a:solidFill>
            <a:srgbClr val="14A098"/>
          </a:solidFill>
          <a:ln w="0">
            <a:solidFill>
              <a:srgbClr val="14A098"/>
            </a:solidFill>
            <a:prstDash val="solid"/>
          </a:ln>
        </p:spPr>
        <p:txBody>
          <a:bodyPr/>
          <a:lstStyle/>
          <a:p>
            <a:endParaRPr sz="2000"/>
          </a:p>
        </p:txBody>
      </p:sp>
      <p:sp>
        <p:nvSpPr>
          <p:cNvPr id="137" name="core-arrow-2">
            <a:extLst>
              <a:ext uri="{FF2B5EF4-FFF2-40B4-BE49-F238E27FC236}">
                <a16:creationId xmlns:a16="http://schemas.microsoft.com/office/drawing/2014/main" id="{2598BF50-B47E-416F-B743-F30173EF0334}"/>
              </a:ext>
            </a:extLst>
          </p:cNvPr>
          <p:cNvSpPr>
            <a:spLocks noGrp="1"/>
          </p:cNvSpPr>
          <p:nvPr/>
        </p:nvSpPr>
        <p:spPr>
          <a:xfrm>
            <a:off x="26365200" y="15297150"/>
            <a:ext cx="1000125" cy="495300"/>
          </a:xfrm>
          <a:prstGeom prst="rightArrow">
            <a:avLst/>
          </a:prstGeom>
          <a:solidFill>
            <a:srgbClr val="F27C38"/>
          </a:solidFill>
          <a:ln w="0">
            <a:solidFill>
              <a:srgbClr val="F27C38"/>
            </a:solidFill>
            <a:prstDash val="solid"/>
          </a:ln>
        </p:spPr>
        <p:txBody>
          <a:bodyPr/>
          <a:lstStyle/>
          <a:p>
            <a:endParaRPr sz="2000"/>
          </a:p>
        </p:txBody>
      </p:sp>
      <p:sp>
        <p:nvSpPr>
          <p:cNvPr id="138" name="core-findings-box">
            <a:extLst>
              <a:ext uri="{FF2B5EF4-FFF2-40B4-BE49-F238E27FC236}">
                <a16:creationId xmlns:a16="http://schemas.microsoft.com/office/drawing/2014/main" id="{503EAA26-C975-4EBF-9B92-B2496E66922A}"/>
              </a:ext>
            </a:extLst>
          </p:cNvPr>
          <p:cNvSpPr>
            <a:spLocks noGrp="1"/>
          </p:cNvSpPr>
          <p:nvPr/>
        </p:nvSpPr>
        <p:spPr>
          <a:xfrm>
            <a:off x="27479625" y="14716125"/>
            <a:ext cx="1666875" cy="1666875"/>
          </a:xfrm>
          <a:prstGeom prst="roundRect">
            <a:avLst>
              <a:gd name="adj" fmla="val 3429"/>
            </a:avLst>
          </a:prstGeom>
          <a:solidFill>
            <a:srgbClr val="FFFFFF"/>
          </a:solidFill>
          <a:ln w="19050">
            <a:solidFill>
              <a:srgbClr val="9BB6D3"/>
            </a:solidFill>
            <a:prstDash val="solid"/>
          </a:ln>
        </p:spPr>
        <p:txBody>
          <a:bodyPr/>
          <a:lstStyle/>
          <a:p>
            <a:endParaRPr sz="2000"/>
          </a:p>
        </p:txBody>
      </p:sp>
      <p:sp>
        <p:nvSpPr>
          <p:cNvPr id="139" name="core-findings-title">
            <a:extLst>
              <a:ext uri="{FF2B5EF4-FFF2-40B4-BE49-F238E27FC236}">
                <a16:creationId xmlns:a16="http://schemas.microsoft.com/office/drawing/2014/main" id="{4C9AFEF2-7D7A-4E7B-85CA-7E3343B8F992}"/>
              </a:ext>
            </a:extLst>
          </p:cNvPr>
          <p:cNvSpPr>
            <a:spLocks noGrp="1"/>
          </p:cNvSpPr>
          <p:nvPr/>
        </p:nvSpPr>
        <p:spPr>
          <a:xfrm>
            <a:off x="27651075" y="14868525"/>
            <a:ext cx="1323975" cy="285750"/>
          </a:xfrm>
          <a:prstGeom prst="rect">
            <a:avLst/>
          </a:prstGeom>
          <a:noFill/>
          <a:ln w="0">
            <a:noFill/>
            <a:prstDash val="solid"/>
          </a:ln>
        </p:spPr>
        <p:txBody>
          <a:bodyPr/>
          <a:lstStyle/>
          <a:p>
            <a:pPr algn="ctr">
              <a:buNone/>
              <a:defRPr sz="1800" b="1">
                <a:solidFill>
                  <a:srgbClr val="28235C"/>
                </a:solidFill>
                <a:latin typeface="Arial"/>
                <a:ea typeface="Arial"/>
                <a:cs typeface="Arial"/>
              </a:defRPr>
            </a:pPr>
            <a:r>
              <a:rPr sz="2000" b="1">
                <a:solidFill>
                  <a:srgbClr val="28235C"/>
                </a:solidFill>
                <a:latin typeface="Arial"/>
                <a:ea typeface="Arial"/>
                <a:cs typeface="Arial"/>
              </a:rPr>
              <a:t>Findings</a:t>
            </a:r>
          </a:p>
        </p:txBody>
      </p:sp>
      <p:sp>
        <p:nvSpPr>
          <p:cNvPr id="140" name="core-findings-subtitle">
            <a:extLst>
              <a:ext uri="{FF2B5EF4-FFF2-40B4-BE49-F238E27FC236}">
                <a16:creationId xmlns:a16="http://schemas.microsoft.com/office/drawing/2014/main" id="{DFCA1280-5931-4A1D-8CED-A822D6F37108}"/>
              </a:ext>
            </a:extLst>
          </p:cNvPr>
          <p:cNvSpPr>
            <a:spLocks noGrp="1"/>
          </p:cNvSpPr>
          <p:nvPr/>
        </p:nvSpPr>
        <p:spPr>
          <a:xfrm>
            <a:off x="27651075" y="15192375"/>
            <a:ext cx="1323975" cy="1133475"/>
          </a:xfrm>
          <a:prstGeom prst="rect">
            <a:avLst/>
          </a:prstGeom>
          <a:noFill/>
          <a:ln w="0">
            <a:noFill/>
            <a:prstDash val="solid"/>
          </a:ln>
        </p:spPr>
        <p:txBody>
          <a:bodyPr/>
          <a:lstStyle/>
          <a:p>
            <a:pPr algn="ctr">
              <a:buNone/>
              <a:defRPr sz="1425">
                <a:solidFill>
                  <a:srgbClr val="405372"/>
                </a:solidFill>
                <a:latin typeface="Arial"/>
                <a:ea typeface="Arial"/>
                <a:cs typeface="Arial"/>
              </a:defRPr>
            </a:pPr>
            <a:r>
              <a:rPr sz="1600">
                <a:solidFill>
                  <a:srgbClr val="405372"/>
                </a:solidFill>
                <a:latin typeface="Arial"/>
                <a:ea typeface="Arial"/>
                <a:cs typeface="Arial"/>
              </a:rPr>
              <a:t>comparisons, accuracy</a:t>
            </a:r>
          </a:p>
          <a:p>
            <a:pPr algn="ctr">
              <a:buNone/>
              <a:defRPr sz="1425">
                <a:solidFill>
                  <a:srgbClr val="405372"/>
                </a:solidFill>
                <a:latin typeface="Arial"/>
                <a:ea typeface="Arial"/>
                <a:cs typeface="Arial"/>
              </a:defRPr>
            </a:pPr>
            <a:r>
              <a:rPr sz="1600">
                <a:solidFill>
                  <a:srgbClr val="405372"/>
                </a:solidFill>
                <a:latin typeface="Arial"/>
                <a:ea typeface="Arial"/>
                <a:cs typeface="Arial"/>
              </a:rPr>
              <a:t>and visual summaries</a:t>
            </a:r>
          </a:p>
        </p:txBody>
      </p:sp>
      <p:sp>
        <p:nvSpPr>
          <p:cNvPr id="141" name="core-findings-bar-1">
            <a:extLst>
              <a:ext uri="{FF2B5EF4-FFF2-40B4-BE49-F238E27FC236}">
                <a16:creationId xmlns:a16="http://schemas.microsoft.com/office/drawing/2014/main" id="{69F6314B-3DE4-47C2-A057-1E05B00A7130}"/>
              </a:ext>
            </a:extLst>
          </p:cNvPr>
          <p:cNvSpPr>
            <a:spLocks noGrp="1"/>
          </p:cNvSpPr>
          <p:nvPr/>
        </p:nvSpPr>
        <p:spPr>
          <a:xfrm>
            <a:off x="27832050" y="16021050"/>
            <a:ext cx="266700" cy="342900"/>
          </a:xfrm>
          <a:prstGeom prst="rect">
            <a:avLst/>
          </a:prstGeom>
          <a:solidFill>
            <a:srgbClr val="14A098"/>
          </a:solidFill>
          <a:ln w="0">
            <a:solidFill>
              <a:srgbClr val="14A098"/>
            </a:solidFill>
            <a:prstDash val="solid"/>
          </a:ln>
        </p:spPr>
        <p:txBody>
          <a:bodyPr/>
          <a:lstStyle/>
          <a:p>
            <a:endParaRPr sz="2000"/>
          </a:p>
        </p:txBody>
      </p:sp>
      <p:sp>
        <p:nvSpPr>
          <p:cNvPr id="142" name="core-findings-bar-2">
            <a:extLst>
              <a:ext uri="{FF2B5EF4-FFF2-40B4-BE49-F238E27FC236}">
                <a16:creationId xmlns:a16="http://schemas.microsoft.com/office/drawing/2014/main" id="{C0DA9A46-3A7C-4A1C-8B24-7695754B1279}"/>
              </a:ext>
            </a:extLst>
          </p:cNvPr>
          <p:cNvSpPr>
            <a:spLocks noGrp="1"/>
          </p:cNvSpPr>
          <p:nvPr/>
        </p:nvSpPr>
        <p:spPr>
          <a:xfrm>
            <a:off x="28194000" y="15792450"/>
            <a:ext cx="266700" cy="571500"/>
          </a:xfrm>
          <a:prstGeom prst="rect">
            <a:avLst/>
          </a:prstGeom>
          <a:solidFill>
            <a:srgbClr val="3975A8"/>
          </a:solidFill>
          <a:ln w="0">
            <a:solidFill>
              <a:srgbClr val="3975A8"/>
            </a:solidFill>
            <a:prstDash val="solid"/>
          </a:ln>
        </p:spPr>
        <p:txBody>
          <a:bodyPr/>
          <a:lstStyle/>
          <a:p>
            <a:endParaRPr sz="2000"/>
          </a:p>
        </p:txBody>
      </p:sp>
      <p:sp>
        <p:nvSpPr>
          <p:cNvPr id="143" name="core-findings-bar-3">
            <a:extLst>
              <a:ext uri="{FF2B5EF4-FFF2-40B4-BE49-F238E27FC236}">
                <a16:creationId xmlns:a16="http://schemas.microsoft.com/office/drawing/2014/main" id="{0F11E258-5335-4CF6-8A64-C473C26B7845}"/>
              </a:ext>
            </a:extLst>
          </p:cNvPr>
          <p:cNvSpPr>
            <a:spLocks noGrp="1"/>
          </p:cNvSpPr>
          <p:nvPr/>
        </p:nvSpPr>
        <p:spPr>
          <a:xfrm>
            <a:off x="28555950" y="15573375"/>
            <a:ext cx="266700" cy="790575"/>
          </a:xfrm>
          <a:prstGeom prst="rect">
            <a:avLst/>
          </a:prstGeom>
          <a:solidFill>
            <a:srgbClr val="F27C38"/>
          </a:solidFill>
          <a:ln w="0">
            <a:solidFill>
              <a:srgbClr val="F27C38"/>
            </a:solidFill>
            <a:prstDash val="solid"/>
          </a:ln>
        </p:spPr>
        <p:txBody>
          <a:bodyPr/>
          <a:lstStyle/>
          <a:p>
            <a:endParaRPr sz="2000"/>
          </a:p>
        </p:txBody>
      </p:sp>
      <p:sp>
        <p:nvSpPr>
          <p:cNvPr id="153" name="core-visual-redraw-mask">
            <a:extLst>
              <a:ext uri="{FF2B5EF4-FFF2-40B4-BE49-F238E27FC236}">
                <a16:creationId xmlns:a16="http://schemas.microsoft.com/office/drawing/2014/main" id="{5A01100A-31EA-474F-8178-CA04064320E6}"/>
              </a:ext>
            </a:extLst>
          </p:cNvPr>
          <p:cNvSpPr>
            <a:spLocks noGrp="1"/>
          </p:cNvSpPr>
          <p:nvPr/>
        </p:nvSpPr>
        <p:spPr>
          <a:xfrm>
            <a:off x="20173950" y="13811250"/>
            <a:ext cx="9048750" cy="3695700"/>
          </a:xfrm>
          <a:prstGeom prst="rect">
            <a:avLst/>
          </a:prstGeom>
          <a:solidFill>
            <a:srgbClr val="EAF3FB"/>
          </a:solidFill>
          <a:ln w="0">
            <a:solidFill>
              <a:srgbClr val="EAF3FB"/>
            </a:solidFill>
            <a:prstDash val="solid"/>
          </a:ln>
        </p:spPr>
        <p:txBody>
          <a:bodyPr/>
          <a:lstStyle/>
          <a:p>
            <a:endParaRPr sz="2000"/>
          </a:p>
        </p:txBody>
      </p:sp>
      <p:sp>
        <p:nvSpPr>
          <p:cNvPr id="154" name="core-visual-fixed-caption">
            <a:extLst>
              <a:ext uri="{FF2B5EF4-FFF2-40B4-BE49-F238E27FC236}">
                <a16:creationId xmlns:a16="http://schemas.microsoft.com/office/drawing/2014/main" id="{3344E492-FD57-40E6-806B-FBDDA5EF5B9F}"/>
              </a:ext>
            </a:extLst>
          </p:cNvPr>
          <p:cNvSpPr>
            <a:spLocks noGrp="1"/>
          </p:cNvSpPr>
          <p:nvPr/>
        </p:nvSpPr>
        <p:spPr>
          <a:xfrm>
            <a:off x="20383500" y="13925550"/>
            <a:ext cx="8572500" cy="323850"/>
          </a:xfrm>
          <a:prstGeom prst="rect">
            <a:avLst/>
          </a:prstGeom>
          <a:noFill/>
          <a:ln w="0">
            <a:noFill/>
            <a:prstDash val="solid"/>
          </a:ln>
        </p:spPr>
        <p:txBody>
          <a:bodyPr/>
          <a:lstStyle/>
          <a:p>
            <a:pPr algn="ctr">
              <a:buNone/>
              <a:defRPr sz="1800" b="1">
                <a:solidFill>
                  <a:srgbClr val="28235C"/>
                </a:solidFill>
                <a:latin typeface="Arial"/>
                <a:ea typeface="Arial"/>
                <a:cs typeface="Arial"/>
              </a:defRPr>
            </a:pPr>
            <a:r>
              <a:rPr sz="2000" b="1">
                <a:solidFill>
                  <a:srgbClr val="28235C"/>
                </a:solidFill>
                <a:latin typeface="Arial"/>
                <a:ea typeface="Arial"/>
                <a:cs typeface="Arial"/>
              </a:rPr>
              <a:t>Experimental data to interpretable research findings</a:t>
            </a:r>
          </a:p>
        </p:txBody>
      </p:sp>
      <p:sp>
        <p:nvSpPr>
          <p:cNvPr id="155" name="core-fixed-data-card">
            <a:extLst>
              <a:ext uri="{FF2B5EF4-FFF2-40B4-BE49-F238E27FC236}">
                <a16:creationId xmlns:a16="http://schemas.microsoft.com/office/drawing/2014/main" id="{8AB2FDF5-5393-4136-9C74-F0D26E04DE94}"/>
              </a:ext>
            </a:extLst>
          </p:cNvPr>
          <p:cNvSpPr>
            <a:spLocks noGrp="1"/>
          </p:cNvSpPr>
          <p:nvPr/>
        </p:nvSpPr>
        <p:spPr>
          <a:xfrm>
            <a:off x="20383500" y="14592300"/>
            <a:ext cx="2381250" cy="1790700"/>
          </a:xfrm>
          <a:prstGeom prst="roundRect">
            <a:avLst>
              <a:gd name="adj" fmla="val 3191"/>
            </a:avLst>
          </a:prstGeom>
          <a:solidFill>
            <a:srgbClr val="FFFFFF"/>
          </a:solidFill>
          <a:ln w="19050">
            <a:solidFill>
              <a:srgbClr val="9BB6D3"/>
            </a:solidFill>
            <a:prstDash val="solid"/>
          </a:ln>
        </p:spPr>
        <p:txBody>
          <a:bodyPr/>
          <a:lstStyle/>
          <a:p>
            <a:endParaRPr sz="2000"/>
          </a:p>
        </p:txBody>
      </p:sp>
      <p:sp>
        <p:nvSpPr>
          <p:cNvPr id="156" name="core-fixed-data-accent">
            <a:extLst>
              <a:ext uri="{FF2B5EF4-FFF2-40B4-BE49-F238E27FC236}">
                <a16:creationId xmlns:a16="http://schemas.microsoft.com/office/drawing/2014/main" id="{A6AB4383-C6A6-4C16-B190-890DC9E98EF7}"/>
              </a:ext>
            </a:extLst>
          </p:cNvPr>
          <p:cNvSpPr>
            <a:spLocks noGrp="1"/>
          </p:cNvSpPr>
          <p:nvPr/>
        </p:nvSpPr>
        <p:spPr>
          <a:xfrm>
            <a:off x="20383500" y="14592300"/>
            <a:ext cx="2381250" cy="114300"/>
          </a:xfrm>
          <a:prstGeom prst="rect">
            <a:avLst/>
          </a:prstGeom>
          <a:solidFill>
            <a:srgbClr val="14A098"/>
          </a:solidFill>
          <a:ln w="0">
            <a:solidFill>
              <a:srgbClr val="14A098"/>
            </a:solidFill>
            <a:prstDash val="solid"/>
          </a:ln>
        </p:spPr>
        <p:txBody>
          <a:bodyPr/>
          <a:lstStyle/>
          <a:p>
            <a:endParaRPr sz="2000"/>
          </a:p>
        </p:txBody>
      </p:sp>
      <p:sp>
        <p:nvSpPr>
          <p:cNvPr id="157" name="core-fixed-data-title">
            <a:extLst>
              <a:ext uri="{FF2B5EF4-FFF2-40B4-BE49-F238E27FC236}">
                <a16:creationId xmlns:a16="http://schemas.microsoft.com/office/drawing/2014/main" id="{255068BF-5D48-4066-94EA-77A71C39C280}"/>
              </a:ext>
            </a:extLst>
          </p:cNvPr>
          <p:cNvSpPr>
            <a:spLocks noGrp="1"/>
          </p:cNvSpPr>
          <p:nvPr/>
        </p:nvSpPr>
        <p:spPr>
          <a:xfrm>
            <a:off x="20554950" y="14878050"/>
            <a:ext cx="2038350" cy="323850"/>
          </a:xfrm>
          <a:prstGeom prst="rect">
            <a:avLst/>
          </a:prstGeom>
          <a:noFill/>
          <a:ln w="0">
            <a:noFill/>
            <a:prstDash val="solid"/>
          </a:ln>
        </p:spPr>
        <p:txBody>
          <a:bodyPr/>
          <a:lstStyle/>
          <a:p>
            <a:pPr algn="ctr">
              <a:buNone/>
              <a:defRPr sz="1875" b="1">
                <a:solidFill>
                  <a:srgbClr val="28235C"/>
                </a:solidFill>
                <a:latin typeface="Arial"/>
                <a:ea typeface="Arial"/>
                <a:cs typeface="Arial"/>
              </a:defRPr>
            </a:pPr>
            <a:r>
              <a:rPr sz="2000" b="1">
                <a:solidFill>
                  <a:srgbClr val="28235C"/>
                </a:solidFill>
                <a:latin typeface="Arial"/>
                <a:ea typeface="Arial"/>
                <a:cs typeface="Arial"/>
              </a:rPr>
              <a:t>Data Collection</a:t>
            </a:r>
          </a:p>
        </p:txBody>
      </p:sp>
      <p:sp>
        <p:nvSpPr>
          <p:cNvPr id="158" name="core-fixed-data-body">
            <a:extLst>
              <a:ext uri="{FF2B5EF4-FFF2-40B4-BE49-F238E27FC236}">
                <a16:creationId xmlns:a16="http://schemas.microsoft.com/office/drawing/2014/main" id="{DC788B99-AF5A-4872-88FE-12E00D398746}"/>
              </a:ext>
            </a:extLst>
          </p:cNvPr>
          <p:cNvSpPr>
            <a:spLocks noGrp="1"/>
          </p:cNvSpPr>
          <p:nvPr/>
        </p:nvSpPr>
        <p:spPr>
          <a:xfrm>
            <a:off x="20574000" y="15335250"/>
            <a:ext cx="2000250" cy="781050"/>
          </a:xfrm>
          <a:prstGeom prst="rect">
            <a:avLst/>
          </a:prstGeom>
          <a:noFill/>
          <a:ln w="0">
            <a:noFill/>
            <a:prstDash val="solid"/>
          </a:ln>
        </p:spPr>
        <p:txBody>
          <a:bodyPr/>
          <a:lstStyle/>
          <a:p>
            <a:pPr algn="ctr">
              <a:buNone/>
              <a:defRPr sz="1575">
                <a:solidFill>
                  <a:srgbClr val="405372"/>
                </a:solidFill>
                <a:latin typeface="Arial"/>
                <a:ea typeface="Arial"/>
                <a:cs typeface="Arial"/>
              </a:defRPr>
            </a:pPr>
            <a:r>
              <a:rPr sz="1600">
                <a:solidFill>
                  <a:srgbClr val="405372"/>
                </a:solidFill>
                <a:latin typeface="Arial"/>
                <a:ea typeface="Arial"/>
                <a:cs typeface="Arial"/>
              </a:rPr>
              <a:t>eye-tracking recordings</a:t>
            </a:r>
          </a:p>
          <a:p>
            <a:pPr algn="ctr">
              <a:buNone/>
              <a:defRPr sz="1575">
                <a:solidFill>
                  <a:srgbClr val="405372"/>
                </a:solidFill>
                <a:latin typeface="Arial"/>
                <a:ea typeface="Arial"/>
                <a:cs typeface="Arial"/>
              </a:defRPr>
            </a:pPr>
            <a:r>
              <a:rPr sz="1600">
                <a:solidFill>
                  <a:srgbClr val="405372"/>
                </a:solidFill>
                <a:latin typeface="Arial"/>
                <a:ea typeface="Arial"/>
                <a:cs typeface="Arial"/>
              </a:rPr>
              <a:t>and questionnaires</a:t>
            </a:r>
          </a:p>
        </p:txBody>
      </p:sp>
      <p:sp>
        <p:nvSpPr>
          <p:cNvPr id="159" name="core-fixed-arrow-1">
            <a:extLst>
              <a:ext uri="{FF2B5EF4-FFF2-40B4-BE49-F238E27FC236}">
                <a16:creationId xmlns:a16="http://schemas.microsoft.com/office/drawing/2014/main" id="{D3574F99-192F-4466-9E3F-FBE900AE5BBC}"/>
              </a:ext>
            </a:extLst>
          </p:cNvPr>
          <p:cNvSpPr>
            <a:spLocks noGrp="1"/>
          </p:cNvSpPr>
          <p:nvPr/>
        </p:nvSpPr>
        <p:spPr>
          <a:xfrm>
            <a:off x="22955250" y="15240000"/>
            <a:ext cx="781050" cy="495300"/>
          </a:xfrm>
          <a:prstGeom prst="rightArrow">
            <a:avLst/>
          </a:prstGeom>
          <a:solidFill>
            <a:srgbClr val="14A098"/>
          </a:solidFill>
          <a:ln w="0">
            <a:solidFill>
              <a:srgbClr val="14A098"/>
            </a:solidFill>
            <a:prstDash val="solid"/>
          </a:ln>
        </p:spPr>
        <p:txBody>
          <a:bodyPr/>
          <a:lstStyle/>
          <a:p>
            <a:endParaRPr sz="2000"/>
          </a:p>
        </p:txBody>
      </p:sp>
      <p:sp>
        <p:nvSpPr>
          <p:cNvPr id="160" name="core-fixed-aoi-card">
            <a:extLst>
              <a:ext uri="{FF2B5EF4-FFF2-40B4-BE49-F238E27FC236}">
                <a16:creationId xmlns:a16="http://schemas.microsoft.com/office/drawing/2014/main" id="{D392EAD4-91B2-4349-B279-F712E06B4D1E}"/>
              </a:ext>
            </a:extLst>
          </p:cNvPr>
          <p:cNvSpPr>
            <a:spLocks noGrp="1"/>
          </p:cNvSpPr>
          <p:nvPr/>
        </p:nvSpPr>
        <p:spPr>
          <a:xfrm>
            <a:off x="23907750" y="14592300"/>
            <a:ext cx="2381250" cy="1790700"/>
          </a:xfrm>
          <a:prstGeom prst="roundRect">
            <a:avLst>
              <a:gd name="adj" fmla="val 3191"/>
            </a:avLst>
          </a:prstGeom>
          <a:solidFill>
            <a:srgbClr val="FFFFFF"/>
          </a:solidFill>
          <a:ln w="19050">
            <a:solidFill>
              <a:srgbClr val="9BB6D3"/>
            </a:solidFill>
            <a:prstDash val="solid"/>
          </a:ln>
        </p:spPr>
        <p:txBody>
          <a:bodyPr/>
          <a:lstStyle/>
          <a:p>
            <a:endParaRPr sz="2000"/>
          </a:p>
        </p:txBody>
      </p:sp>
      <p:sp>
        <p:nvSpPr>
          <p:cNvPr id="161" name="core-fixed-aoi-accent">
            <a:extLst>
              <a:ext uri="{FF2B5EF4-FFF2-40B4-BE49-F238E27FC236}">
                <a16:creationId xmlns:a16="http://schemas.microsoft.com/office/drawing/2014/main" id="{65B8DD77-7EBA-40FA-AD92-4F003BF62AED}"/>
              </a:ext>
            </a:extLst>
          </p:cNvPr>
          <p:cNvSpPr>
            <a:spLocks noGrp="1"/>
          </p:cNvSpPr>
          <p:nvPr/>
        </p:nvSpPr>
        <p:spPr>
          <a:xfrm>
            <a:off x="23907750" y="14592300"/>
            <a:ext cx="2381250" cy="114300"/>
          </a:xfrm>
          <a:prstGeom prst="rect">
            <a:avLst/>
          </a:prstGeom>
          <a:solidFill>
            <a:srgbClr val="3975A8"/>
          </a:solidFill>
          <a:ln w="0">
            <a:solidFill>
              <a:srgbClr val="3975A8"/>
            </a:solidFill>
            <a:prstDash val="solid"/>
          </a:ln>
        </p:spPr>
        <p:txBody>
          <a:bodyPr/>
          <a:lstStyle/>
          <a:p>
            <a:endParaRPr sz="2000"/>
          </a:p>
        </p:txBody>
      </p:sp>
      <p:sp>
        <p:nvSpPr>
          <p:cNvPr id="162" name="core-fixed-aoi-title">
            <a:extLst>
              <a:ext uri="{FF2B5EF4-FFF2-40B4-BE49-F238E27FC236}">
                <a16:creationId xmlns:a16="http://schemas.microsoft.com/office/drawing/2014/main" id="{A7A3C637-7E8E-49C5-9CB3-8715412AEE3D}"/>
              </a:ext>
            </a:extLst>
          </p:cNvPr>
          <p:cNvSpPr>
            <a:spLocks noGrp="1"/>
          </p:cNvSpPr>
          <p:nvPr/>
        </p:nvSpPr>
        <p:spPr>
          <a:xfrm>
            <a:off x="24079200" y="14878050"/>
            <a:ext cx="2038350" cy="323850"/>
          </a:xfrm>
          <a:prstGeom prst="rect">
            <a:avLst/>
          </a:prstGeom>
          <a:noFill/>
          <a:ln w="0">
            <a:noFill/>
            <a:prstDash val="solid"/>
          </a:ln>
        </p:spPr>
        <p:txBody>
          <a:bodyPr/>
          <a:lstStyle/>
          <a:p>
            <a:pPr algn="ctr">
              <a:buNone/>
              <a:defRPr sz="1875" b="1">
                <a:solidFill>
                  <a:srgbClr val="28235C"/>
                </a:solidFill>
                <a:latin typeface="Arial"/>
                <a:ea typeface="Arial"/>
                <a:cs typeface="Arial"/>
              </a:defRPr>
            </a:pPr>
            <a:r>
              <a:rPr sz="2000" b="1">
                <a:solidFill>
                  <a:srgbClr val="28235C"/>
                </a:solidFill>
                <a:latin typeface="Arial"/>
                <a:ea typeface="Arial"/>
                <a:cs typeface="Arial"/>
              </a:rPr>
              <a:t>AOI Analysis</a:t>
            </a:r>
          </a:p>
        </p:txBody>
      </p:sp>
      <p:sp>
        <p:nvSpPr>
          <p:cNvPr id="163" name="core-fixed-aoi-body">
            <a:extLst>
              <a:ext uri="{FF2B5EF4-FFF2-40B4-BE49-F238E27FC236}">
                <a16:creationId xmlns:a16="http://schemas.microsoft.com/office/drawing/2014/main" id="{57E00872-B80F-46D5-B946-D44E94980158}"/>
              </a:ext>
            </a:extLst>
          </p:cNvPr>
          <p:cNvSpPr>
            <a:spLocks noGrp="1"/>
          </p:cNvSpPr>
          <p:nvPr/>
        </p:nvSpPr>
        <p:spPr>
          <a:xfrm>
            <a:off x="24098250" y="15335250"/>
            <a:ext cx="2000250" cy="781050"/>
          </a:xfrm>
          <a:prstGeom prst="rect">
            <a:avLst/>
          </a:prstGeom>
          <a:noFill/>
          <a:ln w="0">
            <a:noFill/>
            <a:prstDash val="solid"/>
          </a:ln>
        </p:spPr>
        <p:txBody>
          <a:bodyPr/>
          <a:lstStyle/>
          <a:p>
            <a:pPr algn="ctr">
              <a:buNone/>
              <a:defRPr sz="1575">
                <a:solidFill>
                  <a:srgbClr val="405372"/>
                </a:solidFill>
                <a:latin typeface="Arial"/>
                <a:ea typeface="Arial"/>
                <a:cs typeface="Arial"/>
              </a:defRPr>
            </a:pPr>
            <a:r>
              <a:rPr sz="1600" dirty="0" err="1">
                <a:solidFill>
                  <a:srgbClr val="405372"/>
                </a:solidFill>
                <a:latin typeface="Arial"/>
                <a:ea typeface="Arial"/>
                <a:cs typeface="Arial"/>
              </a:rPr>
              <a:t>Face_TOP</a:t>
            </a:r>
            <a:r>
              <a:rPr sz="1600" dirty="0">
                <a:solidFill>
                  <a:srgbClr val="405372"/>
                </a:solidFill>
                <a:latin typeface="Arial"/>
                <a:ea typeface="Arial"/>
                <a:cs typeface="Arial"/>
              </a:rPr>
              <a:t>, </a:t>
            </a:r>
            <a:r>
              <a:rPr sz="1600" dirty="0" err="1">
                <a:solidFill>
                  <a:srgbClr val="405372"/>
                </a:solidFill>
                <a:latin typeface="Arial"/>
                <a:ea typeface="Arial"/>
                <a:cs typeface="Arial"/>
              </a:rPr>
              <a:t>Face_BOTTOM</a:t>
            </a:r>
            <a:r>
              <a:rPr sz="1600" dirty="0">
                <a:solidFill>
                  <a:srgbClr val="405372"/>
                </a:solidFill>
                <a:latin typeface="Arial"/>
                <a:ea typeface="Arial"/>
                <a:cs typeface="Arial"/>
              </a:rPr>
              <a:t>,</a:t>
            </a:r>
          </a:p>
          <a:p>
            <a:pPr algn="ctr">
              <a:buNone/>
              <a:defRPr sz="1575">
                <a:solidFill>
                  <a:srgbClr val="405372"/>
                </a:solidFill>
                <a:latin typeface="Arial"/>
                <a:ea typeface="Arial"/>
                <a:cs typeface="Arial"/>
              </a:defRPr>
            </a:pPr>
            <a:r>
              <a:rPr sz="1600" dirty="0">
                <a:solidFill>
                  <a:srgbClr val="405372"/>
                </a:solidFill>
                <a:latin typeface="Arial"/>
                <a:ea typeface="Arial"/>
                <a:cs typeface="Arial"/>
              </a:rPr>
              <a:t>Torso, Tail and Legs</a:t>
            </a:r>
          </a:p>
        </p:txBody>
      </p:sp>
      <p:sp>
        <p:nvSpPr>
          <p:cNvPr id="164" name="core-fixed-arrow-2">
            <a:extLst>
              <a:ext uri="{FF2B5EF4-FFF2-40B4-BE49-F238E27FC236}">
                <a16:creationId xmlns:a16="http://schemas.microsoft.com/office/drawing/2014/main" id="{4AA729F7-B401-400F-B6A7-2B8C7392D15C}"/>
              </a:ext>
            </a:extLst>
          </p:cNvPr>
          <p:cNvSpPr>
            <a:spLocks noGrp="1"/>
          </p:cNvSpPr>
          <p:nvPr/>
        </p:nvSpPr>
        <p:spPr>
          <a:xfrm>
            <a:off x="26479500" y="15240000"/>
            <a:ext cx="781050" cy="495300"/>
          </a:xfrm>
          <a:prstGeom prst="rightArrow">
            <a:avLst/>
          </a:prstGeom>
          <a:solidFill>
            <a:srgbClr val="F27C38"/>
          </a:solidFill>
          <a:ln w="0">
            <a:solidFill>
              <a:srgbClr val="F27C38"/>
            </a:solidFill>
            <a:prstDash val="solid"/>
          </a:ln>
        </p:spPr>
        <p:txBody>
          <a:bodyPr/>
          <a:lstStyle/>
          <a:p>
            <a:endParaRPr sz="2000"/>
          </a:p>
        </p:txBody>
      </p:sp>
      <p:sp>
        <p:nvSpPr>
          <p:cNvPr id="165" name="core-fixed-results-card">
            <a:extLst>
              <a:ext uri="{FF2B5EF4-FFF2-40B4-BE49-F238E27FC236}">
                <a16:creationId xmlns:a16="http://schemas.microsoft.com/office/drawing/2014/main" id="{3D88A6A8-8FC6-4BFD-B15E-520EC7796C88}"/>
              </a:ext>
            </a:extLst>
          </p:cNvPr>
          <p:cNvSpPr>
            <a:spLocks noGrp="1"/>
          </p:cNvSpPr>
          <p:nvPr/>
        </p:nvSpPr>
        <p:spPr>
          <a:xfrm>
            <a:off x="27432000" y="14592300"/>
            <a:ext cx="1619250" cy="1790700"/>
          </a:xfrm>
          <a:prstGeom prst="roundRect">
            <a:avLst>
              <a:gd name="adj" fmla="val 3529"/>
            </a:avLst>
          </a:prstGeom>
          <a:solidFill>
            <a:srgbClr val="FFFFFF"/>
          </a:solidFill>
          <a:ln w="19050">
            <a:solidFill>
              <a:srgbClr val="9BB6D3"/>
            </a:solidFill>
            <a:prstDash val="solid"/>
          </a:ln>
        </p:spPr>
        <p:txBody>
          <a:bodyPr/>
          <a:lstStyle/>
          <a:p>
            <a:endParaRPr sz="2000"/>
          </a:p>
        </p:txBody>
      </p:sp>
      <p:sp>
        <p:nvSpPr>
          <p:cNvPr id="166" name="core-fixed-results-accent">
            <a:extLst>
              <a:ext uri="{FF2B5EF4-FFF2-40B4-BE49-F238E27FC236}">
                <a16:creationId xmlns:a16="http://schemas.microsoft.com/office/drawing/2014/main" id="{A19D168E-6459-418F-96EB-D0D7184BE69E}"/>
              </a:ext>
            </a:extLst>
          </p:cNvPr>
          <p:cNvSpPr>
            <a:spLocks noGrp="1"/>
          </p:cNvSpPr>
          <p:nvPr/>
        </p:nvSpPr>
        <p:spPr>
          <a:xfrm>
            <a:off x="27432000" y="14592300"/>
            <a:ext cx="1619250" cy="114300"/>
          </a:xfrm>
          <a:prstGeom prst="rect">
            <a:avLst/>
          </a:prstGeom>
          <a:solidFill>
            <a:srgbClr val="F27C38"/>
          </a:solidFill>
          <a:ln w="0">
            <a:solidFill>
              <a:srgbClr val="F27C38"/>
            </a:solidFill>
            <a:prstDash val="solid"/>
          </a:ln>
        </p:spPr>
        <p:txBody>
          <a:bodyPr/>
          <a:lstStyle/>
          <a:p>
            <a:endParaRPr sz="2000"/>
          </a:p>
        </p:txBody>
      </p:sp>
      <p:sp>
        <p:nvSpPr>
          <p:cNvPr id="167" name="core-fixed-results-title">
            <a:extLst>
              <a:ext uri="{FF2B5EF4-FFF2-40B4-BE49-F238E27FC236}">
                <a16:creationId xmlns:a16="http://schemas.microsoft.com/office/drawing/2014/main" id="{76FFAC70-C5ED-4A34-B59E-1741DEA58A07}"/>
              </a:ext>
            </a:extLst>
          </p:cNvPr>
          <p:cNvSpPr>
            <a:spLocks noGrp="1"/>
          </p:cNvSpPr>
          <p:nvPr/>
        </p:nvSpPr>
        <p:spPr>
          <a:xfrm>
            <a:off x="27603450" y="14878050"/>
            <a:ext cx="1276350" cy="323850"/>
          </a:xfrm>
          <a:prstGeom prst="rect">
            <a:avLst/>
          </a:prstGeom>
          <a:noFill/>
          <a:ln w="0">
            <a:noFill/>
            <a:prstDash val="solid"/>
          </a:ln>
        </p:spPr>
        <p:txBody>
          <a:bodyPr/>
          <a:lstStyle/>
          <a:p>
            <a:pPr algn="ctr">
              <a:buNone/>
              <a:defRPr sz="1875" b="1">
                <a:solidFill>
                  <a:srgbClr val="28235C"/>
                </a:solidFill>
                <a:latin typeface="Arial"/>
                <a:ea typeface="Arial"/>
                <a:cs typeface="Arial"/>
              </a:defRPr>
            </a:pPr>
            <a:r>
              <a:rPr sz="2000" b="1">
                <a:solidFill>
                  <a:srgbClr val="28235C"/>
                </a:solidFill>
                <a:latin typeface="Arial"/>
                <a:ea typeface="Arial"/>
                <a:cs typeface="Arial"/>
              </a:rPr>
              <a:t>Comparisons</a:t>
            </a:r>
          </a:p>
        </p:txBody>
      </p:sp>
      <p:sp>
        <p:nvSpPr>
          <p:cNvPr id="168" name="core-fixed-results-body">
            <a:extLst>
              <a:ext uri="{FF2B5EF4-FFF2-40B4-BE49-F238E27FC236}">
                <a16:creationId xmlns:a16="http://schemas.microsoft.com/office/drawing/2014/main" id="{1D5A41A3-0E96-4AF0-B1CD-DB4526308D41}"/>
              </a:ext>
            </a:extLst>
          </p:cNvPr>
          <p:cNvSpPr>
            <a:spLocks noGrp="1"/>
          </p:cNvSpPr>
          <p:nvPr/>
        </p:nvSpPr>
        <p:spPr>
          <a:xfrm>
            <a:off x="27622500" y="15335250"/>
            <a:ext cx="1238250" cy="781050"/>
          </a:xfrm>
          <a:prstGeom prst="rect">
            <a:avLst/>
          </a:prstGeom>
          <a:noFill/>
          <a:ln w="0">
            <a:noFill/>
            <a:prstDash val="solid"/>
          </a:ln>
        </p:spPr>
        <p:txBody>
          <a:bodyPr/>
          <a:lstStyle/>
          <a:p>
            <a:pPr algn="ctr">
              <a:buNone/>
              <a:defRPr sz="1575">
                <a:solidFill>
                  <a:srgbClr val="405372"/>
                </a:solidFill>
                <a:latin typeface="Arial"/>
                <a:ea typeface="Arial"/>
                <a:cs typeface="Arial"/>
              </a:defRPr>
            </a:pPr>
            <a:r>
              <a:rPr sz="1600">
                <a:solidFill>
                  <a:srgbClr val="405372"/>
                </a:solidFill>
                <a:latin typeface="Arial"/>
                <a:ea typeface="Arial"/>
                <a:cs typeface="Arial"/>
              </a:rPr>
              <a:t>dog type, situation</a:t>
            </a:r>
          </a:p>
          <a:p>
            <a:pPr algn="ctr">
              <a:buNone/>
              <a:defRPr sz="1575">
                <a:solidFill>
                  <a:srgbClr val="405372"/>
                </a:solidFill>
                <a:latin typeface="Arial"/>
                <a:ea typeface="Arial"/>
                <a:cs typeface="Arial"/>
              </a:defRPr>
            </a:pPr>
            <a:r>
              <a:rPr sz="1600">
                <a:solidFill>
                  <a:srgbClr val="405372"/>
                </a:solidFill>
                <a:latin typeface="Arial"/>
                <a:ea typeface="Arial"/>
                <a:cs typeface="Arial"/>
              </a:rPr>
              <a:t>and recognition accuracy</a:t>
            </a:r>
          </a:p>
        </p:txBody>
      </p:sp>
      <p:sp>
        <p:nvSpPr>
          <p:cNvPr id="169" name="core-visual-fixed-footer">
            <a:extLst>
              <a:ext uri="{FF2B5EF4-FFF2-40B4-BE49-F238E27FC236}">
                <a16:creationId xmlns:a16="http://schemas.microsoft.com/office/drawing/2014/main" id="{53F76F41-4CE2-48D5-9B42-3A8F29589610}"/>
              </a:ext>
            </a:extLst>
          </p:cNvPr>
          <p:cNvSpPr>
            <a:spLocks noGrp="1"/>
          </p:cNvSpPr>
          <p:nvPr/>
        </p:nvSpPr>
        <p:spPr>
          <a:xfrm>
            <a:off x="20383500" y="16630650"/>
            <a:ext cx="8667750" cy="342900"/>
          </a:xfrm>
          <a:prstGeom prst="rect">
            <a:avLst/>
          </a:prstGeom>
          <a:noFill/>
          <a:ln w="0">
            <a:noFill/>
            <a:prstDash val="solid"/>
          </a:ln>
        </p:spPr>
        <p:txBody>
          <a:bodyPr/>
          <a:lstStyle/>
          <a:p>
            <a:pPr algn="ctr">
              <a:buNone/>
              <a:defRPr sz="1650">
                <a:solidFill>
                  <a:srgbClr val="405372"/>
                </a:solidFill>
                <a:latin typeface="Arial"/>
                <a:ea typeface="Arial"/>
                <a:cs typeface="Arial"/>
              </a:defRPr>
            </a:pPr>
            <a:r>
              <a:rPr>
                <a:solidFill>
                  <a:srgbClr val="405372"/>
                </a:solidFill>
                <a:latin typeface="Arial"/>
                <a:ea typeface="Arial"/>
                <a:cs typeface="Arial"/>
              </a:rPr>
              <a:t>Outputs: metrics, charts and visual summaries for the poster demonstration</a:t>
            </a:r>
          </a:p>
        </p:txBody>
      </p:sp>
      <p:sp>
        <p:nvSpPr>
          <p:cNvPr id="179" name="core-visual-final-mask">
            <a:extLst>
              <a:ext uri="{FF2B5EF4-FFF2-40B4-BE49-F238E27FC236}">
                <a16:creationId xmlns:a16="http://schemas.microsoft.com/office/drawing/2014/main" id="{47822F6C-B5C3-4EBB-9C80-1B678B9CEA56}"/>
              </a:ext>
            </a:extLst>
          </p:cNvPr>
          <p:cNvSpPr>
            <a:spLocks noGrp="1"/>
          </p:cNvSpPr>
          <p:nvPr/>
        </p:nvSpPr>
        <p:spPr>
          <a:xfrm>
            <a:off x="20173950" y="13811250"/>
            <a:ext cx="9048750" cy="3695700"/>
          </a:xfrm>
          <a:prstGeom prst="rect">
            <a:avLst/>
          </a:prstGeom>
          <a:solidFill>
            <a:srgbClr val="EAF3FB"/>
          </a:solidFill>
          <a:ln w="0">
            <a:solidFill>
              <a:srgbClr val="EAF3FB"/>
            </a:solidFill>
            <a:prstDash val="solid"/>
          </a:ln>
        </p:spPr>
        <p:txBody>
          <a:bodyPr/>
          <a:lstStyle/>
          <a:p>
            <a:pPr marL="0" indent="0" algn="l" defTabSz="914400" rtl="0">
              <a:buNone/>
            </a:pPr>
            <a:endParaRPr sz="2000"/>
          </a:p>
        </p:txBody>
      </p:sp>
      <p:sp>
        <p:nvSpPr>
          <p:cNvPr id="180" name="core-visual-final-caption">
            <a:extLst>
              <a:ext uri="{FF2B5EF4-FFF2-40B4-BE49-F238E27FC236}">
                <a16:creationId xmlns:a16="http://schemas.microsoft.com/office/drawing/2014/main" id="{398DE631-A430-4CAC-BB6F-AE0CE2D6A476}"/>
              </a:ext>
            </a:extLst>
          </p:cNvPr>
          <p:cNvSpPr>
            <a:spLocks noGrp="1"/>
          </p:cNvSpPr>
          <p:nvPr/>
        </p:nvSpPr>
        <p:spPr>
          <a:xfrm>
            <a:off x="20383500" y="15577600"/>
            <a:ext cx="8572500" cy="323850"/>
          </a:xfrm>
          <a:prstGeom prst="rect">
            <a:avLst/>
          </a:prstGeom>
          <a:noFill/>
          <a:ln w="0">
            <a:noFill/>
            <a:prstDash val="solid"/>
          </a:ln>
        </p:spPr>
        <p:txBody>
          <a:bodyPr/>
          <a:lstStyle/>
          <a:p>
            <a:pPr algn="ctr">
              <a:buNone/>
              <a:defRPr sz="1800" b="1">
                <a:solidFill>
                  <a:srgbClr val="28235C"/>
                </a:solidFill>
                <a:latin typeface="Arial"/>
                <a:ea typeface="Arial"/>
                <a:cs typeface="Arial"/>
              </a:defRPr>
            </a:pPr>
            <a:r>
              <a:rPr sz="2000" b="1" dirty="0">
                <a:solidFill>
                  <a:srgbClr val="28235C"/>
                </a:solidFill>
                <a:latin typeface="Arial"/>
                <a:ea typeface="Arial"/>
                <a:cs typeface="Arial"/>
              </a:rPr>
              <a:t>Experimental workflow: data collection, AOI analysis and findings</a:t>
            </a:r>
          </a:p>
        </p:txBody>
      </p:sp>
      <p:sp>
        <p:nvSpPr>
          <p:cNvPr id="181" name="core-final-data-card">
            <a:extLst>
              <a:ext uri="{FF2B5EF4-FFF2-40B4-BE49-F238E27FC236}">
                <a16:creationId xmlns:a16="http://schemas.microsoft.com/office/drawing/2014/main" id="{C26A0742-D123-4804-BF3C-1100FAB277BC}"/>
              </a:ext>
            </a:extLst>
          </p:cNvPr>
          <p:cNvSpPr>
            <a:spLocks noGrp="1"/>
          </p:cNvSpPr>
          <p:nvPr/>
        </p:nvSpPr>
        <p:spPr>
          <a:xfrm>
            <a:off x="20431125" y="16146232"/>
            <a:ext cx="2190750" cy="1638300"/>
          </a:xfrm>
          <a:prstGeom prst="roundRect">
            <a:avLst>
              <a:gd name="adj" fmla="val 3488"/>
            </a:avLst>
          </a:prstGeom>
          <a:solidFill>
            <a:srgbClr val="FFFFFF"/>
          </a:solidFill>
          <a:ln w="19050">
            <a:solidFill>
              <a:srgbClr val="9BB6D3"/>
            </a:solidFill>
            <a:prstDash val="solid"/>
          </a:ln>
        </p:spPr>
        <p:txBody>
          <a:bodyPr/>
          <a:lstStyle/>
          <a:p>
            <a:pPr marL="0" indent="0" algn="l">
              <a:buNone/>
            </a:pPr>
            <a:endParaRPr sz="2000"/>
          </a:p>
        </p:txBody>
      </p:sp>
      <p:sp>
        <p:nvSpPr>
          <p:cNvPr id="182" name="core-final-data-accent">
            <a:extLst>
              <a:ext uri="{FF2B5EF4-FFF2-40B4-BE49-F238E27FC236}">
                <a16:creationId xmlns:a16="http://schemas.microsoft.com/office/drawing/2014/main" id="{671D52EB-4C73-4EE8-8A48-D808D18C2115}"/>
              </a:ext>
            </a:extLst>
          </p:cNvPr>
          <p:cNvSpPr>
            <a:spLocks noGrp="1"/>
          </p:cNvSpPr>
          <p:nvPr/>
        </p:nvSpPr>
        <p:spPr>
          <a:xfrm>
            <a:off x="20431125" y="16146232"/>
            <a:ext cx="2190750" cy="114300"/>
          </a:xfrm>
          <a:prstGeom prst="rect">
            <a:avLst/>
          </a:prstGeom>
          <a:solidFill>
            <a:srgbClr val="14A098"/>
          </a:solidFill>
          <a:ln w="0">
            <a:solidFill>
              <a:srgbClr val="14A098"/>
            </a:solidFill>
            <a:prstDash val="solid"/>
          </a:ln>
        </p:spPr>
        <p:txBody>
          <a:bodyPr/>
          <a:lstStyle/>
          <a:p>
            <a:endParaRPr sz="2000"/>
          </a:p>
        </p:txBody>
      </p:sp>
      <p:sp>
        <p:nvSpPr>
          <p:cNvPr id="183" name="core-final-data-title">
            <a:extLst>
              <a:ext uri="{FF2B5EF4-FFF2-40B4-BE49-F238E27FC236}">
                <a16:creationId xmlns:a16="http://schemas.microsoft.com/office/drawing/2014/main" id="{2646AE7D-85B9-4902-B3CD-94D5EBA63699}"/>
              </a:ext>
            </a:extLst>
          </p:cNvPr>
          <p:cNvSpPr>
            <a:spLocks noGrp="1"/>
          </p:cNvSpPr>
          <p:nvPr/>
        </p:nvSpPr>
        <p:spPr>
          <a:xfrm>
            <a:off x="20583525" y="16451032"/>
            <a:ext cx="1885950" cy="304800"/>
          </a:xfrm>
          <a:prstGeom prst="rect">
            <a:avLst/>
          </a:prstGeom>
          <a:noFill/>
          <a:ln w="0">
            <a:noFill/>
            <a:prstDash val="solid"/>
          </a:ln>
        </p:spPr>
        <p:txBody>
          <a:bodyPr/>
          <a:lstStyle/>
          <a:p>
            <a:pPr algn="ctr">
              <a:buNone/>
              <a:defRPr sz="1800" b="1">
                <a:solidFill>
                  <a:srgbClr val="28235C"/>
                </a:solidFill>
                <a:latin typeface="Arial"/>
                <a:ea typeface="Arial"/>
                <a:cs typeface="Arial"/>
              </a:defRPr>
            </a:pPr>
            <a:r>
              <a:rPr sz="2000" b="1">
                <a:solidFill>
                  <a:srgbClr val="28235C"/>
                </a:solidFill>
                <a:latin typeface="Arial"/>
                <a:ea typeface="Arial"/>
                <a:cs typeface="Arial"/>
              </a:rPr>
              <a:t>Data</a:t>
            </a:r>
          </a:p>
        </p:txBody>
      </p:sp>
      <p:sp>
        <p:nvSpPr>
          <p:cNvPr id="184" name="core-final-data-body">
            <a:extLst>
              <a:ext uri="{FF2B5EF4-FFF2-40B4-BE49-F238E27FC236}">
                <a16:creationId xmlns:a16="http://schemas.microsoft.com/office/drawing/2014/main" id="{56BC670F-F0B7-41E0-AC77-07C1F6E7EACD}"/>
              </a:ext>
            </a:extLst>
          </p:cNvPr>
          <p:cNvSpPr>
            <a:spLocks noGrp="1"/>
          </p:cNvSpPr>
          <p:nvPr/>
        </p:nvSpPr>
        <p:spPr>
          <a:xfrm>
            <a:off x="20602575" y="16889182"/>
            <a:ext cx="1847850" cy="685800"/>
          </a:xfrm>
          <a:prstGeom prst="rect">
            <a:avLst/>
          </a:prstGeom>
          <a:noFill/>
          <a:ln w="0">
            <a:noFill/>
            <a:prstDash val="solid"/>
          </a:ln>
        </p:spPr>
        <p:txBody>
          <a:bodyPr/>
          <a:lstStyle/>
          <a:p>
            <a:pPr algn="ctr">
              <a:buNone/>
              <a:defRPr sz="1500">
                <a:solidFill>
                  <a:srgbClr val="405372"/>
                </a:solidFill>
                <a:latin typeface="Arial"/>
                <a:ea typeface="Arial"/>
                <a:cs typeface="Arial"/>
              </a:defRPr>
            </a:pPr>
            <a:r>
              <a:rPr sz="1600">
                <a:solidFill>
                  <a:srgbClr val="405372"/>
                </a:solidFill>
                <a:latin typeface="Arial"/>
                <a:ea typeface="Arial"/>
                <a:cs typeface="Arial"/>
              </a:rPr>
              <a:t>gaze recordings</a:t>
            </a:r>
          </a:p>
          <a:p>
            <a:pPr algn="ctr">
              <a:buNone/>
              <a:defRPr sz="1500">
                <a:solidFill>
                  <a:srgbClr val="405372"/>
                </a:solidFill>
                <a:latin typeface="Arial"/>
                <a:ea typeface="Arial"/>
                <a:cs typeface="Arial"/>
              </a:defRPr>
            </a:pPr>
            <a:r>
              <a:rPr sz="1600">
                <a:solidFill>
                  <a:srgbClr val="405372"/>
                </a:solidFill>
                <a:latin typeface="Arial"/>
                <a:ea typeface="Arial"/>
                <a:cs typeface="Arial"/>
              </a:rPr>
              <a:t>+ questionnaires</a:t>
            </a:r>
          </a:p>
        </p:txBody>
      </p:sp>
      <p:sp>
        <p:nvSpPr>
          <p:cNvPr id="185" name="core-final-arrow-1">
            <a:extLst>
              <a:ext uri="{FF2B5EF4-FFF2-40B4-BE49-F238E27FC236}">
                <a16:creationId xmlns:a16="http://schemas.microsoft.com/office/drawing/2014/main" id="{C6BD46E3-9786-4536-A711-7FA2C253A1B4}"/>
              </a:ext>
            </a:extLst>
          </p:cNvPr>
          <p:cNvSpPr>
            <a:spLocks noGrp="1"/>
          </p:cNvSpPr>
          <p:nvPr/>
        </p:nvSpPr>
        <p:spPr>
          <a:xfrm>
            <a:off x="22879050" y="16746307"/>
            <a:ext cx="647700" cy="438150"/>
          </a:xfrm>
          <a:prstGeom prst="rightArrow">
            <a:avLst/>
          </a:prstGeom>
          <a:solidFill>
            <a:srgbClr val="14A098"/>
          </a:solidFill>
          <a:ln w="0">
            <a:solidFill>
              <a:srgbClr val="14A098"/>
            </a:solidFill>
            <a:prstDash val="solid"/>
          </a:ln>
        </p:spPr>
        <p:txBody>
          <a:bodyPr/>
          <a:lstStyle/>
          <a:p>
            <a:endParaRPr sz="2000"/>
          </a:p>
        </p:txBody>
      </p:sp>
      <p:sp>
        <p:nvSpPr>
          <p:cNvPr id="186" name="core-final-aoi-card">
            <a:extLst>
              <a:ext uri="{FF2B5EF4-FFF2-40B4-BE49-F238E27FC236}">
                <a16:creationId xmlns:a16="http://schemas.microsoft.com/office/drawing/2014/main" id="{721696EA-57F1-4A45-A70D-C5D866634BED}"/>
              </a:ext>
            </a:extLst>
          </p:cNvPr>
          <p:cNvSpPr>
            <a:spLocks noGrp="1"/>
          </p:cNvSpPr>
          <p:nvPr/>
        </p:nvSpPr>
        <p:spPr>
          <a:xfrm>
            <a:off x="23764875" y="16146232"/>
            <a:ext cx="2286000" cy="1638300"/>
          </a:xfrm>
          <a:prstGeom prst="roundRect">
            <a:avLst>
              <a:gd name="adj" fmla="val 3488"/>
            </a:avLst>
          </a:prstGeom>
          <a:solidFill>
            <a:srgbClr val="FFFFFF"/>
          </a:solidFill>
          <a:ln w="19050">
            <a:solidFill>
              <a:srgbClr val="9BB6D3"/>
            </a:solidFill>
            <a:prstDash val="solid"/>
          </a:ln>
        </p:spPr>
        <p:txBody>
          <a:bodyPr/>
          <a:lstStyle/>
          <a:p>
            <a:endParaRPr sz="2000"/>
          </a:p>
        </p:txBody>
      </p:sp>
      <p:sp>
        <p:nvSpPr>
          <p:cNvPr id="187" name="core-final-aoi-accent">
            <a:extLst>
              <a:ext uri="{FF2B5EF4-FFF2-40B4-BE49-F238E27FC236}">
                <a16:creationId xmlns:a16="http://schemas.microsoft.com/office/drawing/2014/main" id="{B8E4447B-588F-498A-B311-B572FCCC4F30}"/>
              </a:ext>
            </a:extLst>
          </p:cNvPr>
          <p:cNvSpPr>
            <a:spLocks noGrp="1"/>
          </p:cNvSpPr>
          <p:nvPr/>
        </p:nvSpPr>
        <p:spPr>
          <a:xfrm>
            <a:off x="23764875" y="16146232"/>
            <a:ext cx="2286000" cy="114300"/>
          </a:xfrm>
          <a:prstGeom prst="rect">
            <a:avLst/>
          </a:prstGeom>
          <a:solidFill>
            <a:srgbClr val="3975A8"/>
          </a:solidFill>
          <a:ln w="0">
            <a:solidFill>
              <a:srgbClr val="3975A8"/>
            </a:solidFill>
            <a:prstDash val="solid"/>
          </a:ln>
        </p:spPr>
        <p:txBody>
          <a:bodyPr/>
          <a:lstStyle/>
          <a:p>
            <a:pPr marL="0" indent="0" algn="l" defTabSz="914400" rtl="0"/>
            <a:endParaRPr sz="2000"/>
          </a:p>
        </p:txBody>
      </p:sp>
      <p:sp>
        <p:nvSpPr>
          <p:cNvPr id="188" name="core-final-aoi-title">
            <a:extLst>
              <a:ext uri="{FF2B5EF4-FFF2-40B4-BE49-F238E27FC236}">
                <a16:creationId xmlns:a16="http://schemas.microsoft.com/office/drawing/2014/main" id="{7643D176-66DE-4335-A9C9-42676817DE8E}"/>
              </a:ext>
            </a:extLst>
          </p:cNvPr>
          <p:cNvSpPr>
            <a:spLocks noGrp="1"/>
          </p:cNvSpPr>
          <p:nvPr/>
        </p:nvSpPr>
        <p:spPr>
          <a:xfrm>
            <a:off x="23917275" y="16451032"/>
            <a:ext cx="1981200" cy="304800"/>
          </a:xfrm>
          <a:prstGeom prst="rect">
            <a:avLst/>
          </a:prstGeom>
          <a:noFill/>
          <a:ln w="0">
            <a:noFill/>
            <a:prstDash val="solid"/>
          </a:ln>
        </p:spPr>
        <p:txBody>
          <a:bodyPr/>
          <a:lstStyle/>
          <a:p>
            <a:pPr algn="ctr">
              <a:buNone/>
              <a:defRPr sz="1800" b="1">
                <a:solidFill>
                  <a:srgbClr val="28235C"/>
                </a:solidFill>
                <a:latin typeface="Arial"/>
                <a:ea typeface="Arial"/>
                <a:cs typeface="Arial"/>
              </a:defRPr>
            </a:pPr>
            <a:r>
              <a:rPr sz="2000" b="1"/>
              <a:t>Data Analysis</a:t>
            </a:r>
          </a:p>
        </p:txBody>
      </p:sp>
      <p:sp>
        <p:nvSpPr>
          <p:cNvPr id="189" name="core-final-aoi-body">
            <a:extLst>
              <a:ext uri="{FF2B5EF4-FFF2-40B4-BE49-F238E27FC236}">
                <a16:creationId xmlns:a16="http://schemas.microsoft.com/office/drawing/2014/main" id="{642AA3FE-C735-494C-A18B-5A8E8E4E12A1}"/>
              </a:ext>
            </a:extLst>
          </p:cNvPr>
          <p:cNvSpPr>
            <a:spLocks noGrp="1"/>
          </p:cNvSpPr>
          <p:nvPr/>
        </p:nvSpPr>
        <p:spPr>
          <a:xfrm>
            <a:off x="23743402" y="16889182"/>
            <a:ext cx="2322843" cy="631159"/>
          </a:xfrm>
          <a:prstGeom prst="rect">
            <a:avLst/>
          </a:prstGeom>
          <a:noFill/>
          <a:ln w="0">
            <a:noFill/>
            <a:prstDash val="solid"/>
          </a:ln>
        </p:spPr>
        <p:txBody>
          <a:bodyPr/>
          <a:lstStyle/>
          <a:p>
            <a:pPr algn="ctr">
              <a:buNone/>
              <a:defRPr sz="1500">
                <a:solidFill>
                  <a:srgbClr val="405372"/>
                </a:solidFill>
                <a:latin typeface="Arial"/>
                <a:ea typeface="Arial"/>
                <a:cs typeface="Arial"/>
              </a:defRPr>
            </a:pPr>
            <a:r>
              <a:rPr sz="1600" dirty="0"/>
              <a:t>AOI metrics, </a:t>
            </a:r>
            <a:r>
              <a:rPr sz="1600" dirty="0" err="1"/>
              <a:t>scanpaths</a:t>
            </a:r>
            <a:br>
              <a:rPr sz="1600" dirty="0"/>
            </a:br>
            <a:r>
              <a:rPr sz="1600" dirty="0"/>
              <a:t>and recognition accuracy</a:t>
            </a:r>
          </a:p>
        </p:txBody>
      </p:sp>
      <p:sp>
        <p:nvSpPr>
          <p:cNvPr id="190" name="core-final-arrow-2">
            <a:extLst>
              <a:ext uri="{FF2B5EF4-FFF2-40B4-BE49-F238E27FC236}">
                <a16:creationId xmlns:a16="http://schemas.microsoft.com/office/drawing/2014/main" id="{D4668A55-C92C-4789-A1B8-7ADB50810E85}"/>
              </a:ext>
            </a:extLst>
          </p:cNvPr>
          <p:cNvSpPr>
            <a:spLocks noGrp="1"/>
          </p:cNvSpPr>
          <p:nvPr/>
        </p:nvSpPr>
        <p:spPr>
          <a:xfrm>
            <a:off x="26308050" y="16746307"/>
            <a:ext cx="647700" cy="438150"/>
          </a:xfrm>
          <a:prstGeom prst="rightArrow">
            <a:avLst/>
          </a:prstGeom>
          <a:solidFill>
            <a:srgbClr val="F27C38"/>
          </a:solidFill>
          <a:ln w="0">
            <a:solidFill>
              <a:srgbClr val="F27C38"/>
            </a:solidFill>
            <a:prstDash val="solid"/>
          </a:ln>
        </p:spPr>
        <p:txBody>
          <a:bodyPr/>
          <a:lstStyle/>
          <a:p>
            <a:endParaRPr sz="2000"/>
          </a:p>
        </p:txBody>
      </p:sp>
      <p:sp>
        <p:nvSpPr>
          <p:cNvPr id="191" name="core-final-findings-card">
            <a:extLst>
              <a:ext uri="{FF2B5EF4-FFF2-40B4-BE49-F238E27FC236}">
                <a16:creationId xmlns:a16="http://schemas.microsoft.com/office/drawing/2014/main" id="{344AE194-54FA-4E40-9EF7-F824452F2564}"/>
              </a:ext>
            </a:extLst>
          </p:cNvPr>
          <p:cNvSpPr>
            <a:spLocks noGrp="1"/>
          </p:cNvSpPr>
          <p:nvPr/>
        </p:nvSpPr>
        <p:spPr>
          <a:xfrm>
            <a:off x="27193875" y="16146232"/>
            <a:ext cx="1952625" cy="1638300"/>
          </a:xfrm>
          <a:prstGeom prst="roundRect">
            <a:avLst>
              <a:gd name="adj" fmla="val 3488"/>
            </a:avLst>
          </a:prstGeom>
          <a:solidFill>
            <a:srgbClr val="FFFFFF"/>
          </a:solidFill>
          <a:ln w="19050">
            <a:solidFill>
              <a:srgbClr val="9BB6D3"/>
            </a:solidFill>
            <a:prstDash val="solid"/>
          </a:ln>
        </p:spPr>
        <p:txBody>
          <a:bodyPr/>
          <a:lstStyle/>
          <a:p>
            <a:endParaRPr sz="2000"/>
          </a:p>
        </p:txBody>
      </p:sp>
      <p:sp>
        <p:nvSpPr>
          <p:cNvPr id="192" name="core-final-findings-accent">
            <a:extLst>
              <a:ext uri="{FF2B5EF4-FFF2-40B4-BE49-F238E27FC236}">
                <a16:creationId xmlns:a16="http://schemas.microsoft.com/office/drawing/2014/main" id="{0FAA6EAD-20EA-4BC6-B5B4-9854E06A88B5}"/>
              </a:ext>
            </a:extLst>
          </p:cNvPr>
          <p:cNvSpPr>
            <a:spLocks noGrp="1"/>
          </p:cNvSpPr>
          <p:nvPr/>
        </p:nvSpPr>
        <p:spPr>
          <a:xfrm>
            <a:off x="27193875" y="16146232"/>
            <a:ext cx="1952625" cy="114300"/>
          </a:xfrm>
          <a:prstGeom prst="rect">
            <a:avLst/>
          </a:prstGeom>
          <a:solidFill>
            <a:srgbClr val="F27C38"/>
          </a:solidFill>
          <a:ln w="0">
            <a:solidFill>
              <a:srgbClr val="F27C38"/>
            </a:solidFill>
            <a:prstDash val="solid"/>
          </a:ln>
        </p:spPr>
        <p:txBody>
          <a:bodyPr/>
          <a:lstStyle/>
          <a:p>
            <a:pPr marL="0" indent="0" algn="l" defTabSz="914400" rtl="0"/>
            <a:endParaRPr sz="2000"/>
          </a:p>
        </p:txBody>
      </p:sp>
      <p:sp>
        <p:nvSpPr>
          <p:cNvPr id="193" name="core-final-findings-title">
            <a:extLst>
              <a:ext uri="{FF2B5EF4-FFF2-40B4-BE49-F238E27FC236}">
                <a16:creationId xmlns:a16="http://schemas.microsoft.com/office/drawing/2014/main" id="{AE594367-2069-4BFC-99D8-65A07E05EC00}"/>
              </a:ext>
            </a:extLst>
          </p:cNvPr>
          <p:cNvSpPr>
            <a:spLocks noGrp="1"/>
          </p:cNvSpPr>
          <p:nvPr/>
        </p:nvSpPr>
        <p:spPr>
          <a:xfrm>
            <a:off x="27346275" y="16451032"/>
            <a:ext cx="1647825" cy="304800"/>
          </a:xfrm>
          <a:prstGeom prst="rect">
            <a:avLst/>
          </a:prstGeom>
          <a:noFill/>
          <a:ln w="0">
            <a:noFill/>
            <a:prstDash val="solid"/>
          </a:ln>
        </p:spPr>
        <p:txBody>
          <a:bodyPr/>
          <a:lstStyle/>
          <a:p>
            <a:pPr algn="ctr">
              <a:buNone/>
              <a:defRPr sz="1800" b="1">
                <a:solidFill>
                  <a:srgbClr val="28235C"/>
                </a:solidFill>
                <a:latin typeface="Arial"/>
                <a:ea typeface="Arial"/>
                <a:cs typeface="Arial"/>
              </a:defRPr>
            </a:pPr>
            <a:r>
              <a:rPr sz="2000" b="1">
                <a:solidFill>
                  <a:srgbClr val="28235C"/>
                </a:solidFill>
                <a:latin typeface="Arial"/>
                <a:ea typeface="Arial"/>
                <a:cs typeface="Arial"/>
              </a:rPr>
              <a:t>Findings</a:t>
            </a:r>
          </a:p>
        </p:txBody>
      </p:sp>
      <p:sp>
        <p:nvSpPr>
          <p:cNvPr id="194" name="core-final-findings-body">
            <a:extLst>
              <a:ext uri="{FF2B5EF4-FFF2-40B4-BE49-F238E27FC236}">
                <a16:creationId xmlns:a16="http://schemas.microsoft.com/office/drawing/2014/main" id="{FE7EB59E-A38C-4314-91FF-3A024561A9BC}"/>
              </a:ext>
            </a:extLst>
          </p:cNvPr>
          <p:cNvSpPr>
            <a:spLocks noGrp="1"/>
          </p:cNvSpPr>
          <p:nvPr/>
        </p:nvSpPr>
        <p:spPr>
          <a:xfrm>
            <a:off x="27365325" y="16889182"/>
            <a:ext cx="1609725" cy="685800"/>
          </a:xfrm>
          <a:prstGeom prst="rect">
            <a:avLst/>
          </a:prstGeom>
          <a:noFill/>
          <a:ln w="0">
            <a:noFill/>
            <a:prstDash val="solid"/>
          </a:ln>
        </p:spPr>
        <p:txBody>
          <a:bodyPr/>
          <a:lstStyle/>
          <a:p>
            <a:pPr algn="ctr">
              <a:buNone/>
              <a:defRPr sz="1500">
                <a:solidFill>
                  <a:srgbClr val="405372"/>
                </a:solidFill>
                <a:latin typeface="Arial"/>
                <a:ea typeface="Arial"/>
                <a:cs typeface="Arial"/>
              </a:defRPr>
            </a:pPr>
            <a:r>
              <a:rPr sz="1600">
                <a:solidFill>
                  <a:srgbClr val="405372"/>
                </a:solidFill>
                <a:latin typeface="Arial"/>
                <a:ea typeface="Arial"/>
                <a:cs typeface="Arial"/>
              </a:rPr>
              <a:t>comparisons, charts</a:t>
            </a:r>
          </a:p>
        </p:txBody>
      </p:sp>
      <p:sp>
        <p:nvSpPr>
          <p:cNvPr id="205" name="metrics-panel-redraw-mask">
            <a:extLst>
              <a:ext uri="{FF2B5EF4-FFF2-40B4-BE49-F238E27FC236}">
                <a16:creationId xmlns:a16="http://schemas.microsoft.com/office/drawing/2014/main" id="{F2ACD9C6-57BC-4D87-BFFA-5CECC8D841AC}"/>
              </a:ext>
            </a:extLst>
          </p:cNvPr>
          <p:cNvSpPr>
            <a:spLocks noGrp="1"/>
          </p:cNvSpPr>
          <p:nvPr/>
        </p:nvSpPr>
        <p:spPr>
          <a:xfrm>
            <a:off x="20050125" y="19097625"/>
            <a:ext cx="10077450" cy="11068050"/>
          </a:xfrm>
          <a:prstGeom prst="rect">
            <a:avLst/>
          </a:prstGeom>
          <a:solidFill>
            <a:srgbClr val="EAF3FB"/>
          </a:solidFill>
          <a:ln w="0">
            <a:solidFill>
              <a:srgbClr val="EAF3FB"/>
            </a:solidFill>
            <a:prstDash val="solid"/>
          </a:ln>
        </p:spPr>
        <p:txBody>
          <a:bodyPr/>
          <a:lstStyle/>
          <a:p>
            <a:pPr marL="0" indent="0" algn="l" defTabSz="914400" rtl="0">
              <a:buNone/>
            </a:pPr>
            <a:endParaRPr sz="2000"/>
          </a:p>
        </p:txBody>
      </p:sp>
      <p:sp>
        <p:nvSpPr>
          <p:cNvPr id="206" name="metric-participants-kpi">
            <a:extLst>
              <a:ext uri="{FF2B5EF4-FFF2-40B4-BE49-F238E27FC236}">
                <a16:creationId xmlns:a16="http://schemas.microsoft.com/office/drawing/2014/main" id="{872678CF-983F-4D4E-96BA-1CE5A3CA796F}"/>
              </a:ext>
            </a:extLst>
          </p:cNvPr>
          <p:cNvSpPr>
            <a:spLocks noGrp="1"/>
          </p:cNvSpPr>
          <p:nvPr/>
        </p:nvSpPr>
        <p:spPr>
          <a:xfrm>
            <a:off x="20288250" y="19316700"/>
            <a:ext cx="2114550" cy="1428750"/>
          </a:xfrm>
          <a:prstGeom prst="roundRect">
            <a:avLst>
              <a:gd name="adj" fmla="val 4000"/>
            </a:avLst>
          </a:prstGeom>
          <a:solidFill>
            <a:srgbClr val="FFFFFF"/>
          </a:solidFill>
          <a:ln w="19050">
            <a:solidFill>
              <a:srgbClr val="9BB6D3"/>
            </a:solidFill>
            <a:prstDash val="solid"/>
          </a:ln>
        </p:spPr>
        <p:txBody>
          <a:bodyPr/>
          <a:lstStyle/>
          <a:p>
            <a:endParaRPr sz="2000"/>
          </a:p>
        </p:txBody>
      </p:sp>
      <p:sp>
        <p:nvSpPr>
          <p:cNvPr id="207" name="metric-participants-value">
            <a:extLst>
              <a:ext uri="{FF2B5EF4-FFF2-40B4-BE49-F238E27FC236}">
                <a16:creationId xmlns:a16="http://schemas.microsoft.com/office/drawing/2014/main" id="{E2AC361F-EE4C-4BB9-8A53-3E3D937A72DC}"/>
              </a:ext>
            </a:extLst>
          </p:cNvPr>
          <p:cNvSpPr>
            <a:spLocks noGrp="1"/>
          </p:cNvSpPr>
          <p:nvPr/>
        </p:nvSpPr>
        <p:spPr>
          <a:xfrm>
            <a:off x="20383500" y="19488150"/>
            <a:ext cx="1924050" cy="571500"/>
          </a:xfrm>
          <a:prstGeom prst="rect">
            <a:avLst/>
          </a:prstGeom>
          <a:noFill/>
          <a:ln w="0">
            <a:noFill/>
            <a:prstDash val="solid"/>
          </a:ln>
        </p:spPr>
        <p:txBody>
          <a:bodyPr/>
          <a:lstStyle/>
          <a:p>
            <a:pPr algn="ctr">
              <a:buNone/>
              <a:defRPr sz="3600" b="1">
                <a:solidFill>
                  <a:srgbClr val="28235C"/>
                </a:solidFill>
                <a:latin typeface="Arial"/>
                <a:ea typeface="Arial"/>
                <a:cs typeface="Arial"/>
              </a:defRPr>
            </a:pPr>
            <a:r>
              <a:rPr sz="4000" b="1">
                <a:solidFill>
                  <a:srgbClr val="28235C"/>
                </a:solidFill>
                <a:latin typeface="Arial"/>
                <a:ea typeface="Arial"/>
                <a:cs typeface="Arial"/>
              </a:rPr>
              <a:t>30</a:t>
            </a:r>
          </a:p>
        </p:txBody>
      </p:sp>
      <p:sp>
        <p:nvSpPr>
          <p:cNvPr id="208" name="metric-participants-label">
            <a:extLst>
              <a:ext uri="{FF2B5EF4-FFF2-40B4-BE49-F238E27FC236}">
                <a16:creationId xmlns:a16="http://schemas.microsoft.com/office/drawing/2014/main" id="{4FA89165-D50D-4D55-A0BF-D6EB67BC3028}"/>
              </a:ext>
            </a:extLst>
          </p:cNvPr>
          <p:cNvSpPr>
            <a:spLocks noGrp="1"/>
          </p:cNvSpPr>
          <p:nvPr/>
        </p:nvSpPr>
        <p:spPr>
          <a:xfrm>
            <a:off x="20402550" y="20135850"/>
            <a:ext cx="1885950" cy="457200"/>
          </a:xfrm>
          <a:prstGeom prst="rect">
            <a:avLst/>
          </a:prstGeom>
          <a:noFill/>
          <a:ln w="0">
            <a:noFill/>
            <a:prstDash val="solid"/>
          </a:ln>
        </p:spPr>
        <p:txBody>
          <a:bodyPr/>
          <a:lstStyle/>
          <a:p>
            <a:pPr algn="ctr">
              <a:buNone/>
              <a:defRPr sz="1725">
                <a:solidFill>
                  <a:srgbClr val="405372"/>
                </a:solidFill>
                <a:latin typeface="Arial"/>
                <a:ea typeface="Arial"/>
                <a:cs typeface="Arial"/>
              </a:defRPr>
            </a:pPr>
            <a:r>
              <a:rPr>
                <a:solidFill>
                  <a:srgbClr val="405372"/>
                </a:solidFill>
                <a:latin typeface="Arial"/>
                <a:ea typeface="Arial"/>
                <a:cs typeface="Arial"/>
              </a:rPr>
              <a:t>participants</a:t>
            </a:r>
          </a:p>
        </p:txBody>
      </p:sp>
      <p:sp>
        <p:nvSpPr>
          <p:cNvPr id="209" name="metric-videos-kpi">
            <a:extLst>
              <a:ext uri="{FF2B5EF4-FFF2-40B4-BE49-F238E27FC236}">
                <a16:creationId xmlns:a16="http://schemas.microsoft.com/office/drawing/2014/main" id="{E2C2A7E0-A1AA-481D-94B9-3C6AFB1F5235}"/>
              </a:ext>
            </a:extLst>
          </p:cNvPr>
          <p:cNvSpPr>
            <a:spLocks noGrp="1"/>
          </p:cNvSpPr>
          <p:nvPr/>
        </p:nvSpPr>
        <p:spPr>
          <a:xfrm>
            <a:off x="22621875" y="19316700"/>
            <a:ext cx="2114550" cy="1428750"/>
          </a:xfrm>
          <a:prstGeom prst="roundRect">
            <a:avLst>
              <a:gd name="adj" fmla="val 4000"/>
            </a:avLst>
          </a:prstGeom>
          <a:solidFill>
            <a:srgbClr val="FFFFFF"/>
          </a:solidFill>
          <a:ln w="19050">
            <a:solidFill>
              <a:srgbClr val="9BB6D3"/>
            </a:solidFill>
            <a:prstDash val="solid"/>
          </a:ln>
        </p:spPr>
        <p:txBody>
          <a:bodyPr/>
          <a:lstStyle/>
          <a:p>
            <a:endParaRPr sz="2000"/>
          </a:p>
        </p:txBody>
      </p:sp>
      <p:sp>
        <p:nvSpPr>
          <p:cNvPr id="210" name="metric-videos-value">
            <a:extLst>
              <a:ext uri="{FF2B5EF4-FFF2-40B4-BE49-F238E27FC236}">
                <a16:creationId xmlns:a16="http://schemas.microsoft.com/office/drawing/2014/main" id="{127423EA-4359-4A50-8B2D-325B8F84FC55}"/>
              </a:ext>
            </a:extLst>
          </p:cNvPr>
          <p:cNvSpPr>
            <a:spLocks noGrp="1"/>
          </p:cNvSpPr>
          <p:nvPr/>
        </p:nvSpPr>
        <p:spPr>
          <a:xfrm>
            <a:off x="22717125" y="19488150"/>
            <a:ext cx="1924050" cy="571500"/>
          </a:xfrm>
          <a:prstGeom prst="rect">
            <a:avLst/>
          </a:prstGeom>
          <a:noFill/>
          <a:ln w="0">
            <a:noFill/>
            <a:prstDash val="solid"/>
          </a:ln>
        </p:spPr>
        <p:txBody>
          <a:bodyPr/>
          <a:lstStyle/>
          <a:p>
            <a:pPr algn="ctr">
              <a:buNone/>
              <a:defRPr sz="3600" b="1">
                <a:solidFill>
                  <a:srgbClr val="14A098"/>
                </a:solidFill>
                <a:latin typeface="Arial"/>
                <a:ea typeface="Arial"/>
                <a:cs typeface="Arial"/>
              </a:defRPr>
            </a:pPr>
            <a:r>
              <a:rPr sz="4000" b="1">
                <a:solidFill>
                  <a:srgbClr val="14A098"/>
                </a:solidFill>
                <a:latin typeface="Arial"/>
                <a:ea typeface="Arial"/>
                <a:cs typeface="Arial"/>
              </a:rPr>
              <a:t>8</a:t>
            </a:r>
          </a:p>
        </p:txBody>
      </p:sp>
      <p:sp>
        <p:nvSpPr>
          <p:cNvPr id="211" name="metric-videos-label">
            <a:extLst>
              <a:ext uri="{FF2B5EF4-FFF2-40B4-BE49-F238E27FC236}">
                <a16:creationId xmlns:a16="http://schemas.microsoft.com/office/drawing/2014/main" id="{6B4FE0F5-B944-41D7-B5E1-BA7D7C43684A}"/>
              </a:ext>
            </a:extLst>
          </p:cNvPr>
          <p:cNvSpPr>
            <a:spLocks noGrp="1"/>
          </p:cNvSpPr>
          <p:nvPr/>
        </p:nvSpPr>
        <p:spPr>
          <a:xfrm>
            <a:off x="22736175" y="20135850"/>
            <a:ext cx="1885950" cy="457200"/>
          </a:xfrm>
          <a:prstGeom prst="rect">
            <a:avLst/>
          </a:prstGeom>
          <a:noFill/>
          <a:ln w="0">
            <a:noFill/>
            <a:prstDash val="solid"/>
          </a:ln>
        </p:spPr>
        <p:txBody>
          <a:bodyPr/>
          <a:lstStyle/>
          <a:p>
            <a:pPr algn="ctr">
              <a:buNone/>
              <a:defRPr sz="1725">
                <a:solidFill>
                  <a:srgbClr val="405372"/>
                </a:solidFill>
                <a:latin typeface="Arial"/>
                <a:ea typeface="Arial"/>
                <a:cs typeface="Arial"/>
              </a:defRPr>
            </a:pPr>
            <a:r>
              <a:rPr>
                <a:solidFill>
                  <a:srgbClr val="405372"/>
                </a:solidFill>
                <a:latin typeface="Arial"/>
                <a:ea typeface="Arial"/>
                <a:cs typeface="Arial"/>
              </a:rPr>
              <a:t>dog videos</a:t>
            </a:r>
          </a:p>
        </p:txBody>
      </p:sp>
      <p:sp>
        <p:nvSpPr>
          <p:cNvPr id="212" name="metric-situations-kpi">
            <a:extLst>
              <a:ext uri="{FF2B5EF4-FFF2-40B4-BE49-F238E27FC236}">
                <a16:creationId xmlns:a16="http://schemas.microsoft.com/office/drawing/2014/main" id="{051E31EC-F50F-4C83-9CDC-D04D76F5BB2B}"/>
              </a:ext>
            </a:extLst>
          </p:cNvPr>
          <p:cNvSpPr>
            <a:spLocks noGrp="1"/>
          </p:cNvSpPr>
          <p:nvPr/>
        </p:nvSpPr>
        <p:spPr>
          <a:xfrm>
            <a:off x="24955500" y="19316700"/>
            <a:ext cx="2114550" cy="1428750"/>
          </a:xfrm>
          <a:prstGeom prst="roundRect">
            <a:avLst>
              <a:gd name="adj" fmla="val 4000"/>
            </a:avLst>
          </a:prstGeom>
          <a:solidFill>
            <a:srgbClr val="FFFFFF"/>
          </a:solidFill>
          <a:ln w="19050">
            <a:solidFill>
              <a:srgbClr val="9BB6D3"/>
            </a:solidFill>
            <a:prstDash val="solid"/>
          </a:ln>
        </p:spPr>
        <p:txBody>
          <a:bodyPr/>
          <a:lstStyle/>
          <a:p>
            <a:endParaRPr sz="2000"/>
          </a:p>
        </p:txBody>
      </p:sp>
      <p:sp>
        <p:nvSpPr>
          <p:cNvPr id="213" name="metric-situations-value">
            <a:extLst>
              <a:ext uri="{FF2B5EF4-FFF2-40B4-BE49-F238E27FC236}">
                <a16:creationId xmlns:a16="http://schemas.microsoft.com/office/drawing/2014/main" id="{4DD0865B-4111-4D40-AFD3-5205696497F9}"/>
              </a:ext>
            </a:extLst>
          </p:cNvPr>
          <p:cNvSpPr>
            <a:spLocks noGrp="1"/>
          </p:cNvSpPr>
          <p:nvPr/>
        </p:nvSpPr>
        <p:spPr>
          <a:xfrm>
            <a:off x="25050750" y="19488150"/>
            <a:ext cx="1924050" cy="571500"/>
          </a:xfrm>
          <a:prstGeom prst="rect">
            <a:avLst/>
          </a:prstGeom>
          <a:noFill/>
          <a:ln w="0">
            <a:noFill/>
            <a:prstDash val="solid"/>
          </a:ln>
        </p:spPr>
        <p:txBody>
          <a:bodyPr/>
          <a:lstStyle/>
          <a:p>
            <a:pPr algn="ctr">
              <a:buNone/>
              <a:defRPr sz="3600" b="1">
                <a:solidFill>
                  <a:srgbClr val="F27C38"/>
                </a:solidFill>
                <a:latin typeface="Arial"/>
                <a:ea typeface="Arial"/>
                <a:cs typeface="Arial"/>
              </a:defRPr>
            </a:pPr>
            <a:r>
              <a:rPr sz="4000" b="1">
                <a:solidFill>
                  <a:srgbClr val="F27C38"/>
                </a:solidFill>
                <a:latin typeface="Arial"/>
                <a:ea typeface="Arial"/>
                <a:cs typeface="Arial"/>
              </a:rPr>
              <a:t>4</a:t>
            </a:r>
          </a:p>
        </p:txBody>
      </p:sp>
      <p:sp>
        <p:nvSpPr>
          <p:cNvPr id="214" name="metric-situations-label">
            <a:extLst>
              <a:ext uri="{FF2B5EF4-FFF2-40B4-BE49-F238E27FC236}">
                <a16:creationId xmlns:a16="http://schemas.microsoft.com/office/drawing/2014/main" id="{0D8F6E1A-B175-46CB-A48F-A5AE15EC89B2}"/>
              </a:ext>
            </a:extLst>
          </p:cNvPr>
          <p:cNvSpPr>
            <a:spLocks noGrp="1"/>
          </p:cNvSpPr>
          <p:nvPr/>
        </p:nvSpPr>
        <p:spPr>
          <a:xfrm>
            <a:off x="25069800" y="20135850"/>
            <a:ext cx="1885950" cy="457200"/>
          </a:xfrm>
          <a:prstGeom prst="rect">
            <a:avLst/>
          </a:prstGeom>
          <a:noFill/>
          <a:ln w="0">
            <a:noFill/>
            <a:prstDash val="solid"/>
          </a:ln>
        </p:spPr>
        <p:txBody>
          <a:bodyPr/>
          <a:lstStyle/>
          <a:p>
            <a:pPr algn="ctr">
              <a:buNone/>
              <a:defRPr sz="1725">
                <a:solidFill>
                  <a:srgbClr val="405372"/>
                </a:solidFill>
                <a:latin typeface="Arial"/>
                <a:ea typeface="Arial"/>
                <a:cs typeface="Arial"/>
              </a:defRPr>
            </a:pPr>
            <a:r>
              <a:rPr>
                <a:solidFill>
                  <a:srgbClr val="405372"/>
                </a:solidFill>
                <a:latin typeface="Arial"/>
                <a:ea typeface="Arial"/>
                <a:cs typeface="Arial"/>
              </a:rPr>
              <a:t>situations</a:t>
            </a:r>
          </a:p>
        </p:txBody>
      </p:sp>
      <p:sp>
        <p:nvSpPr>
          <p:cNvPr id="215" name="metric-dogs-kpi">
            <a:extLst>
              <a:ext uri="{FF2B5EF4-FFF2-40B4-BE49-F238E27FC236}">
                <a16:creationId xmlns:a16="http://schemas.microsoft.com/office/drawing/2014/main" id="{8B498A72-5927-445C-BB59-3DB7730843D3}"/>
              </a:ext>
            </a:extLst>
          </p:cNvPr>
          <p:cNvSpPr>
            <a:spLocks noGrp="1"/>
          </p:cNvSpPr>
          <p:nvPr/>
        </p:nvSpPr>
        <p:spPr>
          <a:xfrm>
            <a:off x="27289125" y="19316700"/>
            <a:ext cx="2114550" cy="1428750"/>
          </a:xfrm>
          <a:prstGeom prst="roundRect">
            <a:avLst>
              <a:gd name="adj" fmla="val 4000"/>
            </a:avLst>
          </a:prstGeom>
          <a:solidFill>
            <a:srgbClr val="FFFFFF"/>
          </a:solidFill>
          <a:ln w="19050">
            <a:solidFill>
              <a:srgbClr val="9BB6D3"/>
            </a:solidFill>
            <a:prstDash val="solid"/>
          </a:ln>
        </p:spPr>
        <p:txBody>
          <a:bodyPr/>
          <a:lstStyle/>
          <a:p>
            <a:endParaRPr sz="2000"/>
          </a:p>
        </p:txBody>
      </p:sp>
      <p:sp>
        <p:nvSpPr>
          <p:cNvPr id="216" name="metric-dogs-value">
            <a:extLst>
              <a:ext uri="{FF2B5EF4-FFF2-40B4-BE49-F238E27FC236}">
                <a16:creationId xmlns:a16="http://schemas.microsoft.com/office/drawing/2014/main" id="{14C07D74-63CF-429A-8E31-2B3F179F59A0}"/>
              </a:ext>
            </a:extLst>
          </p:cNvPr>
          <p:cNvSpPr>
            <a:spLocks noGrp="1"/>
          </p:cNvSpPr>
          <p:nvPr/>
        </p:nvSpPr>
        <p:spPr>
          <a:xfrm>
            <a:off x="27384375" y="19488150"/>
            <a:ext cx="1924050" cy="571500"/>
          </a:xfrm>
          <a:prstGeom prst="rect">
            <a:avLst/>
          </a:prstGeom>
          <a:noFill/>
          <a:ln w="0">
            <a:noFill/>
            <a:prstDash val="solid"/>
          </a:ln>
        </p:spPr>
        <p:txBody>
          <a:bodyPr/>
          <a:lstStyle/>
          <a:p>
            <a:pPr algn="ctr">
              <a:buNone/>
              <a:defRPr sz="3600" b="1">
                <a:solidFill>
                  <a:srgbClr val="3975A8"/>
                </a:solidFill>
                <a:latin typeface="Arial"/>
                <a:ea typeface="Arial"/>
                <a:cs typeface="Arial"/>
              </a:defRPr>
            </a:pPr>
            <a:r>
              <a:rPr sz="4000" b="1">
                <a:solidFill>
                  <a:srgbClr val="3975A8"/>
                </a:solidFill>
                <a:latin typeface="Arial"/>
                <a:ea typeface="Arial"/>
                <a:cs typeface="Arial"/>
              </a:rPr>
              <a:t>2</a:t>
            </a:r>
          </a:p>
        </p:txBody>
      </p:sp>
      <p:sp>
        <p:nvSpPr>
          <p:cNvPr id="217" name="metric-dogs-label">
            <a:extLst>
              <a:ext uri="{FF2B5EF4-FFF2-40B4-BE49-F238E27FC236}">
                <a16:creationId xmlns:a16="http://schemas.microsoft.com/office/drawing/2014/main" id="{9C09F379-3CA8-496A-A410-595C7BB3C68E}"/>
              </a:ext>
            </a:extLst>
          </p:cNvPr>
          <p:cNvSpPr>
            <a:spLocks noGrp="1"/>
          </p:cNvSpPr>
          <p:nvPr/>
        </p:nvSpPr>
        <p:spPr>
          <a:xfrm>
            <a:off x="27403425" y="20135850"/>
            <a:ext cx="1885950" cy="457200"/>
          </a:xfrm>
          <a:prstGeom prst="rect">
            <a:avLst/>
          </a:prstGeom>
          <a:noFill/>
          <a:ln w="0">
            <a:noFill/>
            <a:prstDash val="solid"/>
          </a:ln>
        </p:spPr>
        <p:txBody>
          <a:bodyPr/>
          <a:lstStyle/>
          <a:p>
            <a:pPr algn="ctr">
              <a:buNone/>
              <a:defRPr sz="1725">
                <a:solidFill>
                  <a:srgbClr val="405372"/>
                </a:solidFill>
                <a:latin typeface="Arial"/>
                <a:ea typeface="Arial"/>
                <a:cs typeface="Arial"/>
              </a:defRPr>
            </a:pPr>
            <a:r>
              <a:rPr>
                <a:solidFill>
                  <a:srgbClr val="405372"/>
                </a:solidFill>
                <a:latin typeface="Arial"/>
                <a:ea typeface="Arial"/>
                <a:cs typeface="Arial"/>
              </a:rPr>
              <a:t>dog types</a:t>
            </a:r>
          </a:p>
        </p:txBody>
      </p:sp>
      <p:sp>
        <p:nvSpPr>
          <p:cNvPr id="218" name="recognition-title">
            <a:extLst>
              <a:ext uri="{FF2B5EF4-FFF2-40B4-BE49-F238E27FC236}">
                <a16:creationId xmlns:a16="http://schemas.microsoft.com/office/drawing/2014/main" id="{C9F3BDC6-1626-4BCA-B8B9-058A0CE8A645}"/>
              </a:ext>
            </a:extLst>
          </p:cNvPr>
          <p:cNvSpPr>
            <a:spLocks noGrp="1"/>
          </p:cNvSpPr>
          <p:nvPr/>
        </p:nvSpPr>
        <p:spPr>
          <a:xfrm>
            <a:off x="20288250" y="21050250"/>
            <a:ext cx="5334000" cy="41910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a:solidFill>
                  <a:srgbClr val="121426"/>
                </a:solidFill>
                <a:latin typeface="Arial"/>
                <a:ea typeface="Arial"/>
                <a:cs typeface="Arial"/>
              </a:rPr>
              <a:t>Situation Recognition</a:t>
            </a:r>
          </a:p>
        </p:txBody>
      </p:sp>
      <p:sp>
        <p:nvSpPr>
          <p:cNvPr id="219" name="recognition-subtitle">
            <a:extLst>
              <a:ext uri="{FF2B5EF4-FFF2-40B4-BE49-F238E27FC236}">
                <a16:creationId xmlns:a16="http://schemas.microsoft.com/office/drawing/2014/main" id="{0643BFCD-AD3C-42F4-A317-8CE025A180F4}"/>
              </a:ext>
            </a:extLst>
          </p:cNvPr>
          <p:cNvSpPr>
            <a:spLocks noGrp="1"/>
          </p:cNvSpPr>
          <p:nvPr/>
        </p:nvSpPr>
        <p:spPr>
          <a:xfrm>
            <a:off x="20288250" y="21478875"/>
            <a:ext cx="9429750" cy="533400"/>
          </a:xfrm>
          <a:prstGeom prst="rect">
            <a:avLst/>
          </a:prstGeom>
          <a:noFill/>
          <a:ln w="0">
            <a:noFill/>
            <a:prstDash val="solid"/>
          </a:ln>
        </p:spPr>
        <p:txBody>
          <a:bodyPr/>
          <a:lstStyle/>
          <a:p>
            <a:pPr>
              <a:buNone/>
              <a:defRPr sz="1800">
                <a:solidFill>
                  <a:srgbClr val="405372"/>
                </a:solidFill>
                <a:latin typeface="Arial"/>
                <a:ea typeface="Arial"/>
                <a:cs typeface="Arial"/>
              </a:defRPr>
            </a:pPr>
            <a:r>
              <a:rPr sz="2000" dirty="0">
                <a:solidFill>
                  <a:srgbClr val="405372"/>
                </a:solidFill>
                <a:latin typeface="Arial"/>
                <a:ea typeface="Arial"/>
                <a:cs typeface="Arial"/>
              </a:rPr>
              <a:t>Correct identification varied substantially across videos, showing that some dog behaviors were clearer than others.</a:t>
            </a:r>
          </a:p>
        </p:txBody>
      </p:sp>
      <p:pic>
        <p:nvPicPr>
          <p:cNvPr id="898" name="Picture 404"/>
          <p:cNvPicPr>
            <a:picLocks noChangeAspect="1"/>
          </p:cNvPicPr>
          <p:nvPr/>
        </p:nvPicPr>
        <p:blipFill>
          <a:blip r:embed="rId12"/>
          <a:srcRect t="4875"/>
          <a:stretch>
            <a:fillRect/>
          </a:stretch>
        </p:blipFill>
        <p:spPr>
          <a:xfrm>
            <a:off x="20629109" y="22824638"/>
            <a:ext cx="8890907" cy="3805487"/>
          </a:xfrm>
          <a:prstGeom prst="rect">
            <a:avLst/>
          </a:prstGeom>
        </p:spPr>
      </p:pic>
      <p:sp>
        <p:nvSpPr>
          <p:cNvPr id="221" name="recognition-evidence-title">
            <a:extLst>
              <a:ext uri="{FF2B5EF4-FFF2-40B4-BE49-F238E27FC236}">
                <a16:creationId xmlns:a16="http://schemas.microsoft.com/office/drawing/2014/main" id="{EAF81D8B-0284-4B35-908D-386352BE70AC}"/>
              </a:ext>
            </a:extLst>
          </p:cNvPr>
          <p:cNvSpPr>
            <a:spLocks noGrp="1"/>
          </p:cNvSpPr>
          <p:nvPr/>
        </p:nvSpPr>
        <p:spPr>
          <a:xfrm>
            <a:off x="20288250" y="26993345"/>
            <a:ext cx="5905500" cy="400050"/>
          </a:xfrm>
          <a:prstGeom prst="rect">
            <a:avLst/>
          </a:prstGeom>
          <a:noFill/>
          <a:ln w="0">
            <a:noFill/>
            <a:prstDash val="solid"/>
          </a:ln>
        </p:spPr>
        <p:txBody>
          <a:bodyPr/>
          <a:lstStyle/>
          <a:p>
            <a:pPr>
              <a:buNone/>
              <a:defRPr sz="2400" b="1">
                <a:solidFill>
                  <a:srgbClr val="121426"/>
                </a:solidFill>
                <a:latin typeface="Arial"/>
                <a:ea typeface="Arial"/>
                <a:cs typeface="Arial"/>
              </a:defRPr>
            </a:pPr>
            <a:r>
              <a:rPr sz="2800" b="1">
                <a:solidFill>
                  <a:srgbClr val="121426"/>
                </a:solidFill>
                <a:latin typeface="Arial"/>
                <a:ea typeface="Arial"/>
                <a:cs typeface="Arial"/>
              </a:rPr>
              <a:t>What the evidence shows</a:t>
            </a:r>
          </a:p>
        </p:txBody>
      </p:sp>
      <p:sp>
        <p:nvSpPr>
          <p:cNvPr id="222" name="recognition-evidence-bullets">
            <a:extLst>
              <a:ext uri="{FF2B5EF4-FFF2-40B4-BE49-F238E27FC236}">
                <a16:creationId xmlns:a16="http://schemas.microsoft.com/office/drawing/2014/main" id="{C6EC30E4-DEDA-4F36-86B4-AED6BDC2FF8C}"/>
              </a:ext>
            </a:extLst>
          </p:cNvPr>
          <p:cNvSpPr>
            <a:spLocks noGrp="1"/>
          </p:cNvSpPr>
          <p:nvPr/>
        </p:nvSpPr>
        <p:spPr>
          <a:xfrm>
            <a:off x="20288250" y="27517220"/>
            <a:ext cx="9429750" cy="2010280"/>
          </a:xfrm>
          <a:prstGeom prst="rect">
            <a:avLst/>
          </a:prstGeom>
          <a:noFill/>
          <a:ln w="0">
            <a:noFill/>
            <a:prstDash val="solid"/>
          </a:ln>
        </p:spPr>
        <p:txBody>
          <a:bodyPr/>
          <a:lstStyle/>
          <a:p>
            <a:pPr>
              <a:buNone/>
              <a:defRPr sz="2025">
                <a:solidFill>
                  <a:srgbClr val="121426"/>
                </a:solidFill>
                <a:latin typeface="Arial"/>
                <a:ea typeface="Arial"/>
                <a:cs typeface="Arial"/>
              </a:defRPr>
            </a:pPr>
            <a:r>
              <a:rPr sz="2400" dirty="0">
                <a:solidFill>
                  <a:srgbClr val="121426"/>
                </a:solidFill>
                <a:latin typeface="Arial"/>
                <a:ea typeface="Arial"/>
                <a:cs typeface="Arial"/>
              </a:rPr>
              <a:t>• Highest recognition: Video 3, brachycephalic separation, about 66.7%.</a:t>
            </a:r>
          </a:p>
          <a:p>
            <a:pPr>
              <a:buNone/>
              <a:defRPr sz="2025">
                <a:solidFill>
                  <a:srgbClr val="121426"/>
                </a:solidFill>
                <a:latin typeface="Arial"/>
                <a:ea typeface="Arial"/>
                <a:cs typeface="Arial"/>
              </a:defRPr>
            </a:pPr>
            <a:r>
              <a:rPr sz="2400" dirty="0">
                <a:solidFill>
                  <a:srgbClr val="121426"/>
                </a:solidFill>
                <a:latin typeface="Arial"/>
                <a:ea typeface="Arial"/>
                <a:cs typeface="Arial"/>
              </a:rPr>
              <a:t>• Lowest recognition: Video 7, brachycephalic threat, about 10%.</a:t>
            </a:r>
          </a:p>
          <a:p>
            <a:pPr>
              <a:buNone/>
              <a:defRPr sz="2025">
                <a:solidFill>
                  <a:srgbClr val="121426"/>
                </a:solidFill>
                <a:latin typeface="Arial"/>
                <a:ea typeface="Arial"/>
                <a:cs typeface="Arial"/>
              </a:defRPr>
            </a:pPr>
            <a:r>
              <a:rPr sz="2400" dirty="0">
                <a:solidFill>
                  <a:srgbClr val="121426"/>
                </a:solidFill>
                <a:latin typeface="Arial"/>
                <a:ea typeface="Arial"/>
                <a:cs typeface="Arial"/>
              </a:rPr>
              <a:t>• The same behavior was not equally clear across dog types and videos.</a:t>
            </a:r>
          </a:p>
          <a:p>
            <a:pPr>
              <a:buNone/>
              <a:defRPr sz="2025">
                <a:solidFill>
                  <a:srgbClr val="121426"/>
                </a:solidFill>
                <a:latin typeface="Arial"/>
                <a:ea typeface="Arial"/>
                <a:cs typeface="Arial"/>
              </a:defRPr>
            </a:pPr>
            <a:r>
              <a:rPr sz="2400" dirty="0">
                <a:solidFill>
                  <a:srgbClr val="121426"/>
                </a:solidFill>
                <a:latin typeface="Arial"/>
                <a:ea typeface="Arial"/>
                <a:cs typeface="Arial"/>
              </a:rPr>
              <a:t>• Cue visibility, movement and context shaped interpretation accuracy.</a:t>
            </a:r>
          </a:p>
        </p:txBody>
      </p:sp>
      <p:sp>
        <p:nvSpPr>
          <p:cNvPr id="223" name="recognition-note">
            <a:extLst>
              <a:ext uri="{FF2B5EF4-FFF2-40B4-BE49-F238E27FC236}">
                <a16:creationId xmlns:a16="http://schemas.microsoft.com/office/drawing/2014/main" id="{656EB8B7-BFAC-4F66-8342-24AC5F9FED55}"/>
              </a:ext>
            </a:extLst>
          </p:cNvPr>
          <p:cNvSpPr>
            <a:spLocks noGrp="1"/>
          </p:cNvSpPr>
          <p:nvPr/>
        </p:nvSpPr>
        <p:spPr>
          <a:xfrm>
            <a:off x="20288250" y="29203650"/>
            <a:ext cx="9429750" cy="400050"/>
          </a:xfrm>
          <a:prstGeom prst="rect">
            <a:avLst/>
          </a:prstGeom>
          <a:noFill/>
          <a:ln w="0">
            <a:noFill/>
            <a:prstDash val="solid"/>
          </a:ln>
        </p:spPr>
        <p:txBody>
          <a:bodyPr/>
          <a:lstStyle/>
          <a:p>
            <a:pPr algn="ctr">
              <a:buNone/>
              <a:defRPr sz="1725">
                <a:solidFill>
                  <a:srgbClr val="405372"/>
                </a:solidFill>
                <a:latin typeface="Arial"/>
                <a:ea typeface="Arial"/>
                <a:cs typeface="Arial"/>
              </a:defRPr>
            </a:pPr>
            <a:r>
              <a:rPr>
                <a:solidFill>
                  <a:srgbClr val="405372"/>
                </a:solidFill>
                <a:latin typeface="Arial"/>
                <a:ea typeface="Arial"/>
                <a:cs typeface="Arial"/>
              </a:rPr>
              <a:t>These metrics are easier to explain in the poster session than raw preprocessing row counts.</a:t>
            </a:r>
          </a:p>
        </p:txBody>
      </p:sp>
      <p:sp>
        <p:nvSpPr>
          <p:cNvPr id="234" name="metrics-note-mask">
            <a:extLst>
              <a:ext uri="{FF2B5EF4-FFF2-40B4-BE49-F238E27FC236}">
                <a16:creationId xmlns:a16="http://schemas.microsoft.com/office/drawing/2014/main" id="{EF2C3CB7-1DD7-4C19-9D4F-5768665CF195}"/>
              </a:ext>
            </a:extLst>
          </p:cNvPr>
          <p:cNvSpPr>
            <a:spLocks noGrp="1"/>
          </p:cNvSpPr>
          <p:nvPr/>
        </p:nvSpPr>
        <p:spPr>
          <a:xfrm>
            <a:off x="20193000" y="29070300"/>
            <a:ext cx="9667875" cy="666750"/>
          </a:xfrm>
          <a:prstGeom prst="rect">
            <a:avLst/>
          </a:prstGeom>
          <a:solidFill>
            <a:srgbClr val="EAF3FB"/>
          </a:solidFill>
          <a:ln w="0">
            <a:solidFill>
              <a:srgbClr val="EAF3FB"/>
            </a:solidFill>
            <a:prstDash val="solid"/>
          </a:ln>
        </p:spPr>
        <p:txBody>
          <a:bodyPr/>
          <a:lstStyle/>
          <a:p>
            <a:endParaRPr sz="2000"/>
          </a:p>
        </p:txBody>
      </p:sp>
      <p:sp>
        <p:nvSpPr>
          <p:cNvPr id="245" name="bottom-section-redesign-mask">
            <a:extLst>
              <a:ext uri="{FF2B5EF4-FFF2-40B4-BE49-F238E27FC236}">
                <a16:creationId xmlns:a16="http://schemas.microsoft.com/office/drawing/2014/main" id="{FC3F2636-38EA-4608-8DC4-64FEA7C58A05}"/>
              </a:ext>
            </a:extLst>
          </p:cNvPr>
          <p:cNvSpPr>
            <a:spLocks noGrp="1"/>
          </p:cNvSpPr>
          <p:nvPr/>
        </p:nvSpPr>
        <p:spPr>
          <a:xfrm>
            <a:off x="57150" y="30784800"/>
            <a:ext cx="30289500" cy="7543800"/>
          </a:xfrm>
          <a:prstGeom prst="rect">
            <a:avLst/>
          </a:prstGeom>
          <a:solidFill>
            <a:srgbClr val="EAF3FB"/>
          </a:solidFill>
          <a:ln w="0">
            <a:solidFill>
              <a:srgbClr val="EAF3FB"/>
            </a:solidFill>
            <a:prstDash val="solid"/>
          </a:ln>
        </p:spPr>
        <p:txBody>
          <a:bodyPr/>
          <a:lstStyle/>
          <a:p>
            <a:endParaRPr sz="2000"/>
          </a:p>
        </p:txBody>
      </p:sp>
      <p:sp>
        <p:nvSpPr>
          <p:cNvPr id="246" name="study-workflow-box">
            <a:extLst>
              <a:ext uri="{FF2B5EF4-FFF2-40B4-BE49-F238E27FC236}">
                <a16:creationId xmlns:a16="http://schemas.microsoft.com/office/drawing/2014/main" id="{17A40027-74F7-4D21-B6D2-3B6B227A0B75}"/>
              </a:ext>
            </a:extLst>
          </p:cNvPr>
          <p:cNvSpPr>
            <a:spLocks noGrp="1"/>
          </p:cNvSpPr>
          <p:nvPr/>
        </p:nvSpPr>
        <p:spPr>
          <a:xfrm>
            <a:off x="152400" y="30813375"/>
            <a:ext cx="30175200" cy="7524750"/>
          </a:xfrm>
          <a:prstGeom prst="roundRect">
            <a:avLst>
              <a:gd name="adj" fmla="val 759"/>
            </a:avLst>
          </a:prstGeom>
          <a:solidFill>
            <a:srgbClr val="EAF3FB"/>
          </a:solidFill>
          <a:ln w="28575">
            <a:solidFill>
              <a:srgbClr val="28235C"/>
            </a:solidFill>
            <a:prstDash val="solid"/>
          </a:ln>
        </p:spPr>
        <p:txBody>
          <a:bodyPr/>
          <a:lstStyle/>
          <a:p>
            <a:endParaRPr sz="2000"/>
          </a:p>
        </p:txBody>
      </p:sp>
      <p:sp>
        <p:nvSpPr>
          <p:cNvPr id="247" name="study-workflow-title">
            <a:extLst>
              <a:ext uri="{FF2B5EF4-FFF2-40B4-BE49-F238E27FC236}">
                <a16:creationId xmlns:a16="http://schemas.microsoft.com/office/drawing/2014/main" id="{AD5DF8AA-ABD5-4D68-B0BA-5E82029DE1B7}"/>
              </a:ext>
            </a:extLst>
          </p:cNvPr>
          <p:cNvSpPr>
            <a:spLocks noGrp="1"/>
          </p:cNvSpPr>
          <p:nvPr/>
        </p:nvSpPr>
        <p:spPr>
          <a:xfrm>
            <a:off x="419100" y="31022925"/>
            <a:ext cx="29641800" cy="590550"/>
          </a:xfrm>
          <a:prstGeom prst="rect">
            <a:avLst/>
          </a:prstGeom>
          <a:noFill/>
          <a:ln w="0">
            <a:noFill/>
            <a:prstDash val="solid"/>
          </a:ln>
        </p:spPr>
        <p:txBody>
          <a:bodyPr/>
          <a:lstStyle/>
          <a:p>
            <a:pPr>
              <a:buNone/>
              <a:defRPr sz="3450" b="1">
                <a:solidFill>
                  <a:srgbClr val="28235C"/>
                </a:solidFill>
                <a:latin typeface="Arial"/>
                <a:ea typeface="Arial"/>
                <a:cs typeface="Arial"/>
              </a:defRPr>
            </a:pPr>
            <a:r>
              <a:rPr sz="3600" b="1">
                <a:solidFill>
                  <a:srgbClr val="28235C"/>
                </a:solidFill>
                <a:latin typeface="Arial"/>
                <a:ea typeface="Arial"/>
                <a:cs typeface="Arial"/>
              </a:rPr>
              <a:t>STUDY WORKFLOW &amp; LESSONS LEARNED</a:t>
            </a:r>
          </a:p>
        </p:txBody>
      </p:sp>
      <p:sp>
        <p:nvSpPr>
          <p:cNvPr id="248" name="protocol-card">
            <a:extLst>
              <a:ext uri="{FF2B5EF4-FFF2-40B4-BE49-F238E27FC236}">
                <a16:creationId xmlns:a16="http://schemas.microsoft.com/office/drawing/2014/main" id="{AD691C4B-92A2-4589-ACDE-D238B099DA32}"/>
              </a:ext>
            </a:extLst>
          </p:cNvPr>
          <p:cNvSpPr>
            <a:spLocks noGrp="1"/>
          </p:cNvSpPr>
          <p:nvPr/>
        </p:nvSpPr>
        <p:spPr>
          <a:xfrm>
            <a:off x="533400" y="31794450"/>
            <a:ext cx="8953500" cy="2428875"/>
          </a:xfrm>
          <a:prstGeom prst="roundRect">
            <a:avLst>
              <a:gd name="adj" fmla="val 2353"/>
            </a:avLst>
          </a:prstGeom>
          <a:solidFill>
            <a:srgbClr val="FFFFFF"/>
          </a:solidFill>
          <a:ln w="19050">
            <a:solidFill>
              <a:srgbClr val="9BB6D3"/>
            </a:solidFill>
            <a:prstDash val="solid"/>
          </a:ln>
        </p:spPr>
        <p:txBody>
          <a:bodyPr/>
          <a:lstStyle/>
          <a:p>
            <a:endParaRPr sz="2000"/>
          </a:p>
        </p:txBody>
      </p:sp>
      <p:sp>
        <p:nvSpPr>
          <p:cNvPr id="249" name="protocol-accent">
            <a:extLst>
              <a:ext uri="{FF2B5EF4-FFF2-40B4-BE49-F238E27FC236}">
                <a16:creationId xmlns:a16="http://schemas.microsoft.com/office/drawing/2014/main" id="{85859AC4-FA8F-46F7-A90E-4CA1F5291484}"/>
              </a:ext>
            </a:extLst>
          </p:cNvPr>
          <p:cNvSpPr>
            <a:spLocks noGrp="1"/>
          </p:cNvSpPr>
          <p:nvPr/>
        </p:nvSpPr>
        <p:spPr>
          <a:xfrm>
            <a:off x="533400" y="31794450"/>
            <a:ext cx="8953500" cy="114300"/>
          </a:xfrm>
          <a:prstGeom prst="rect">
            <a:avLst/>
          </a:prstGeom>
          <a:solidFill>
            <a:srgbClr val="14A098"/>
          </a:solidFill>
          <a:ln w="0">
            <a:solidFill>
              <a:srgbClr val="14A098"/>
            </a:solidFill>
            <a:prstDash val="solid"/>
          </a:ln>
        </p:spPr>
        <p:txBody>
          <a:bodyPr/>
          <a:lstStyle/>
          <a:p>
            <a:endParaRPr sz="2000"/>
          </a:p>
        </p:txBody>
      </p:sp>
      <p:sp>
        <p:nvSpPr>
          <p:cNvPr id="250" name="protocol-title">
            <a:extLst>
              <a:ext uri="{FF2B5EF4-FFF2-40B4-BE49-F238E27FC236}">
                <a16:creationId xmlns:a16="http://schemas.microsoft.com/office/drawing/2014/main" id="{B3FB243F-1CFC-4336-A399-94DFC3184B45}"/>
              </a:ext>
            </a:extLst>
          </p:cNvPr>
          <p:cNvSpPr>
            <a:spLocks noGrp="1"/>
          </p:cNvSpPr>
          <p:nvPr/>
        </p:nvSpPr>
        <p:spPr>
          <a:xfrm>
            <a:off x="762000" y="32061150"/>
            <a:ext cx="8496300" cy="400050"/>
          </a:xfrm>
          <a:prstGeom prst="rect">
            <a:avLst/>
          </a:prstGeom>
          <a:noFill/>
          <a:ln w="0">
            <a:noFill/>
            <a:prstDash val="solid"/>
          </a:ln>
        </p:spPr>
        <p:txBody>
          <a:bodyPr/>
          <a:lstStyle/>
          <a:p>
            <a:pPr>
              <a:buNone/>
              <a:defRPr sz="2325" b="1">
                <a:solidFill>
                  <a:srgbClr val="28235C"/>
                </a:solidFill>
                <a:latin typeface="Arial"/>
                <a:ea typeface="Arial"/>
                <a:cs typeface="Arial"/>
              </a:defRPr>
            </a:pPr>
            <a:r>
              <a:rPr sz="2400" b="1">
                <a:solidFill>
                  <a:srgbClr val="28235C"/>
                </a:solidFill>
                <a:latin typeface="Arial"/>
                <a:ea typeface="Arial"/>
                <a:cs typeface="Arial"/>
              </a:rPr>
              <a:t>1. Controlled Experiment</a:t>
            </a:r>
          </a:p>
        </p:txBody>
      </p:sp>
      <p:sp>
        <p:nvSpPr>
          <p:cNvPr id="251" name="protocol-body">
            <a:extLst>
              <a:ext uri="{FF2B5EF4-FFF2-40B4-BE49-F238E27FC236}">
                <a16:creationId xmlns:a16="http://schemas.microsoft.com/office/drawing/2014/main" id="{1D8C8543-6555-4C6B-8CF3-E42852C79282}"/>
              </a:ext>
            </a:extLst>
          </p:cNvPr>
          <p:cNvSpPr>
            <a:spLocks noGrp="1"/>
          </p:cNvSpPr>
          <p:nvPr/>
        </p:nvSpPr>
        <p:spPr>
          <a:xfrm>
            <a:off x="762000" y="32575500"/>
            <a:ext cx="8496300" cy="1438275"/>
          </a:xfrm>
          <a:prstGeom prst="rect">
            <a:avLst/>
          </a:prstGeom>
          <a:noFill/>
          <a:ln w="0">
            <a:noFill/>
            <a:prstDash val="solid"/>
          </a:ln>
        </p:spPr>
        <p:txBody>
          <a:bodyPr/>
          <a:lstStyle/>
          <a:p>
            <a:pPr>
              <a:buNone/>
              <a:defRPr sz="1950">
                <a:solidFill>
                  <a:srgbClr val="121426"/>
                </a:solidFill>
                <a:latin typeface="Arial"/>
                <a:ea typeface="Arial"/>
                <a:cs typeface="Arial"/>
              </a:defRPr>
            </a:pPr>
            <a:r>
              <a:rPr sz="2000">
                <a:solidFill>
                  <a:srgbClr val="121426"/>
                </a:solidFill>
                <a:latin typeface="Arial"/>
                <a:ea typeface="Arial"/>
                <a:cs typeface="Arial"/>
              </a:rPr>
              <a:t>• Participants watched eight dog videos under a fixed protocol.</a:t>
            </a:r>
          </a:p>
          <a:p>
            <a:pPr>
              <a:buNone/>
              <a:defRPr sz="1950">
                <a:solidFill>
                  <a:srgbClr val="121426"/>
                </a:solidFill>
                <a:latin typeface="Arial"/>
                <a:ea typeface="Arial"/>
                <a:cs typeface="Arial"/>
              </a:defRPr>
            </a:pPr>
            <a:r>
              <a:rPr sz="2000">
                <a:solidFill>
                  <a:srgbClr val="121426"/>
                </a:solidFill>
                <a:latin typeface="Arial"/>
                <a:ea typeface="Arial"/>
                <a:cs typeface="Arial"/>
              </a:rPr>
              <a:t>• Tobii Pro Lab recorded gaze behavior during each stimulus.</a:t>
            </a:r>
          </a:p>
          <a:p>
            <a:pPr>
              <a:buNone/>
              <a:defRPr sz="1950">
                <a:solidFill>
                  <a:srgbClr val="121426"/>
                </a:solidFill>
                <a:latin typeface="Arial"/>
                <a:ea typeface="Arial"/>
                <a:cs typeface="Arial"/>
              </a:defRPr>
            </a:pPr>
            <a:r>
              <a:rPr sz="2000">
                <a:solidFill>
                  <a:srgbClr val="121426"/>
                </a:solidFill>
                <a:latin typeface="Arial"/>
                <a:ea typeface="Arial"/>
                <a:cs typeface="Arial"/>
              </a:rPr>
              <a:t>• After every video, participants answered emotion, situation and cue questions.</a:t>
            </a:r>
          </a:p>
        </p:txBody>
      </p:sp>
      <p:sp>
        <p:nvSpPr>
          <p:cNvPr id="252" name="analysis-card">
            <a:extLst>
              <a:ext uri="{FF2B5EF4-FFF2-40B4-BE49-F238E27FC236}">
                <a16:creationId xmlns:a16="http://schemas.microsoft.com/office/drawing/2014/main" id="{34E9AF6C-284D-4C09-8BA4-F54DB6BE8FF6}"/>
              </a:ext>
            </a:extLst>
          </p:cNvPr>
          <p:cNvSpPr>
            <a:spLocks noGrp="1"/>
          </p:cNvSpPr>
          <p:nvPr/>
        </p:nvSpPr>
        <p:spPr>
          <a:xfrm>
            <a:off x="10763250" y="31794450"/>
            <a:ext cx="8953500" cy="2428875"/>
          </a:xfrm>
          <a:prstGeom prst="roundRect">
            <a:avLst>
              <a:gd name="adj" fmla="val 2353"/>
            </a:avLst>
          </a:prstGeom>
          <a:solidFill>
            <a:srgbClr val="FFFFFF"/>
          </a:solidFill>
          <a:ln w="19050">
            <a:solidFill>
              <a:srgbClr val="9BB6D3"/>
            </a:solidFill>
            <a:prstDash val="solid"/>
          </a:ln>
        </p:spPr>
        <p:txBody>
          <a:bodyPr/>
          <a:lstStyle/>
          <a:p>
            <a:endParaRPr sz="2000"/>
          </a:p>
        </p:txBody>
      </p:sp>
      <p:sp>
        <p:nvSpPr>
          <p:cNvPr id="253" name="analysis-accent">
            <a:extLst>
              <a:ext uri="{FF2B5EF4-FFF2-40B4-BE49-F238E27FC236}">
                <a16:creationId xmlns:a16="http://schemas.microsoft.com/office/drawing/2014/main" id="{6246991E-CB5D-440E-AE18-B0A3EB0E228B}"/>
              </a:ext>
            </a:extLst>
          </p:cNvPr>
          <p:cNvSpPr>
            <a:spLocks noGrp="1"/>
          </p:cNvSpPr>
          <p:nvPr/>
        </p:nvSpPr>
        <p:spPr>
          <a:xfrm>
            <a:off x="10763250" y="31794450"/>
            <a:ext cx="8953500" cy="114300"/>
          </a:xfrm>
          <a:prstGeom prst="rect">
            <a:avLst/>
          </a:prstGeom>
          <a:solidFill>
            <a:srgbClr val="3975A8"/>
          </a:solidFill>
          <a:ln w="0">
            <a:solidFill>
              <a:srgbClr val="3975A8"/>
            </a:solidFill>
            <a:prstDash val="solid"/>
          </a:ln>
        </p:spPr>
        <p:txBody>
          <a:bodyPr/>
          <a:lstStyle/>
          <a:p>
            <a:endParaRPr sz="2000"/>
          </a:p>
        </p:txBody>
      </p:sp>
      <p:sp>
        <p:nvSpPr>
          <p:cNvPr id="254" name="analysis-title">
            <a:extLst>
              <a:ext uri="{FF2B5EF4-FFF2-40B4-BE49-F238E27FC236}">
                <a16:creationId xmlns:a16="http://schemas.microsoft.com/office/drawing/2014/main" id="{59BC9DE6-7E34-41BA-8CB4-AE8FCD3330F5}"/>
              </a:ext>
            </a:extLst>
          </p:cNvPr>
          <p:cNvSpPr>
            <a:spLocks noGrp="1"/>
          </p:cNvSpPr>
          <p:nvPr/>
        </p:nvSpPr>
        <p:spPr>
          <a:xfrm>
            <a:off x="10991850" y="32061150"/>
            <a:ext cx="8496300" cy="400050"/>
          </a:xfrm>
          <a:prstGeom prst="rect">
            <a:avLst/>
          </a:prstGeom>
          <a:noFill/>
          <a:ln w="0">
            <a:noFill/>
            <a:prstDash val="solid"/>
          </a:ln>
        </p:spPr>
        <p:txBody>
          <a:bodyPr/>
          <a:lstStyle/>
          <a:p>
            <a:pPr>
              <a:buNone/>
              <a:defRPr sz="2325" b="1">
                <a:solidFill>
                  <a:srgbClr val="28235C"/>
                </a:solidFill>
                <a:latin typeface="Arial"/>
                <a:ea typeface="Arial"/>
                <a:cs typeface="Arial"/>
              </a:defRPr>
            </a:pPr>
            <a:r>
              <a:rPr sz="2400" b="1">
                <a:solidFill>
                  <a:srgbClr val="28235C"/>
                </a:solidFill>
                <a:latin typeface="Arial"/>
                <a:ea typeface="Arial"/>
                <a:cs typeface="Arial"/>
              </a:rPr>
              <a:t>2. Data Analysis</a:t>
            </a:r>
          </a:p>
        </p:txBody>
      </p:sp>
      <p:sp>
        <p:nvSpPr>
          <p:cNvPr id="255" name="analysis-body">
            <a:extLst>
              <a:ext uri="{FF2B5EF4-FFF2-40B4-BE49-F238E27FC236}">
                <a16:creationId xmlns:a16="http://schemas.microsoft.com/office/drawing/2014/main" id="{FB03326B-EF28-485F-87F5-28150B7EF41C}"/>
              </a:ext>
            </a:extLst>
          </p:cNvPr>
          <p:cNvSpPr>
            <a:spLocks noGrp="1"/>
          </p:cNvSpPr>
          <p:nvPr/>
        </p:nvSpPr>
        <p:spPr>
          <a:xfrm>
            <a:off x="10991850" y="32575500"/>
            <a:ext cx="8496300" cy="1438275"/>
          </a:xfrm>
          <a:prstGeom prst="rect">
            <a:avLst/>
          </a:prstGeom>
          <a:noFill/>
          <a:ln w="0">
            <a:noFill/>
            <a:prstDash val="solid"/>
          </a:ln>
        </p:spPr>
        <p:txBody>
          <a:bodyPr/>
          <a:lstStyle/>
          <a:p>
            <a:pPr>
              <a:buNone/>
              <a:defRPr sz="1950">
                <a:solidFill>
                  <a:srgbClr val="121426"/>
                </a:solidFill>
                <a:latin typeface="Arial"/>
                <a:ea typeface="Arial"/>
                <a:cs typeface="Arial"/>
              </a:defRPr>
            </a:pPr>
            <a:r>
              <a:rPr sz="2000" dirty="0">
                <a:solidFill>
                  <a:srgbClr val="121426"/>
                </a:solidFill>
                <a:latin typeface="Arial"/>
                <a:ea typeface="Arial"/>
                <a:cs typeface="Arial"/>
              </a:rPr>
              <a:t>• Gaze exports were mapped into five AOIs: </a:t>
            </a:r>
            <a:r>
              <a:rPr sz="2000" dirty="0" err="1">
                <a:solidFill>
                  <a:srgbClr val="121426"/>
                </a:solidFill>
                <a:latin typeface="Arial"/>
                <a:ea typeface="Arial"/>
                <a:cs typeface="Arial"/>
              </a:rPr>
              <a:t>Face_TOP</a:t>
            </a:r>
            <a:r>
              <a:rPr sz="2000" dirty="0">
                <a:solidFill>
                  <a:srgbClr val="121426"/>
                </a:solidFill>
                <a:latin typeface="Arial"/>
                <a:ea typeface="Arial"/>
                <a:cs typeface="Arial"/>
              </a:rPr>
              <a:t>, </a:t>
            </a:r>
            <a:r>
              <a:rPr sz="2000" dirty="0" err="1">
                <a:solidFill>
                  <a:srgbClr val="121426"/>
                </a:solidFill>
                <a:latin typeface="Arial"/>
                <a:ea typeface="Arial"/>
                <a:cs typeface="Arial"/>
              </a:rPr>
              <a:t>Face_BOTTOM</a:t>
            </a:r>
            <a:r>
              <a:rPr sz="2000" dirty="0">
                <a:solidFill>
                  <a:srgbClr val="121426"/>
                </a:solidFill>
                <a:latin typeface="Arial"/>
                <a:ea typeface="Arial"/>
                <a:cs typeface="Arial"/>
              </a:rPr>
              <a:t>, Torso, Tail and Legs.</a:t>
            </a:r>
          </a:p>
          <a:p>
            <a:pPr>
              <a:buNone/>
              <a:defRPr sz="1950">
                <a:solidFill>
                  <a:srgbClr val="121426"/>
                </a:solidFill>
                <a:latin typeface="Arial"/>
                <a:ea typeface="Arial"/>
                <a:cs typeface="Arial"/>
              </a:defRPr>
            </a:pPr>
            <a:r>
              <a:rPr sz="2000" dirty="0">
                <a:solidFill>
                  <a:srgbClr val="121426"/>
                </a:solidFill>
                <a:latin typeface="Arial"/>
                <a:ea typeface="Arial"/>
                <a:cs typeface="Arial"/>
              </a:rPr>
              <a:t>• The analysis compared fixation patterns, </a:t>
            </a:r>
            <a:r>
              <a:rPr sz="2000" dirty="0" err="1">
                <a:solidFill>
                  <a:srgbClr val="121426"/>
                </a:solidFill>
                <a:latin typeface="Arial"/>
                <a:ea typeface="Arial"/>
                <a:cs typeface="Arial"/>
              </a:rPr>
              <a:t>scanpaths</a:t>
            </a:r>
            <a:r>
              <a:rPr sz="2000" dirty="0">
                <a:solidFill>
                  <a:srgbClr val="121426"/>
                </a:solidFill>
                <a:latin typeface="Arial"/>
                <a:ea typeface="Arial"/>
                <a:cs typeface="Arial"/>
              </a:rPr>
              <a:t> and recognition accuracy.</a:t>
            </a:r>
          </a:p>
          <a:p>
            <a:pPr>
              <a:buNone/>
              <a:defRPr sz="1950">
                <a:solidFill>
                  <a:srgbClr val="121426"/>
                </a:solidFill>
                <a:latin typeface="Arial"/>
                <a:ea typeface="Arial"/>
                <a:cs typeface="Arial"/>
              </a:defRPr>
            </a:pPr>
            <a:r>
              <a:rPr sz="2000" dirty="0">
                <a:solidFill>
                  <a:srgbClr val="121426"/>
                </a:solidFill>
                <a:latin typeface="Arial"/>
                <a:ea typeface="Arial"/>
                <a:cs typeface="Arial"/>
              </a:rPr>
              <a:t>• Questionnaire answers were used to compare reported cues with actual gaze behavior.</a:t>
            </a:r>
          </a:p>
        </p:txBody>
      </p:sp>
      <p:sp>
        <p:nvSpPr>
          <p:cNvPr id="256" name="lessons-card">
            <a:extLst>
              <a:ext uri="{FF2B5EF4-FFF2-40B4-BE49-F238E27FC236}">
                <a16:creationId xmlns:a16="http://schemas.microsoft.com/office/drawing/2014/main" id="{2AC35303-3BF3-43BA-9111-26D3F1C95424}"/>
              </a:ext>
            </a:extLst>
          </p:cNvPr>
          <p:cNvSpPr>
            <a:spLocks noGrp="1"/>
          </p:cNvSpPr>
          <p:nvPr/>
        </p:nvSpPr>
        <p:spPr>
          <a:xfrm>
            <a:off x="20993100" y="31794450"/>
            <a:ext cx="8858250" cy="2428875"/>
          </a:xfrm>
          <a:prstGeom prst="roundRect">
            <a:avLst>
              <a:gd name="adj" fmla="val 2353"/>
            </a:avLst>
          </a:prstGeom>
          <a:solidFill>
            <a:srgbClr val="FFFFFF"/>
          </a:solidFill>
          <a:ln w="19050">
            <a:solidFill>
              <a:srgbClr val="9BB6D3"/>
            </a:solidFill>
            <a:prstDash val="solid"/>
          </a:ln>
        </p:spPr>
        <p:txBody>
          <a:bodyPr/>
          <a:lstStyle/>
          <a:p>
            <a:endParaRPr sz="2000"/>
          </a:p>
        </p:txBody>
      </p:sp>
      <p:sp>
        <p:nvSpPr>
          <p:cNvPr id="257" name="lessons-accent">
            <a:extLst>
              <a:ext uri="{FF2B5EF4-FFF2-40B4-BE49-F238E27FC236}">
                <a16:creationId xmlns:a16="http://schemas.microsoft.com/office/drawing/2014/main" id="{17C94A8A-9430-4E22-B7EF-A5B359FD3058}"/>
              </a:ext>
            </a:extLst>
          </p:cNvPr>
          <p:cNvSpPr>
            <a:spLocks noGrp="1"/>
          </p:cNvSpPr>
          <p:nvPr/>
        </p:nvSpPr>
        <p:spPr>
          <a:xfrm>
            <a:off x="20993100" y="31794450"/>
            <a:ext cx="8858250" cy="114300"/>
          </a:xfrm>
          <a:prstGeom prst="rect">
            <a:avLst/>
          </a:prstGeom>
          <a:solidFill>
            <a:srgbClr val="F27C38"/>
          </a:solidFill>
          <a:ln w="0">
            <a:solidFill>
              <a:srgbClr val="F27C38"/>
            </a:solidFill>
            <a:prstDash val="solid"/>
          </a:ln>
        </p:spPr>
        <p:txBody>
          <a:bodyPr/>
          <a:lstStyle/>
          <a:p>
            <a:endParaRPr sz="2000"/>
          </a:p>
        </p:txBody>
      </p:sp>
      <p:sp>
        <p:nvSpPr>
          <p:cNvPr id="258" name="lessons-title">
            <a:extLst>
              <a:ext uri="{FF2B5EF4-FFF2-40B4-BE49-F238E27FC236}">
                <a16:creationId xmlns:a16="http://schemas.microsoft.com/office/drawing/2014/main" id="{3969E4B5-272D-401A-9EA8-9C72CD92AD53}"/>
              </a:ext>
            </a:extLst>
          </p:cNvPr>
          <p:cNvSpPr>
            <a:spLocks noGrp="1"/>
          </p:cNvSpPr>
          <p:nvPr/>
        </p:nvSpPr>
        <p:spPr>
          <a:xfrm>
            <a:off x="21221700" y="32061150"/>
            <a:ext cx="8401050" cy="400050"/>
          </a:xfrm>
          <a:prstGeom prst="rect">
            <a:avLst/>
          </a:prstGeom>
          <a:noFill/>
          <a:ln w="0">
            <a:noFill/>
            <a:prstDash val="solid"/>
          </a:ln>
        </p:spPr>
        <p:txBody>
          <a:bodyPr/>
          <a:lstStyle/>
          <a:p>
            <a:pPr>
              <a:buNone/>
              <a:defRPr sz="2325" b="1">
                <a:solidFill>
                  <a:srgbClr val="28235C"/>
                </a:solidFill>
                <a:latin typeface="Arial"/>
                <a:ea typeface="Arial"/>
                <a:cs typeface="Arial"/>
              </a:defRPr>
            </a:pPr>
            <a:r>
              <a:rPr sz="2400" b="1">
                <a:solidFill>
                  <a:srgbClr val="28235C"/>
                </a:solidFill>
                <a:latin typeface="Arial"/>
                <a:ea typeface="Arial"/>
                <a:cs typeface="Arial"/>
              </a:rPr>
              <a:t>3. Constraints Addressed</a:t>
            </a:r>
          </a:p>
        </p:txBody>
      </p:sp>
      <p:sp>
        <p:nvSpPr>
          <p:cNvPr id="259" name="lessons-body">
            <a:extLst>
              <a:ext uri="{FF2B5EF4-FFF2-40B4-BE49-F238E27FC236}">
                <a16:creationId xmlns:a16="http://schemas.microsoft.com/office/drawing/2014/main" id="{93F14C5B-E175-45E0-A1BC-648CC9D8CCC3}"/>
              </a:ext>
            </a:extLst>
          </p:cNvPr>
          <p:cNvSpPr>
            <a:spLocks noGrp="1"/>
          </p:cNvSpPr>
          <p:nvPr/>
        </p:nvSpPr>
        <p:spPr>
          <a:xfrm>
            <a:off x="21221700" y="32575500"/>
            <a:ext cx="8401050" cy="1438275"/>
          </a:xfrm>
          <a:prstGeom prst="rect">
            <a:avLst/>
          </a:prstGeom>
          <a:noFill/>
          <a:ln w="0">
            <a:noFill/>
            <a:prstDash val="solid"/>
          </a:ln>
        </p:spPr>
        <p:txBody>
          <a:bodyPr/>
          <a:lstStyle/>
          <a:p>
            <a:pPr>
              <a:buNone/>
              <a:defRPr sz="1950">
                <a:solidFill>
                  <a:srgbClr val="121426"/>
                </a:solidFill>
                <a:latin typeface="Arial"/>
                <a:ea typeface="Arial"/>
                <a:cs typeface="Arial"/>
              </a:defRPr>
            </a:pPr>
            <a:r>
              <a:rPr sz="2000">
                <a:solidFill>
                  <a:srgbClr val="121426"/>
                </a:solidFill>
                <a:latin typeface="Arial"/>
                <a:ea typeface="Arial"/>
                <a:cs typeface="Arial"/>
              </a:rPr>
              <a:t>• Calibration quality was affected by lighting, head movement and blinking.</a:t>
            </a:r>
          </a:p>
          <a:p>
            <a:pPr>
              <a:buNone/>
              <a:defRPr sz="1950">
                <a:solidFill>
                  <a:srgbClr val="121426"/>
                </a:solidFill>
                <a:latin typeface="Arial"/>
                <a:ea typeface="Arial"/>
                <a:cs typeface="Arial"/>
              </a:defRPr>
            </a:pPr>
            <a:r>
              <a:rPr sz="2000">
                <a:solidFill>
                  <a:srgbClr val="121426"/>
                </a:solidFill>
                <a:latin typeface="Arial"/>
                <a:ea typeface="Arial"/>
                <a:cs typeface="Arial"/>
              </a:rPr>
              <a:t>• Dynamic videos made fine-grained AOI labeling harder than static images.</a:t>
            </a:r>
          </a:p>
          <a:p>
            <a:pPr>
              <a:buNone/>
              <a:defRPr sz="1950">
                <a:solidFill>
                  <a:srgbClr val="121426"/>
                </a:solidFill>
                <a:latin typeface="Arial"/>
                <a:ea typeface="Arial"/>
                <a:cs typeface="Arial"/>
              </a:defRPr>
            </a:pPr>
            <a:r>
              <a:rPr sz="2000">
                <a:solidFill>
                  <a:srgbClr val="121426"/>
                </a:solidFill>
                <a:latin typeface="Arial"/>
                <a:ea typeface="Arial"/>
                <a:cs typeface="Arial"/>
              </a:rPr>
              <a:t>• The sample size and gender imbalance limit the strength of conclusions.</a:t>
            </a:r>
          </a:p>
        </p:txBody>
      </p:sp>
      <p:sp>
        <p:nvSpPr>
          <p:cNvPr id="260" name="pipeline-title">
            <a:extLst>
              <a:ext uri="{FF2B5EF4-FFF2-40B4-BE49-F238E27FC236}">
                <a16:creationId xmlns:a16="http://schemas.microsoft.com/office/drawing/2014/main" id="{C391A722-6FF9-4930-825C-2F30F511433F}"/>
              </a:ext>
            </a:extLst>
          </p:cNvPr>
          <p:cNvSpPr>
            <a:spLocks noGrp="1"/>
          </p:cNvSpPr>
          <p:nvPr/>
        </p:nvSpPr>
        <p:spPr>
          <a:xfrm>
            <a:off x="533400" y="34766250"/>
            <a:ext cx="14287500" cy="40005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a:solidFill>
                  <a:srgbClr val="121426"/>
                </a:solidFill>
                <a:latin typeface="Arial"/>
                <a:ea typeface="Arial"/>
                <a:cs typeface="Arial"/>
              </a:rPr>
              <a:t>Analysis pipeline used in the project</a:t>
            </a:r>
          </a:p>
        </p:txBody>
      </p:sp>
      <p:sp>
        <p:nvSpPr>
          <p:cNvPr id="261" name="pipeline-step-1">
            <a:extLst>
              <a:ext uri="{FF2B5EF4-FFF2-40B4-BE49-F238E27FC236}">
                <a16:creationId xmlns:a16="http://schemas.microsoft.com/office/drawing/2014/main" id="{9EE7ED7B-6BEB-49A0-A99F-3BA5552B986B}"/>
              </a:ext>
            </a:extLst>
          </p:cNvPr>
          <p:cNvSpPr>
            <a:spLocks noGrp="1"/>
          </p:cNvSpPr>
          <p:nvPr/>
        </p:nvSpPr>
        <p:spPr>
          <a:xfrm>
            <a:off x="609600" y="35337750"/>
            <a:ext cx="4095750" cy="904875"/>
          </a:xfrm>
          <a:prstGeom prst="roundRect">
            <a:avLst>
              <a:gd name="adj" fmla="val 6316"/>
            </a:avLst>
          </a:prstGeom>
          <a:solidFill>
            <a:srgbClr val="FFFFFF"/>
          </a:solidFill>
          <a:ln w="19050">
            <a:solidFill>
              <a:srgbClr val="9BB6D3"/>
            </a:solidFill>
            <a:prstDash val="solid"/>
          </a:ln>
        </p:spPr>
        <p:txBody>
          <a:bodyPr/>
          <a:lstStyle/>
          <a:p>
            <a:endParaRPr sz="2000"/>
          </a:p>
        </p:txBody>
      </p:sp>
      <p:sp>
        <p:nvSpPr>
          <p:cNvPr id="262" name="pipeline-step-1-dot">
            <a:extLst>
              <a:ext uri="{FF2B5EF4-FFF2-40B4-BE49-F238E27FC236}">
                <a16:creationId xmlns:a16="http://schemas.microsoft.com/office/drawing/2014/main" id="{5579D4F0-4659-4208-B972-2C25280E98CF}"/>
              </a:ext>
            </a:extLst>
          </p:cNvPr>
          <p:cNvSpPr>
            <a:spLocks noGrp="1"/>
          </p:cNvSpPr>
          <p:nvPr/>
        </p:nvSpPr>
        <p:spPr>
          <a:xfrm>
            <a:off x="781050" y="35547300"/>
            <a:ext cx="476250" cy="476250"/>
          </a:xfrm>
          <a:prstGeom prst="ellipse">
            <a:avLst/>
          </a:prstGeom>
          <a:solidFill>
            <a:srgbClr val="14A098"/>
          </a:solidFill>
          <a:ln w="0">
            <a:solidFill>
              <a:srgbClr val="14A098"/>
            </a:solidFill>
            <a:prstDash val="solid"/>
          </a:ln>
        </p:spPr>
        <p:txBody>
          <a:bodyPr/>
          <a:lstStyle/>
          <a:p>
            <a:endParaRPr sz="2000"/>
          </a:p>
        </p:txBody>
      </p:sp>
      <p:sp>
        <p:nvSpPr>
          <p:cNvPr id="263" name="pipeline-step-1-num">
            <a:extLst>
              <a:ext uri="{FF2B5EF4-FFF2-40B4-BE49-F238E27FC236}">
                <a16:creationId xmlns:a16="http://schemas.microsoft.com/office/drawing/2014/main" id="{3DE21658-D90C-4E38-816D-CA907EB32811}"/>
              </a:ext>
            </a:extLst>
          </p:cNvPr>
          <p:cNvSpPr>
            <a:spLocks noGrp="1"/>
          </p:cNvSpPr>
          <p:nvPr/>
        </p:nvSpPr>
        <p:spPr>
          <a:xfrm>
            <a:off x="781050" y="35604450"/>
            <a:ext cx="476250" cy="323850"/>
          </a:xfrm>
          <a:prstGeom prst="rect">
            <a:avLst/>
          </a:prstGeom>
          <a:noFill/>
          <a:ln w="0">
            <a:noFill/>
            <a:prstDash val="solid"/>
          </a:ln>
        </p:spPr>
        <p:txBody>
          <a:bodyPr/>
          <a:lstStyle/>
          <a:p>
            <a:pPr algn="ctr">
              <a:buNone/>
              <a:defRPr sz="1950" b="1">
                <a:solidFill>
                  <a:srgbClr val="FFFFFF"/>
                </a:solidFill>
                <a:latin typeface="Arial"/>
                <a:ea typeface="Arial"/>
                <a:cs typeface="Arial"/>
              </a:defRPr>
            </a:pPr>
            <a:r>
              <a:rPr sz="2000" b="1">
                <a:solidFill>
                  <a:srgbClr val="FFFFFF"/>
                </a:solidFill>
                <a:latin typeface="Arial"/>
                <a:ea typeface="Arial"/>
                <a:cs typeface="Arial"/>
              </a:rPr>
              <a:t>1</a:t>
            </a:r>
          </a:p>
        </p:txBody>
      </p:sp>
      <p:sp>
        <p:nvSpPr>
          <p:cNvPr id="264" name="pipeline-step-1-label">
            <a:extLst>
              <a:ext uri="{FF2B5EF4-FFF2-40B4-BE49-F238E27FC236}">
                <a16:creationId xmlns:a16="http://schemas.microsoft.com/office/drawing/2014/main" id="{8DA6043C-181B-4030-BB48-0E7D48DE6099}"/>
              </a:ext>
            </a:extLst>
          </p:cNvPr>
          <p:cNvSpPr>
            <a:spLocks noGrp="1"/>
          </p:cNvSpPr>
          <p:nvPr/>
        </p:nvSpPr>
        <p:spPr>
          <a:xfrm>
            <a:off x="1390650" y="35528250"/>
            <a:ext cx="3105150" cy="552450"/>
          </a:xfrm>
          <a:prstGeom prst="rect">
            <a:avLst/>
          </a:prstGeom>
          <a:noFill/>
          <a:ln w="0">
            <a:noFill/>
            <a:prstDash val="solid"/>
          </a:ln>
        </p:spPr>
        <p:txBody>
          <a:bodyPr/>
          <a:lstStyle/>
          <a:p>
            <a:pPr>
              <a:buNone/>
              <a:defRPr sz="1800" b="1">
                <a:solidFill>
                  <a:srgbClr val="121426"/>
                </a:solidFill>
                <a:latin typeface="Arial"/>
                <a:ea typeface="Arial"/>
                <a:cs typeface="Arial"/>
              </a:defRPr>
            </a:pPr>
            <a:r>
              <a:rPr sz="2000" b="1">
                <a:solidFill>
                  <a:srgbClr val="121426"/>
                </a:solidFill>
                <a:latin typeface="Arial"/>
                <a:ea typeface="Arial"/>
                <a:cs typeface="Arial"/>
              </a:rPr>
              <a:t>Collect gaze recordings</a:t>
            </a:r>
          </a:p>
          <a:p>
            <a:pPr>
              <a:buNone/>
              <a:defRPr sz="1800" b="1">
                <a:solidFill>
                  <a:srgbClr val="121426"/>
                </a:solidFill>
                <a:latin typeface="Arial"/>
                <a:ea typeface="Arial"/>
                <a:cs typeface="Arial"/>
              </a:defRPr>
            </a:pPr>
            <a:r>
              <a:rPr sz="2000" b="1">
                <a:solidFill>
                  <a:srgbClr val="121426"/>
                </a:solidFill>
                <a:latin typeface="Arial"/>
                <a:ea typeface="Arial"/>
                <a:cs typeface="Arial"/>
              </a:rPr>
              <a:t>and questionnaire answers</a:t>
            </a:r>
          </a:p>
        </p:txBody>
      </p:sp>
      <p:sp>
        <p:nvSpPr>
          <p:cNvPr id="265" name="pipeline-arrow-1">
            <a:extLst>
              <a:ext uri="{FF2B5EF4-FFF2-40B4-BE49-F238E27FC236}">
                <a16:creationId xmlns:a16="http://schemas.microsoft.com/office/drawing/2014/main" id="{524DF650-CF27-4E48-B08A-70EE7ECD395F}"/>
              </a:ext>
            </a:extLst>
          </p:cNvPr>
          <p:cNvSpPr>
            <a:spLocks noGrp="1"/>
          </p:cNvSpPr>
          <p:nvPr/>
        </p:nvSpPr>
        <p:spPr>
          <a:xfrm>
            <a:off x="4953000" y="35585400"/>
            <a:ext cx="857250" cy="400050"/>
          </a:xfrm>
          <a:prstGeom prst="rightArrow">
            <a:avLst/>
          </a:prstGeom>
          <a:solidFill>
            <a:srgbClr val="14A098"/>
          </a:solidFill>
          <a:ln w="0">
            <a:solidFill>
              <a:srgbClr val="14A098"/>
            </a:solidFill>
            <a:prstDash val="solid"/>
          </a:ln>
        </p:spPr>
        <p:txBody>
          <a:bodyPr/>
          <a:lstStyle/>
          <a:p>
            <a:endParaRPr sz="2000"/>
          </a:p>
        </p:txBody>
      </p:sp>
      <p:sp>
        <p:nvSpPr>
          <p:cNvPr id="266" name="pipeline-step-2">
            <a:extLst>
              <a:ext uri="{FF2B5EF4-FFF2-40B4-BE49-F238E27FC236}">
                <a16:creationId xmlns:a16="http://schemas.microsoft.com/office/drawing/2014/main" id="{CD799371-49A3-4096-8223-8EF7ED3BB119}"/>
              </a:ext>
            </a:extLst>
          </p:cNvPr>
          <p:cNvSpPr>
            <a:spLocks noGrp="1"/>
          </p:cNvSpPr>
          <p:nvPr/>
        </p:nvSpPr>
        <p:spPr>
          <a:xfrm>
            <a:off x="6048375" y="35337750"/>
            <a:ext cx="4095750" cy="904875"/>
          </a:xfrm>
          <a:prstGeom prst="roundRect">
            <a:avLst>
              <a:gd name="adj" fmla="val 6316"/>
            </a:avLst>
          </a:prstGeom>
          <a:solidFill>
            <a:srgbClr val="FFFFFF"/>
          </a:solidFill>
          <a:ln w="19050">
            <a:solidFill>
              <a:srgbClr val="9BB6D3"/>
            </a:solidFill>
            <a:prstDash val="solid"/>
          </a:ln>
        </p:spPr>
        <p:txBody>
          <a:bodyPr/>
          <a:lstStyle/>
          <a:p>
            <a:endParaRPr sz="2000"/>
          </a:p>
        </p:txBody>
      </p:sp>
      <p:sp>
        <p:nvSpPr>
          <p:cNvPr id="267" name="pipeline-step-2-dot">
            <a:extLst>
              <a:ext uri="{FF2B5EF4-FFF2-40B4-BE49-F238E27FC236}">
                <a16:creationId xmlns:a16="http://schemas.microsoft.com/office/drawing/2014/main" id="{6AEE2991-1537-45EB-A896-BFBDD394056A}"/>
              </a:ext>
            </a:extLst>
          </p:cNvPr>
          <p:cNvSpPr>
            <a:spLocks noGrp="1"/>
          </p:cNvSpPr>
          <p:nvPr/>
        </p:nvSpPr>
        <p:spPr>
          <a:xfrm>
            <a:off x="6219825" y="35547300"/>
            <a:ext cx="476250" cy="476250"/>
          </a:xfrm>
          <a:prstGeom prst="ellipse">
            <a:avLst/>
          </a:prstGeom>
          <a:solidFill>
            <a:srgbClr val="3975A8"/>
          </a:solidFill>
          <a:ln w="0">
            <a:solidFill>
              <a:srgbClr val="3975A8"/>
            </a:solidFill>
            <a:prstDash val="solid"/>
          </a:ln>
        </p:spPr>
        <p:txBody>
          <a:bodyPr/>
          <a:lstStyle/>
          <a:p>
            <a:endParaRPr sz="2000"/>
          </a:p>
        </p:txBody>
      </p:sp>
      <p:sp>
        <p:nvSpPr>
          <p:cNvPr id="268" name="pipeline-step-2-num">
            <a:extLst>
              <a:ext uri="{FF2B5EF4-FFF2-40B4-BE49-F238E27FC236}">
                <a16:creationId xmlns:a16="http://schemas.microsoft.com/office/drawing/2014/main" id="{093E8347-A569-4093-9D1B-796599F135D8}"/>
              </a:ext>
            </a:extLst>
          </p:cNvPr>
          <p:cNvSpPr>
            <a:spLocks noGrp="1"/>
          </p:cNvSpPr>
          <p:nvPr/>
        </p:nvSpPr>
        <p:spPr>
          <a:xfrm>
            <a:off x="6219825" y="35604450"/>
            <a:ext cx="476250" cy="323850"/>
          </a:xfrm>
          <a:prstGeom prst="rect">
            <a:avLst/>
          </a:prstGeom>
          <a:noFill/>
          <a:ln w="0">
            <a:noFill/>
            <a:prstDash val="solid"/>
          </a:ln>
        </p:spPr>
        <p:txBody>
          <a:bodyPr/>
          <a:lstStyle/>
          <a:p>
            <a:pPr algn="ctr">
              <a:buNone/>
              <a:defRPr sz="1950" b="1">
                <a:solidFill>
                  <a:srgbClr val="FFFFFF"/>
                </a:solidFill>
                <a:latin typeface="Arial"/>
                <a:ea typeface="Arial"/>
                <a:cs typeface="Arial"/>
              </a:defRPr>
            </a:pPr>
            <a:r>
              <a:rPr sz="2000" b="1">
                <a:solidFill>
                  <a:srgbClr val="FFFFFF"/>
                </a:solidFill>
                <a:latin typeface="Arial"/>
                <a:ea typeface="Arial"/>
                <a:cs typeface="Arial"/>
              </a:rPr>
              <a:t>2</a:t>
            </a:r>
          </a:p>
        </p:txBody>
      </p:sp>
      <p:sp>
        <p:nvSpPr>
          <p:cNvPr id="269" name="pipeline-step-2-label">
            <a:extLst>
              <a:ext uri="{FF2B5EF4-FFF2-40B4-BE49-F238E27FC236}">
                <a16:creationId xmlns:a16="http://schemas.microsoft.com/office/drawing/2014/main" id="{DB8E6A2A-327D-4067-9101-24225E35105A}"/>
              </a:ext>
            </a:extLst>
          </p:cNvPr>
          <p:cNvSpPr>
            <a:spLocks noGrp="1"/>
          </p:cNvSpPr>
          <p:nvPr/>
        </p:nvSpPr>
        <p:spPr>
          <a:xfrm>
            <a:off x="6829425" y="35528250"/>
            <a:ext cx="3105150" cy="552450"/>
          </a:xfrm>
          <a:prstGeom prst="rect">
            <a:avLst/>
          </a:prstGeom>
          <a:noFill/>
          <a:ln w="0">
            <a:noFill/>
            <a:prstDash val="solid"/>
          </a:ln>
        </p:spPr>
        <p:txBody>
          <a:bodyPr/>
          <a:lstStyle/>
          <a:p>
            <a:pPr>
              <a:buNone/>
              <a:defRPr sz="1800" b="1">
                <a:solidFill>
                  <a:srgbClr val="121426"/>
                </a:solidFill>
                <a:latin typeface="Arial"/>
                <a:ea typeface="Arial"/>
                <a:cs typeface="Arial"/>
              </a:defRPr>
            </a:pPr>
            <a:r>
              <a:rPr sz="2000" b="1">
                <a:solidFill>
                  <a:srgbClr val="121426"/>
                </a:solidFill>
                <a:latin typeface="Arial"/>
                <a:ea typeface="Arial"/>
                <a:cs typeface="Arial"/>
              </a:rPr>
              <a:t>Normalize AOIs and</a:t>
            </a:r>
          </a:p>
          <a:p>
            <a:pPr>
              <a:buNone/>
              <a:defRPr sz="1800" b="1">
                <a:solidFill>
                  <a:srgbClr val="121426"/>
                </a:solidFill>
                <a:latin typeface="Arial"/>
                <a:ea typeface="Arial"/>
                <a:cs typeface="Arial"/>
              </a:defRPr>
            </a:pPr>
            <a:r>
              <a:rPr sz="2000" b="1">
                <a:solidFill>
                  <a:srgbClr val="121426"/>
                </a:solidFill>
                <a:latin typeface="Arial"/>
                <a:ea typeface="Arial"/>
                <a:cs typeface="Arial"/>
              </a:rPr>
              <a:t>remove unusable samples</a:t>
            </a:r>
          </a:p>
        </p:txBody>
      </p:sp>
      <p:sp>
        <p:nvSpPr>
          <p:cNvPr id="270" name="pipeline-arrow-2">
            <a:extLst>
              <a:ext uri="{FF2B5EF4-FFF2-40B4-BE49-F238E27FC236}">
                <a16:creationId xmlns:a16="http://schemas.microsoft.com/office/drawing/2014/main" id="{9F9DF9E6-16EB-4242-B934-2E0B0A3A4A3B}"/>
              </a:ext>
            </a:extLst>
          </p:cNvPr>
          <p:cNvSpPr>
            <a:spLocks noGrp="1"/>
          </p:cNvSpPr>
          <p:nvPr/>
        </p:nvSpPr>
        <p:spPr>
          <a:xfrm>
            <a:off x="10382250" y="35585400"/>
            <a:ext cx="857250" cy="400050"/>
          </a:xfrm>
          <a:prstGeom prst="rightArrow">
            <a:avLst/>
          </a:prstGeom>
          <a:solidFill>
            <a:srgbClr val="3975A8"/>
          </a:solidFill>
          <a:ln w="0">
            <a:solidFill>
              <a:srgbClr val="3975A8"/>
            </a:solidFill>
            <a:prstDash val="solid"/>
          </a:ln>
        </p:spPr>
        <p:txBody>
          <a:bodyPr/>
          <a:lstStyle/>
          <a:p>
            <a:endParaRPr sz="2000"/>
          </a:p>
        </p:txBody>
      </p:sp>
      <p:sp>
        <p:nvSpPr>
          <p:cNvPr id="271" name="pipeline-step-3">
            <a:extLst>
              <a:ext uri="{FF2B5EF4-FFF2-40B4-BE49-F238E27FC236}">
                <a16:creationId xmlns:a16="http://schemas.microsoft.com/office/drawing/2014/main" id="{7DF6BC86-25E2-48A4-8E50-D121973D2631}"/>
              </a:ext>
            </a:extLst>
          </p:cNvPr>
          <p:cNvSpPr>
            <a:spLocks noGrp="1"/>
          </p:cNvSpPr>
          <p:nvPr/>
        </p:nvSpPr>
        <p:spPr>
          <a:xfrm>
            <a:off x="11477625" y="35337750"/>
            <a:ext cx="4095750" cy="904875"/>
          </a:xfrm>
          <a:prstGeom prst="roundRect">
            <a:avLst>
              <a:gd name="adj" fmla="val 6316"/>
            </a:avLst>
          </a:prstGeom>
          <a:solidFill>
            <a:srgbClr val="FFFFFF"/>
          </a:solidFill>
          <a:ln w="19050">
            <a:solidFill>
              <a:srgbClr val="9BB6D3"/>
            </a:solidFill>
            <a:prstDash val="solid"/>
          </a:ln>
        </p:spPr>
        <p:txBody>
          <a:bodyPr/>
          <a:lstStyle/>
          <a:p>
            <a:endParaRPr sz="2000"/>
          </a:p>
        </p:txBody>
      </p:sp>
      <p:sp>
        <p:nvSpPr>
          <p:cNvPr id="272" name="pipeline-step-3-dot">
            <a:extLst>
              <a:ext uri="{FF2B5EF4-FFF2-40B4-BE49-F238E27FC236}">
                <a16:creationId xmlns:a16="http://schemas.microsoft.com/office/drawing/2014/main" id="{6EA3968F-CAFC-408F-BF66-BE474DF52FA0}"/>
              </a:ext>
            </a:extLst>
          </p:cNvPr>
          <p:cNvSpPr>
            <a:spLocks noGrp="1"/>
          </p:cNvSpPr>
          <p:nvPr/>
        </p:nvSpPr>
        <p:spPr>
          <a:xfrm>
            <a:off x="11649075" y="35547300"/>
            <a:ext cx="476250" cy="476250"/>
          </a:xfrm>
          <a:prstGeom prst="ellipse">
            <a:avLst/>
          </a:prstGeom>
          <a:solidFill>
            <a:srgbClr val="F27C38"/>
          </a:solidFill>
          <a:ln w="0">
            <a:solidFill>
              <a:srgbClr val="F27C38"/>
            </a:solidFill>
            <a:prstDash val="solid"/>
          </a:ln>
        </p:spPr>
        <p:txBody>
          <a:bodyPr/>
          <a:lstStyle/>
          <a:p>
            <a:endParaRPr sz="2000"/>
          </a:p>
        </p:txBody>
      </p:sp>
      <p:sp>
        <p:nvSpPr>
          <p:cNvPr id="273" name="pipeline-step-3-num">
            <a:extLst>
              <a:ext uri="{FF2B5EF4-FFF2-40B4-BE49-F238E27FC236}">
                <a16:creationId xmlns:a16="http://schemas.microsoft.com/office/drawing/2014/main" id="{3110415C-2CB9-4676-A868-668D34573C2F}"/>
              </a:ext>
            </a:extLst>
          </p:cNvPr>
          <p:cNvSpPr>
            <a:spLocks noGrp="1"/>
          </p:cNvSpPr>
          <p:nvPr/>
        </p:nvSpPr>
        <p:spPr>
          <a:xfrm>
            <a:off x="11649075" y="35604450"/>
            <a:ext cx="476250" cy="323850"/>
          </a:xfrm>
          <a:prstGeom prst="rect">
            <a:avLst/>
          </a:prstGeom>
          <a:noFill/>
          <a:ln w="0">
            <a:noFill/>
            <a:prstDash val="solid"/>
          </a:ln>
        </p:spPr>
        <p:txBody>
          <a:bodyPr/>
          <a:lstStyle/>
          <a:p>
            <a:pPr algn="ctr">
              <a:buNone/>
              <a:defRPr sz="1950" b="1">
                <a:solidFill>
                  <a:srgbClr val="FFFFFF"/>
                </a:solidFill>
                <a:latin typeface="Arial"/>
                <a:ea typeface="Arial"/>
                <a:cs typeface="Arial"/>
              </a:defRPr>
            </a:pPr>
            <a:r>
              <a:rPr sz="2000" b="1">
                <a:solidFill>
                  <a:srgbClr val="FFFFFF"/>
                </a:solidFill>
                <a:latin typeface="Arial"/>
                <a:ea typeface="Arial"/>
                <a:cs typeface="Arial"/>
              </a:rPr>
              <a:t>3</a:t>
            </a:r>
          </a:p>
        </p:txBody>
      </p:sp>
      <p:sp>
        <p:nvSpPr>
          <p:cNvPr id="274" name="pipeline-step-3-label">
            <a:extLst>
              <a:ext uri="{FF2B5EF4-FFF2-40B4-BE49-F238E27FC236}">
                <a16:creationId xmlns:a16="http://schemas.microsoft.com/office/drawing/2014/main" id="{A3515414-ADC5-4A85-96F3-09A6600DC35B}"/>
              </a:ext>
            </a:extLst>
          </p:cNvPr>
          <p:cNvSpPr>
            <a:spLocks noGrp="1"/>
          </p:cNvSpPr>
          <p:nvPr/>
        </p:nvSpPr>
        <p:spPr>
          <a:xfrm>
            <a:off x="12258675" y="35528250"/>
            <a:ext cx="3105150" cy="552450"/>
          </a:xfrm>
          <a:prstGeom prst="rect">
            <a:avLst/>
          </a:prstGeom>
          <a:noFill/>
          <a:ln w="0">
            <a:noFill/>
            <a:prstDash val="solid"/>
          </a:ln>
        </p:spPr>
        <p:txBody>
          <a:bodyPr/>
          <a:lstStyle/>
          <a:p>
            <a:pPr>
              <a:buNone/>
              <a:defRPr sz="1800" b="1">
                <a:solidFill>
                  <a:srgbClr val="121426"/>
                </a:solidFill>
                <a:latin typeface="Arial"/>
                <a:ea typeface="Arial"/>
                <a:cs typeface="Arial"/>
              </a:defRPr>
            </a:pPr>
            <a:r>
              <a:rPr sz="2000" b="1">
                <a:solidFill>
                  <a:srgbClr val="121426"/>
                </a:solidFill>
                <a:latin typeface="Arial"/>
                <a:ea typeface="Arial"/>
                <a:cs typeface="Arial"/>
              </a:rPr>
              <a:t>Compute gaze metrics</a:t>
            </a:r>
          </a:p>
          <a:p>
            <a:pPr>
              <a:buNone/>
              <a:defRPr sz="1800" b="1">
                <a:solidFill>
                  <a:srgbClr val="121426"/>
                </a:solidFill>
                <a:latin typeface="Arial"/>
                <a:ea typeface="Arial"/>
                <a:cs typeface="Arial"/>
              </a:defRPr>
            </a:pPr>
            <a:r>
              <a:rPr sz="2000" b="1">
                <a:solidFill>
                  <a:srgbClr val="121426"/>
                </a:solidFill>
                <a:latin typeface="Arial"/>
                <a:ea typeface="Arial"/>
                <a:cs typeface="Arial"/>
              </a:rPr>
              <a:t>and scanpath similarity</a:t>
            </a:r>
          </a:p>
        </p:txBody>
      </p:sp>
      <p:sp>
        <p:nvSpPr>
          <p:cNvPr id="275" name="pipeline-arrow-3">
            <a:extLst>
              <a:ext uri="{FF2B5EF4-FFF2-40B4-BE49-F238E27FC236}">
                <a16:creationId xmlns:a16="http://schemas.microsoft.com/office/drawing/2014/main" id="{81B792DE-2FB3-48A6-AD66-D620CC845BAC}"/>
              </a:ext>
            </a:extLst>
          </p:cNvPr>
          <p:cNvSpPr>
            <a:spLocks noGrp="1"/>
          </p:cNvSpPr>
          <p:nvPr/>
        </p:nvSpPr>
        <p:spPr>
          <a:xfrm>
            <a:off x="15811500" y="35585400"/>
            <a:ext cx="857250" cy="400050"/>
          </a:xfrm>
          <a:prstGeom prst="rightArrow">
            <a:avLst/>
          </a:prstGeom>
          <a:solidFill>
            <a:srgbClr val="F27C38"/>
          </a:solidFill>
          <a:ln w="0">
            <a:solidFill>
              <a:srgbClr val="F27C38"/>
            </a:solidFill>
            <a:prstDash val="solid"/>
          </a:ln>
        </p:spPr>
        <p:txBody>
          <a:bodyPr/>
          <a:lstStyle/>
          <a:p>
            <a:endParaRPr sz="2000"/>
          </a:p>
        </p:txBody>
      </p:sp>
      <p:sp>
        <p:nvSpPr>
          <p:cNvPr id="276" name="pipeline-step-4">
            <a:extLst>
              <a:ext uri="{FF2B5EF4-FFF2-40B4-BE49-F238E27FC236}">
                <a16:creationId xmlns:a16="http://schemas.microsoft.com/office/drawing/2014/main" id="{545FEA49-DE38-4762-9EBB-168B8C32C9F2}"/>
              </a:ext>
            </a:extLst>
          </p:cNvPr>
          <p:cNvSpPr>
            <a:spLocks noGrp="1"/>
          </p:cNvSpPr>
          <p:nvPr/>
        </p:nvSpPr>
        <p:spPr>
          <a:xfrm>
            <a:off x="16906875" y="35337750"/>
            <a:ext cx="4095750" cy="904875"/>
          </a:xfrm>
          <a:prstGeom prst="roundRect">
            <a:avLst>
              <a:gd name="adj" fmla="val 6316"/>
            </a:avLst>
          </a:prstGeom>
          <a:solidFill>
            <a:srgbClr val="FFFFFF"/>
          </a:solidFill>
          <a:ln w="19050">
            <a:solidFill>
              <a:srgbClr val="9BB6D3"/>
            </a:solidFill>
            <a:prstDash val="solid"/>
          </a:ln>
        </p:spPr>
        <p:txBody>
          <a:bodyPr/>
          <a:lstStyle/>
          <a:p>
            <a:endParaRPr sz="2000"/>
          </a:p>
        </p:txBody>
      </p:sp>
      <p:sp>
        <p:nvSpPr>
          <p:cNvPr id="277" name="pipeline-step-4-dot">
            <a:extLst>
              <a:ext uri="{FF2B5EF4-FFF2-40B4-BE49-F238E27FC236}">
                <a16:creationId xmlns:a16="http://schemas.microsoft.com/office/drawing/2014/main" id="{BF545A56-16CA-4960-A2A2-67373FE4B773}"/>
              </a:ext>
            </a:extLst>
          </p:cNvPr>
          <p:cNvSpPr>
            <a:spLocks noGrp="1"/>
          </p:cNvSpPr>
          <p:nvPr/>
        </p:nvSpPr>
        <p:spPr>
          <a:xfrm>
            <a:off x="17078325" y="35547300"/>
            <a:ext cx="476250" cy="476250"/>
          </a:xfrm>
          <a:prstGeom prst="ellipse">
            <a:avLst/>
          </a:prstGeom>
          <a:solidFill>
            <a:srgbClr val="62A744"/>
          </a:solidFill>
          <a:ln w="0">
            <a:solidFill>
              <a:srgbClr val="62A744"/>
            </a:solidFill>
            <a:prstDash val="solid"/>
          </a:ln>
        </p:spPr>
        <p:txBody>
          <a:bodyPr/>
          <a:lstStyle/>
          <a:p>
            <a:endParaRPr sz="2000"/>
          </a:p>
        </p:txBody>
      </p:sp>
      <p:sp>
        <p:nvSpPr>
          <p:cNvPr id="278" name="pipeline-step-4-num">
            <a:extLst>
              <a:ext uri="{FF2B5EF4-FFF2-40B4-BE49-F238E27FC236}">
                <a16:creationId xmlns:a16="http://schemas.microsoft.com/office/drawing/2014/main" id="{9EFCAE13-F2F5-4F10-B718-EC75CF783C62}"/>
              </a:ext>
            </a:extLst>
          </p:cNvPr>
          <p:cNvSpPr>
            <a:spLocks noGrp="1"/>
          </p:cNvSpPr>
          <p:nvPr/>
        </p:nvSpPr>
        <p:spPr>
          <a:xfrm>
            <a:off x="17078325" y="35604450"/>
            <a:ext cx="476250" cy="323850"/>
          </a:xfrm>
          <a:prstGeom prst="rect">
            <a:avLst/>
          </a:prstGeom>
          <a:noFill/>
          <a:ln w="0">
            <a:noFill/>
            <a:prstDash val="solid"/>
          </a:ln>
        </p:spPr>
        <p:txBody>
          <a:bodyPr/>
          <a:lstStyle/>
          <a:p>
            <a:pPr algn="ctr">
              <a:buNone/>
              <a:defRPr sz="1950" b="1">
                <a:solidFill>
                  <a:srgbClr val="FFFFFF"/>
                </a:solidFill>
                <a:latin typeface="Arial"/>
                <a:ea typeface="Arial"/>
                <a:cs typeface="Arial"/>
              </a:defRPr>
            </a:pPr>
            <a:r>
              <a:rPr sz="2000" b="1">
                <a:solidFill>
                  <a:srgbClr val="FFFFFF"/>
                </a:solidFill>
                <a:latin typeface="Arial"/>
                <a:ea typeface="Arial"/>
                <a:cs typeface="Arial"/>
              </a:rPr>
              <a:t>4</a:t>
            </a:r>
          </a:p>
        </p:txBody>
      </p:sp>
      <p:sp>
        <p:nvSpPr>
          <p:cNvPr id="279" name="pipeline-step-4-label">
            <a:extLst>
              <a:ext uri="{FF2B5EF4-FFF2-40B4-BE49-F238E27FC236}">
                <a16:creationId xmlns:a16="http://schemas.microsoft.com/office/drawing/2014/main" id="{8BBD5E33-80C8-4927-B9FB-4496D5270347}"/>
              </a:ext>
            </a:extLst>
          </p:cNvPr>
          <p:cNvSpPr>
            <a:spLocks noGrp="1"/>
          </p:cNvSpPr>
          <p:nvPr/>
        </p:nvSpPr>
        <p:spPr>
          <a:xfrm>
            <a:off x="17687925" y="35528250"/>
            <a:ext cx="3105150" cy="552450"/>
          </a:xfrm>
          <a:prstGeom prst="rect">
            <a:avLst/>
          </a:prstGeom>
          <a:noFill/>
          <a:ln w="0">
            <a:noFill/>
            <a:prstDash val="solid"/>
          </a:ln>
        </p:spPr>
        <p:txBody>
          <a:bodyPr/>
          <a:lstStyle/>
          <a:p>
            <a:pPr>
              <a:buNone/>
              <a:defRPr sz="1800" b="1">
                <a:solidFill>
                  <a:srgbClr val="121426"/>
                </a:solidFill>
                <a:latin typeface="Arial"/>
                <a:ea typeface="Arial"/>
                <a:cs typeface="Arial"/>
              </a:defRPr>
            </a:pPr>
            <a:r>
              <a:rPr sz="2000" b="1">
                <a:solidFill>
                  <a:srgbClr val="121426"/>
                </a:solidFill>
                <a:latin typeface="Arial"/>
                <a:ea typeface="Arial"/>
                <a:cs typeface="Arial"/>
              </a:rPr>
              <a:t>Explain findings with</a:t>
            </a:r>
          </a:p>
          <a:p>
            <a:pPr>
              <a:buNone/>
              <a:defRPr sz="1800" b="1">
                <a:solidFill>
                  <a:srgbClr val="121426"/>
                </a:solidFill>
                <a:latin typeface="Arial"/>
                <a:ea typeface="Arial"/>
                <a:cs typeface="Arial"/>
              </a:defRPr>
            </a:pPr>
            <a:r>
              <a:rPr sz="2000" b="1">
                <a:solidFill>
                  <a:srgbClr val="121426"/>
                </a:solidFill>
                <a:latin typeface="Arial"/>
                <a:ea typeface="Arial"/>
                <a:cs typeface="Arial"/>
              </a:rPr>
              <a:t>charts and comparisons</a:t>
            </a:r>
          </a:p>
        </p:txBody>
      </p:sp>
      <p:sp>
        <p:nvSpPr>
          <p:cNvPr id="280" name="presentation-title">
            <a:extLst>
              <a:ext uri="{FF2B5EF4-FFF2-40B4-BE49-F238E27FC236}">
                <a16:creationId xmlns:a16="http://schemas.microsoft.com/office/drawing/2014/main" id="{036E6460-2F2F-4986-A0E0-AAB6C0AC0D31}"/>
              </a:ext>
            </a:extLst>
          </p:cNvPr>
          <p:cNvSpPr>
            <a:spLocks noGrp="1"/>
          </p:cNvSpPr>
          <p:nvPr/>
        </p:nvSpPr>
        <p:spPr>
          <a:xfrm>
            <a:off x="22145625" y="34766250"/>
            <a:ext cx="7048500" cy="40005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a:solidFill>
                  <a:srgbClr val="121426"/>
                </a:solidFill>
                <a:latin typeface="Arial"/>
                <a:ea typeface="Arial"/>
                <a:cs typeface="Arial"/>
              </a:rPr>
              <a:t>How to present this section</a:t>
            </a:r>
          </a:p>
        </p:txBody>
      </p:sp>
      <p:sp>
        <p:nvSpPr>
          <p:cNvPr id="281" name="presentation-tip-box">
            <a:extLst>
              <a:ext uri="{FF2B5EF4-FFF2-40B4-BE49-F238E27FC236}">
                <a16:creationId xmlns:a16="http://schemas.microsoft.com/office/drawing/2014/main" id="{2DD32BB6-64E4-45EC-BB44-8F90FF62F268}"/>
              </a:ext>
            </a:extLst>
          </p:cNvPr>
          <p:cNvSpPr>
            <a:spLocks noGrp="1"/>
          </p:cNvSpPr>
          <p:nvPr/>
        </p:nvSpPr>
        <p:spPr>
          <a:xfrm>
            <a:off x="22145625" y="35337750"/>
            <a:ext cx="7334250" cy="1123950"/>
          </a:xfrm>
          <a:prstGeom prst="roundRect">
            <a:avLst>
              <a:gd name="adj" fmla="val 5085"/>
            </a:avLst>
          </a:prstGeom>
          <a:solidFill>
            <a:srgbClr val="FFFFFF"/>
          </a:solidFill>
          <a:ln w="19050">
            <a:solidFill>
              <a:srgbClr val="9BB6D3"/>
            </a:solidFill>
            <a:prstDash val="solid"/>
          </a:ln>
        </p:spPr>
        <p:txBody>
          <a:bodyPr/>
          <a:lstStyle/>
          <a:p>
            <a:endParaRPr sz="2000"/>
          </a:p>
        </p:txBody>
      </p:sp>
      <p:sp>
        <p:nvSpPr>
          <p:cNvPr id="282" name="presentation-tip">
            <a:extLst>
              <a:ext uri="{FF2B5EF4-FFF2-40B4-BE49-F238E27FC236}">
                <a16:creationId xmlns:a16="http://schemas.microsoft.com/office/drawing/2014/main" id="{DF32AD25-4C64-40D8-8BAF-8FB90B20FF1F}"/>
              </a:ext>
            </a:extLst>
          </p:cNvPr>
          <p:cNvSpPr>
            <a:spLocks noGrp="1"/>
          </p:cNvSpPr>
          <p:nvPr/>
        </p:nvSpPr>
        <p:spPr>
          <a:xfrm>
            <a:off x="22383750" y="35566350"/>
            <a:ext cx="6858000" cy="685800"/>
          </a:xfrm>
          <a:prstGeom prst="rect">
            <a:avLst/>
          </a:prstGeom>
          <a:noFill/>
          <a:ln w="0">
            <a:noFill/>
            <a:prstDash val="solid"/>
          </a:ln>
        </p:spPr>
        <p:txBody>
          <a:bodyPr/>
          <a:lstStyle/>
          <a:p>
            <a:pPr algn="ctr">
              <a:buNone/>
              <a:defRPr sz="1875">
                <a:solidFill>
                  <a:srgbClr val="405372"/>
                </a:solidFill>
                <a:latin typeface="Arial"/>
                <a:ea typeface="Arial"/>
                <a:cs typeface="Arial"/>
              </a:defRPr>
            </a:pPr>
            <a:r>
              <a:rPr sz="2000">
                <a:solidFill>
                  <a:srgbClr val="405372"/>
                </a:solidFill>
                <a:latin typeface="Arial"/>
                <a:ea typeface="Arial"/>
                <a:cs typeface="Arial"/>
              </a:rPr>
              <a:t>Start with the experiment, then show how raw gaze became AOI metrics, and finish with the constraints that shaped the analysis.</a:t>
            </a:r>
          </a:p>
        </p:txBody>
      </p:sp>
      <p:sp>
        <p:nvSpPr>
          <p:cNvPr id="283" name="workflow-bottom-note">
            <a:extLst>
              <a:ext uri="{FF2B5EF4-FFF2-40B4-BE49-F238E27FC236}">
                <a16:creationId xmlns:a16="http://schemas.microsoft.com/office/drawing/2014/main" id="{4ABD3A1E-1050-45E7-93B9-35FBEF627666}"/>
              </a:ext>
            </a:extLst>
          </p:cNvPr>
          <p:cNvSpPr>
            <a:spLocks noGrp="1"/>
          </p:cNvSpPr>
          <p:nvPr/>
        </p:nvSpPr>
        <p:spPr>
          <a:xfrm>
            <a:off x="533400" y="37204650"/>
            <a:ext cx="29051250" cy="400050"/>
          </a:xfrm>
          <a:prstGeom prst="rect">
            <a:avLst/>
          </a:prstGeom>
          <a:noFill/>
          <a:ln w="0">
            <a:noFill/>
            <a:prstDash val="solid"/>
          </a:ln>
        </p:spPr>
        <p:txBody>
          <a:bodyPr/>
          <a:lstStyle/>
          <a:p>
            <a:pPr algn="ctr">
              <a:buNone/>
              <a:defRPr sz="2025" b="1">
                <a:solidFill>
                  <a:srgbClr val="28235C"/>
                </a:solidFill>
                <a:latin typeface="Arial"/>
                <a:ea typeface="Arial"/>
                <a:cs typeface="Arial"/>
              </a:defRPr>
            </a:pPr>
            <a:r>
              <a:rPr sz="2400" b="1">
                <a:solidFill>
                  <a:srgbClr val="28235C"/>
                </a:solidFill>
                <a:latin typeface="Arial"/>
                <a:ea typeface="Arial"/>
                <a:cs typeface="Arial"/>
              </a:rPr>
              <a:t>Main takeaway: the project is both an experimental study and a reproducible analysis workflow.</a:t>
            </a:r>
          </a:p>
        </p:txBody>
      </p:sp>
      <p:sp>
        <p:nvSpPr>
          <p:cNvPr id="294" name="bottom-section-redesign-mask">
            <a:extLst>
              <a:ext uri="{FF2B5EF4-FFF2-40B4-BE49-F238E27FC236}">
                <a16:creationId xmlns:a16="http://schemas.microsoft.com/office/drawing/2014/main" id="{4C04558E-A449-4F2C-99D1-0BEA91D9D79B}"/>
              </a:ext>
            </a:extLst>
          </p:cNvPr>
          <p:cNvSpPr>
            <a:spLocks noGrp="1"/>
          </p:cNvSpPr>
          <p:nvPr/>
        </p:nvSpPr>
        <p:spPr>
          <a:xfrm>
            <a:off x="57150" y="30784800"/>
            <a:ext cx="30289500" cy="7543800"/>
          </a:xfrm>
          <a:prstGeom prst="rect">
            <a:avLst/>
          </a:prstGeom>
          <a:solidFill>
            <a:srgbClr val="EAF3FB"/>
          </a:solidFill>
          <a:ln w="0">
            <a:solidFill>
              <a:srgbClr val="EAF3FB"/>
            </a:solidFill>
            <a:prstDash val="solid"/>
          </a:ln>
        </p:spPr>
        <p:txBody>
          <a:bodyPr/>
          <a:lstStyle/>
          <a:p>
            <a:endParaRPr sz="2000"/>
          </a:p>
        </p:txBody>
      </p:sp>
      <p:sp>
        <p:nvSpPr>
          <p:cNvPr id="295" name="study-workflow-box">
            <a:extLst>
              <a:ext uri="{FF2B5EF4-FFF2-40B4-BE49-F238E27FC236}">
                <a16:creationId xmlns:a16="http://schemas.microsoft.com/office/drawing/2014/main" id="{767E0E7B-CAE0-46BB-8603-3049CD0CD9EA}"/>
              </a:ext>
            </a:extLst>
          </p:cNvPr>
          <p:cNvSpPr>
            <a:spLocks noGrp="1"/>
          </p:cNvSpPr>
          <p:nvPr/>
        </p:nvSpPr>
        <p:spPr>
          <a:xfrm>
            <a:off x="152400" y="30813375"/>
            <a:ext cx="30175200" cy="7524750"/>
          </a:xfrm>
          <a:prstGeom prst="roundRect">
            <a:avLst>
              <a:gd name="adj" fmla="val 759"/>
            </a:avLst>
          </a:prstGeom>
          <a:solidFill>
            <a:srgbClr val="EAF3FB"/>
          </a:solidFill>
          <a:ln w="28575">
            <a:solidFill>
              <a:srgbClr val="28235C"/>
            </a:solidFill>
            <a:prstDash val="solid"/>
          </a:ln>
        </p:spPr>
        <p:txBody>
          <a:bodyPr/>
          <a:lstStyle/>
          <a:p>
            <a:endParaRPr sz="2000"/>
          </a:p>
        </p:txBody>
      </p:sp>
      <p:sp>
        <p:nvSpPr>
          <p:cNvPr id="296" name="study-workflow-title">
            <a:extLst>
              <a:ext uri="{FF2B5EF4-FFF2-40B4-BE49-F238E27FC236}">
                <a16:creationId xmlns:a16="http://schemas.microsoft.com/office/drawing/2014/main" id="{ACFA902E-FC60-4A12-892B-79EF4393C311}"/>
              </a:ext>
            </a:extLst>
          </p:cNvPr>
          <p:cNvSpPr>
            <a:spLocks noGrp="1"/>
          </p:cNvSpPr>
          <p:nvPr/>
        </p:nvSpPr>
        <p:spPr>
          <a:xfrm>
            <a:off x="419100" y="31022925"/>
            <a:ext cx="29641800" cy="590550"/>
          </a:xfrm>
          <a:prstGeom prst="rect">
            <a:avLst/>
          </a:prstGeom>
          <a:noFill/>
          <a:ln w="0">
            <a:noFill/>
            <a:prstDash val="solid"/>
          </a:ln>
        </p:spPr>
        <p:txBody>
          <a:bodyPr/>
          <a:lstStyle/>
          <a:p>
            <a:pPr>
              <a:buNone/>
              <a:defRPr sz="3450" b="1">
                <a:solidFill>
                  <a:srgbClr val="28235C"/>
                </a:solidFill>
                <a:latin typeface="Arial"/>
                <a:ea typeface="Arial"/>
                <a:cs typeface="Arial"/>
              </a:defRPr>
            </a:pPr>
            <a:r>
              <a:rPr sz="3600" b="1">
                <a:solidFill>
                  <a:srgbClr val="28235C"/>
                </a:solidFill>
                <a:latin typeface="Arial"/>
                <a:ea typeface="Arial"/>
                <a:cs typeface="Arial"/>
              </a:rPr>
              <a:t>STUDY WORKFLOW &amp; LESSONS LEARNED</a:t>
            </a:r>
          </a:p>
        </p:txBody>
      </p:sp>
      <p:sp>
        <p:nvSpPr>
          <p:cNvPr id="297" name="protocol-card">
            <a:extLst>
              <a:ext uri="{FF2B5EF4-FFF2-40B4-BE49-F238E27FC236}">
                <a16:creationId xmlns:a16="http://schemas.microsoft.com/office/drawing/2014/main" id="{23A9DCD1-47A1-4C6F-8ECC-309F80F2A39A}"/>
              </a:ext>
            </a:extLst>
          </p:cNvPr>
          <p:cNvSpPr>
            <a:spLocks noGrp="1"/>
          </p:cNvSpPr>
          <p:nvPr/>
        </p:nvSpPr>
        <p:spPr>
          <a:xfrm>
            <a:off x="533400" y="31794450"/>
            <a:ext cx="8953500" cy="2571750"/>
          </a:xfrm>
          <a:prstGeom prst="roundRect">
            <a:avLst>
              <a:gd name="adj" fmla="val 2222"/>
            </a:avLst>
          </a:prstGeom>
          <a:solidFill>
            <a:srgbClr val="FFFFFF"/>
          </a:solidFill>
          <a:ln w="19050">
            <a:solidFill>
              <a:srgbClr val="9BB6D3"/>
            </a:solidFill>
            <a:prstDash val="solid"/>
          </a:ln>
        </p:spPr>
        <p:txBody>
          <a:bodyPr/>
          <a:lstStyle/>
          <a:p>
            <a:endParaRPr sz="2000"/>
          </a:p>
        </p:txBody>
      </p:sp>
      <p:sp>
        <p:nvSpPr>
          <p:cNvPr id="298" name="protocol-accent">
            <a:extLst>
              <a:ext uri="{FF2B5EF4-FFF2-40B4-BE49-F238E27FC236}">
                <a16:creationId xmlns:a16="http://schemas.microsoft.com/office/drawing/2014/main" id="{94213A50-FEBE-435B-B7B6-763E55D84ED7}"/>
              </a:ext>
            </a:extLst>
          </p:cNvPr>
          <p:cNvSpPr>
            <a:spLocks noGrp="1"/>
          </p:cNvSpPr>
          <p:nvPr/>
        </p:nvSpPr>
        <p:spPr>
          <a:xfrm>
            <a:off x="533400" y="31794450"/>
            <a:ext cx="8953500" cy="114300"/>
          </a:xfrm>
          <a:prstGeom prst="rect">
            <a:avLst/>
          </a:prstGeom>
          <a:solidFill>
            <a:srgbClr val="14A098"/>
          </a:solidFill>
          <a:ln w="0">
            <a:solidFill>
              <a:srgbClr val="14A098"/>
            </a:solidFill>
            <a:prstDash val="solid"/>
          </a:ln>
        </p:spPr>
        <p:txBody>
          <a:bodyPr/>
          <a:lstStyle/>
          <a:p>
            <a:endParaRPr sz="2000"/>
          </a:p>
        </p:txBody>
      </p:sp>
      <p:sp>
        <p:nvSpPr>
          <p:cNvPr id="299" name="protocol-title">
            <a:extLst>
              <a:ext uri="{FF2B5EF4-FFF2-40B4-BE49-F238E27FC236}">
                <a16:creationId xmlns:a16="http://schemas.microsoft.com/office/drawing/2014/main" id="{ED7A841F-1B24-44D5-A590-A374153DF9BB}"/>
              </a:ext>
            </a:extLst>
          </p:cNvPr>
          <p:cNvSpPr>
            <a:spLocks noGrp="1"/>
          </p:cNvSpPr>
          <p:nvPr/>
        </p:nvSpPr>
        <p:spPr>
          <a:xfrm>
            <a:off x="762000" y="32061150"/>
            <a:ext cx="8496300" cy="400050"/>
          </a:xfrm>
          <a:prstGeom prst="rect">
            <a:avLst/>
          </a:prstGeom>
          <a:noFill/>
          <a:ln w="0">
            <a:noFill/>
            <a:prstDash val="solid"/>
          </a:ln>
        </p:spPr>
        <p:txBody>
          <a:bodyPr/>
          <a:lstStyle/>
          <a:p>
            <a:pPr>
              <a:buNone/>
              <a:defRPr sz="2325" b="1">
                <a:solidFill>
                  <a:srgbClr val="28235C"/>
                </a:solidFill>
                <a:latin typeface="Arial"/>
                <a:ea typeface="Arial"/>
                <a:cs typeface="Arial"/>
              </a:defRPr>
            </a:pPr>
            <a:r>
              <a:rPr sz="2400" b="1">
                <a:solidFill>
                  <a:srgbClr val="28235C"/>
                </a:solidFill>
                <a:latin typeface="Arial"/>
                <a:ea typeface="Arial"/>
                <a:cs typeface="Arial"/>
              </a:rPr>
              <a:t>1. Controlled Experiment</a:t>
            </a:r>
          </a:p>
        </p:txBody>
      </p:sp>
      <p:sp>
        <p:nvSpPr>
          <p:cNvPr id="300" name="protocol-body">
            <a:extLst>
              <a:ext uri="{FF2B5EF4-FFF2-40B4-BE49-F238E27FC236}">
                <a16:creationId xmlns:a16="http://schemas.microsoft.com/office/drawing/2014/main" id="{A2FD0D45-2A16-4DE5-82FC-363C8A3A1359}"/>
              </a:ext>
            </a:extLst>
          </p:cNvPr>
          <p:cNvSpPr>
            <a:spLocks noGrp="1"/>
          </p:cNvSpPr>
          <p:nvPr/>
        </p:nvSpPr>
        <p:spPr>
          <a:xfrm>
            <a:off x="762000" y="32575500"/>
            <a:ext cx="8496300" cy="1581150"/>
          </a:xfrm>
          <a:prstGeom prst="rect">
            <a:avLst/>
          </a:prstGeom>
          <a:noFill/>
          <a:ln w="0">
            <a:noFill/>
            <a:prstDash val="solid"/>
          </a:ln>
        </p:spPr>
        <p:txBody>
          <a:bodyPr/>
          <a:lstStyle/>
          <a:p>
            <a:pPr>
              <a:buNone/>
              <a:defRPr sz="1800">
                <a:solidFill>
                  <a:srgbClr val="121426"/>
                </a:solidFill>
                <a:latin typeface="Arial"/>
                <a:ea typeface="Arial"/>
                <a:cs typeface="Arial"/>
              </a:defRPr>
            </a:pPr>
            <a:r>
              <a:rPr sz="2000">
                <a:solidFill>
                  <a:srgbClr val="121426"/>
                </a:solidFill>
                <a:latin typeface="Arial"/>
                <a:ea typeface="Arial"/>
                <a:cs typeface="Arial"/>
              </a:rPr>
              <a:t>• Participants watched eight dog videos under a fixed protocol.</a:t>
            </a:r>
          </a:p>
          <a:p>
            <a:pPr>
              <a:buNone/>
              <a:defRPr sz="1800">
                <a:solidFill>
                  <a:srgbClr val="121426"/>
                </a:solidFill>
                <a:latin typeface="Arial"/>
                <a:ea typeface="Arial"/>
                <a:cs typeface="Arial"/>
              </a:defRPr>
            </a:pPr>
            <a:r>
              <a:rPr sz="2000">
                <a:solidFill>
                  <a:srgbClr val="121426"/>
                </a:solidFill>
                <a:latin typeface="Arial"/>
                <a:ea typeface="Arial"/>
                <a:cs typeface="Arial"/>
              </a:rPr>
              <a:t>• Tobii Pro Lab recorded gaze behavior during each stimulus.</a:t>
            </a:r>
          </a:p>
          <a:p>
            <a:pPr>
              <a:buNone/>
              <a:defRPr sz="1800">
                <a:solidFill>
                  <a:srgbClr val="121426"/>
                </a:solidFill>
                <a:latin typeface="Arial"/>
                <a:ea typeface="Arial"/>
                <a:cs typeface="Arial"/>
              </a:defRPr>
            </a:pPr>
            <a:r>
              <a:rPr sz="2000">
                <a:solidFill>
                  <a:srgbClr val="121426"/>
                </a:solidFill>
                <a:latin typeface="Arial"/>
                <a:ea typeface="Arial"/>
                <a:cs typeface="Arial"/>
              </a:rPr>
              <a:t>• Each video was followed by emotion, situation and cue questions.</a:t>
            </a:r>
          </a:p>
        </p:txBody>
      </p:sp>
      <p:sp>
        <p:nvSpPr>
          <p:cNvPr id="301" name="analysis-card">
            <a:extLst>
              <a:ext uri="{FF2B5EF4-FFF2-40B4-BE49-F238E27FC236}">
                <a16:creationId xmlns:a16="http://schemas.microsoft.com/office/drawing/2014/main" id="{54D906D2-46C4-441A-9B56-39F3067AA9DA}"/>
              </a:ext>
            </a:extLst>
          </p:cNvPr>
          <p:cNvSpPr>
            <a:spLocks noGrp="1"/>
          </p:cNvSpPr>
          <p:nvPr/>
        </p:nvSpPr>
        <p:spPr>
          <a:xfrm>
            <a:off x="10763250" y="31794450"/>
            <a:ext cx="8953500" cy="2571750"/>
          </a:xfrm>
          <a:prstGeom prst="roundRect">
            <a:avLst>
              <a:gd name="adj" fmla="val 2222"/>
            </a:avLst>
          </a:prstGeom>
          <a:solidFill>
            <a:srgbClr val="FFFFFF"/>
          </a:solidFill>
          <a:ln w="19050">
            <a:solidFill>
              <a:srgbClr val="9BB6D3"/>
            </a:solidFill>
            <a:prstDash val="solid"/>
          </a:ln>
        </p:spPr>
        <p:txBody>
          <a:bodyPr/>
          <a:lstStyle/>
          <a:p>
            <a:endParaRPr sz="2000"/>
          </a:p>
        </p:txBody>
      </p:sp>
      <p:sp>
        <p:nvSpPr>
          <p:cNvPr id="302" name="analysis-accent">
            <a:extLst>
              <a:ext uri="{FF2B5EF4-FFF2-40B4-BE49-F238E27FC236}">
                <a16:creationId xmlns:a16="http://schemas.microsoft.com/office/drawing/2014/main" id="{1D83DE21-6EE9-4E25-A09C-26B296CBC9F8}"/>
              </a:ext>
            </a:extLst>
          </p:cNvPr>
          <p:cNvSpPr>
            <a:spLocks noGrp="1"/>
          </p:cNvSpPr>
          <p:nvPr/>
        </p:nvSpPr>
        <p:spPr>
          <a:xfrm>
            <a:off x="10763250" y="31794450"/>
            <a:ext cx="8953500" cy="114300"/>
          </a:xfrm>
          <a:prstGeom prst="rect">
            <a:avLst/>
          </a:prstGeom>
          <a:solidFill>
            <a:srgbClr val="3975A8"/>
          </a:solidFill>
          <a:ln w="0">
            <a:solidFill>
              <a:srgbClr val="3975A8"/>
            </a:solidFill>
            <a:prstDash val="solid"/>
          </a:ln>
        </p:spPr>
        <p:txBody>
          <a:bodyPr/>
          <a:lstStyle/>
          <a:p>
            <a:endParaRPr sz="2000"/>
          </a:p>
        </p:txBody>
      </p:sp>
      <p:sp>
        <p:nvSpPr>
          <p:cNvPr id="303" name="analysis-title">
            <a:extLst>
              <a:ext uri="{FF2B5EF4-FFF2-40B4-BE49-F238E27FC236}">
                <a16:creationId xmlns:a16="http://schemas.microsoft.com/office/drawing/2014/main" id="{1EF664D3-3A97-45B3-9968-D0EFDC97C3B5}"/>
              </a:ext>
            </a:extLst>
          </p:cNvPr>
          <p:cNvSpPr>
            <a:spLocks noGrp="1"/>
          </p:cNvSpPr>
          <p:nvPr/>
        </p:nvSpPr>
        <p:spPr>
          <a:xfrm>
            <a:off x="10991850" y="32061150"/>
            <a:ext cx="8496300" cy="400050"/>
          </a:xfrm>
          <a:prstGeom prst="rect">
            <a:avLst/>
          </a:prstGeom>
          <a:noFill/>
          <a:ln w="0">
            <a:noFill/>
            <a:prstDash val="solid"/>
          </a:ln>
        </p:spPr>
        <p:txBody>
          <a:bodyPr/>
          <a:lstStyle/>
          <a:p>
            <a:pPr>
              <a:buNone/>
              <a:defRPr sz="2325" b="1">
                <a:solidFill>
                  <a:srgbClr val="28235C"/>
                </a:solidFill>
                <a:latin typeface="Arial"/>
                <a:ea typeface="Arial"/>
                <a:cs typeface="Arial"/>
              </a:defRPr>
            </a:pPr>
            <a:r>
              <a:rPr sz="2400" b="1">
                <a:solidFill>
                  <a:srgbClr val="28235C"/>
                </a:solidFill>
                <a:latin typeface="Arial"/>
                <a:ea typeface="Arial"/>
                <a:cs typeface="Arial"/>
              </a:rPr>
              <a:t>2. Data Analysis</a:t>
            </a:r>
          </a:p>
        </p:txBody>
      </p:sp>
      <p:sp>
        <p:nvSpPr>
          <p:cNvPr id="304" name="analysis-body">
            <a:extLst>
              <a:ext uri="{FF2B5EF4-FFF2-40B4-BE49-F238E27FC236}">
                <a16:creationId xmlns:a16="http://schemas.microsoft.com/office/drawing/2014/main" id="{A56D2513-F88A-4C1A-8A3B-2001F963CA63}"/>
              </a:ext>
            </a:extLst>
          </p:cNvPr>
          <p:cNvSpPr>
            <a:spLocks noGrp="1"/>
          </p:cNvSpPr>
          <p:nvPr/>
        </p:nvSpPr>
        <p:spPr>
          <a:xfrm>
            <a:off x="10991850" y="32575500"/>
            <a:ext cx="8496300" cy="1581150"/>
          </a:xfrm>
          <a:prstGeom prst="rect">
            <a:avLst/>
          </a:prstGeom>
          <a:noFill/>
          <a:ln w="0">
            <a:noFill/>
            <a:prstDash val="solid"/>
          </a:ln>
        </p:spPr>
        <p:txBody>
          <a:bodyPr/>
          <a:lstStyle/>
          <a:p>
            <a:pPr>
              <a:buNone/>
              <a:defRPr sz="1800">
                <a:solidFill>
                  <a:srgbClr val="121426"/>
                </a:solidFill>
                <a:latin typeface="Arial"/>
                <a:ea typeface="Arial"/>
                <a:cs typeface="Arial"/>
              </a:defRPr>
            </a:pPr>
            <a:r>
              <a:rPr sz="2000" dirty="0">
                <a:solidFill>
                  <a:srgbClr val="121426"/>
                </a:solidFill>
                <a:latin typeface="Arial"/>
                <a:ea typeface="Arial"/>
                <a:cs typeface="Arial"/>
              </a:rPr>
              <a:t>• Gaze exports were mapped into five AOIs: </a:t>
            </a:r>
            <a:r>
              <a:rPr sz="2000" dirty="0" err="1">
                <a:solidFill>
                  <a:srgbClr val="121426"/>
                </a:solidFill>
                <a:latin typeface="Arial"/>
                <a:ea typeface="Arial"/>
                <a:cs typeface="Arial"/>
              </a:rPr>
              <a:t>Face_TOP</a:t>
            </a:r>
            <a:r>
              <a:rPr sz="2000" dirty="0">
                <a:solidFill>
                  <a:srgbClr val="121426"/>
                </a:solidFill>
                <a:latin typeface="Arial"/>
                <a:ea typeface="Arial"/>
                <a:cs typeface="Arial"/>
              </a:rPr>
              <a:t>, </a:t>
            </a:r>
            <a:r>
              <a:rPr sz="2000" dirty="0" err="1">
                <a:solidFill>
                  <a:srgbClr val="121426"/>
                </a:solidFill>
                <a:latin typeface="Arial"/>
                <a:ea typeface="Arial"/>
                <a:cs typeface="Arial"/>
              </a:rPr>
              <a:t>Face_BOTTOM</a:t>
            </a:r>
            <a:r>
              <a:rPr sz="2000" dirty="0">
                <a:solidFill>
                  <a:srgbClr val="121426"/>
                </a:solidFill>
                <a:latin typeface="Arial"/>
                <a:ea typeface="Arial"/>
                <a:cs typeface="Arial"/>
              </a:rPr>
              <a:t>, Torso, Tail and Legs.</a:t>
            </a:r>
          </a:p>
          <a:p>
            <a:pPr>
              <a:buNone/>
              <a:defRPr sz="1800">
                <a:solidFill>
                  <a:srgbClr val="121426"/>
                </a:solidFill>
                <a:latin typeface="Arial"/>
                <a:ea typeface="Arial"/>
                <a:cs typeface="Arial"/>
              </a:defRPr>
            </a:pPr>
            <a:r>
              <a:rPr sz="2000" dirty="0">
                <a:solidFill>
                  <a:srgbClr val="121426"/>
                </a:solidFill>
                <a:latin typeface="Arial"/>
                <a:ea typeface="Arial"/>
                <a:cs typeface="Arial"/>
              </a:rPr>
              <a:t>• Analysis compared fixation patterns, </a:t>
            </a:r>
            <a:r>
              <a:rPr sz="2000" dirty="0" err="1">
                <a:solidFill>
                  <a:srgbClr val="121426"/>
                </a:solidFill>
                <a:latin typeface="Arial"/>
                <a:ea typeface="Arial"/>
                <a:cs typeface="Arial"/>
              </a:rPr>
              <a:t>scanpaths</a:t>
            </a:r>
            <a:r>
              <a:rPr sz="2000" dirty="0">
                <a:solidFill>
                  <a:srgbClr val="121426"/>
                </a:solidFill>
                <a:latin typeface="Arial"/>
                <a:ea typeface="Arial"/>
                <a:cs typeface="Arial"/>
              </a:rPr>
              <a:t> and recognition accuracy.</a:t>
            </a:r>
          </a:p>
          <a:p>
            <a:pPr>
              <a:buNone/>
              <a:defRPr sz="1800">
                <a:solidFill>
                  <a:srgbClr val="121426"/>
                </a:solidFill>
                <a:latin typeface="Arial"/>
                <a:ea typeface="Arial"/>
                <a:cs typeface="Arial"/>
              </a:defRPr>
            </a:pPr>
            <a:r>
              <a:rPr sz="2000" dirty="0">
                <a:solidFill>
                  <a:srgbClr val="121426"/>
                </a:solidFill>
                <a:latin typeface="Arial"/>
                <a:ea typeface="Arial"/>
                <a:cs typeface="Arial"/>
              </a:rPr>
              <a:t>• Questionnaire answers were compared with actual gaze behavior.</a:t>
            </a:r>
          </a:p>
        </p:txBody>
      </p:sp>
      <p:sp>
        <p:nvSpPr>
          <p:cNvPr id="305" name="lessons-card">
            <a:extLst>
              <a:ext uri="{FF2B5EF4-FFF2-40B4-BE49-F238E27FC236}">
                <a16:creationId xmlns:a16="http://schemas.microsoft.com/office/drawing/2014/main" id="{51B82F28-B7A7-4FC7-8A6D-2453B27AB496}"/>
              </a:ext>
            </a:extLst>
          </p:cNvPr>
          <p:cNvSpPr>
            <a:spLocks noGrp="1"/>
          </p:cNvSpPr>
          <p:nvPr/>
        </p:nvSpPr>
        <p:spPr>
          <a:xfrm>
            <a:off x="20993100" y="31794450"/>
            <a:ext cx="8858250" cy="2571750"/>
          </a:xfrm>
          <a:prstGeom prst="roundRect">
            <a:avLst>
              <a:gd name="adj" fmla="val 2222"/>
            </a:avLst>
          </a:prstGeom>
          <a:solidFill>
            <a:srgbClr val="FFFFFF"/>
          </a:solidFill>
          <a:ln w="19050">
            <a:solidFill>
              <a:srgbClr val="9BB6D3"/>
            </a:solidFill>
            <a:prstDash val="solid"/>
          </a:ln>
        </p:spPr>
        <p:txBody>
          <a:bodyPr/>
          <a:lstStyle/>
          <a:p>
            <a:endParaRPr sz="2000"/>
          </a:p>
        </p:txBody>
      </p:sp>
      <p:sp>
        <p:nvSpPr>
          <p:cNvPr id="306" name="lessons-accent">
            <a:extLst>
              <a:ext uri="{FF2B5EF4-FFF2-40B4-BE49-F238E27FC236}">
                <a16:creationId xmlns:a16="http://schemas.microsoft.com/office/drawing/2014/main" id="{F7E82816-BBE3-453D-8D38-B676D1538913}"/>
              </a:ext>
            </a:extLst>
          </p:cNvPr>
          <p:cNvSpPr>
            <a:spLocks noGrp="1"/>
          </p:cNvSpPr>
          <p:nvPr/>
        </p:nvSpPr>
        <p:spPr>
          <a:xfrm>
            <a:off x="20993100" y="31794450"/>
            <a:ext cx="8858250" cy="114300"/>
          </a:xfrm>
          <a:prstGeom prst="rect">
            <a:avLst/>
          </a:prstGeom>
          <a:solidFill>
            <a:srgbClr val="F27C38"/>
          </a:solidFill>
          <a:ln w="0">
            <a:solidFill>
              <a:srgbClr val="F27C38"/>
            </a:solidFill>
            <a:prstDash val="solid"/>
          </a:ln>
        </p:spPr>
        <p:txBody>
          <a:bodyPr/>
          <a:lstStyle/>
          <a:p>
            <a:endParaRPr sz="2000"/>
          </a:p>
        </p:txBody>
      </p:sp>
      <p:sp>
        <p:nvSpPr>
          <p:cNvPr id="307" name="lessons-title">
            <a:extLst>
              <a:ext uri="{FF2B5EF4-FFF2-40B4-BE49-F238E27FC236}">
                <a16:creationId xmlns:a16="http://schemas.microsoft.com/office/drawing/2014/main" id="{6AFEB346-EB3F-43A4-93F9-5B02A9520A83}"/>
              </a:ext>
            </a:extLst>
          </p:cNvPr>
          <p:cNvSpPr>
            <a:spLocks noGrp="1"/>
          </p:cNvSpPr>
          <p:nvPr/>
        </p:nvSpPr>
        <p:spPr>
          <a:xfrm>
            <a:off x="21221700" y="32061150"/>
            <a:ext cx="8401050" cy="400050"/>
          </a:xfrm>
          <a:prstGeom prst="rect">
            <a:avLst/>
          </a:prstGeom>
          <a:noFill/>
          <a:ln w="0">
            <a:noFill/>
            <a:prstDash val="solid"/>
          </a:ln>
        </p:spPr>
        <p:txBody>
          <a:bodyPr/>
          <a:lstStyle/>
          <a:p>
            <a:pPr>
              <a:buNone/>
              <a:defRPr sz="2325" b="1">
                <a:solidFill>
                  <a:srgbClr val="28235C"/>
                </a:solidFill>
                <a:latin typeface="Arial"/>
                <a:ea typeface="Arial"/>
                <a:cs typeface="Arial"/>
              </a:defRPr>
            </a:pPr>
            <a:r>
              <a:rPr sz="2400" b="1">
                <a:solidFill>
                  <a:srgbClr val="28235C"/>
                </a:solidFill>
                <a:latin typeface="Arial"/>
                <a:ea typeface="Arial"/>
                <a:cs typeface="Arial"/>
              </a:rPr>
              <a:t>3. Constraints Addressed</a:t>
            </a:r>
          </a:p>
        </p:txBody>
      </p:sp>
      <p:sp>
        <p:nvSpPr>
          <p:cNvPr id="308" name="lessons-body">
            <a:extLst>
              <a:ext uri="{FF2B5EF4-FFF2-40B4-BE49-F238E27FC236}">
                <a16:creationId xmlns:a16="http://schemas.microsoft.com/office/drawing/2014/main" id="{DC155603-ADA4-4CEB-A69D-5DAE941BF7C8}"/>
              </a:ext>
            </a:extLst>
          </p:cNvPr>
          <p:cNvSpPr>
            <a:spLocks noGrp="1"/>
          </p:cNvSpPr>
          <p:nvPr/>
        </p:nvSpPr>
        <p:spPr>
          <a:xfrm>
            <a:off x="21221700" y="32575500"/>
            <a:ext cx="8401050" cy="1581150"/>
          </a:xfrm>
          <a:prstGeom prst="rect">
            <a:avLst/>
          </a:prstGeom>
          <a:noFill/>
          <a:ln w="0">
            <a:noFill/>
            <a:prstDash val="solid"/>
          </a:ln>
        </p:spPr>
        <p:txBody>
          <a:bodyPr/>
          <a:lstStyle/>
          <a:p>
            <a:pPr>
              <a:buNone/>
              <a:defRPr sz="1800">
                <a:solidFill>
                  <a:srgbClr val="121426"/>
                </a:solidFill>
                <a:latin typeface="Arial"/>
                <a:ea typeface="Arial"/>
                <a:cs typeface="Arial"/>
              </a:defRPr>
            </a:pPr>
            <a:r>
              <a:rPr sz="2000">
                <a:solidFill>
                  <a:srgbClr val="121426"/>
                </a:solidFill>
                <a:latin typeface="Arial"/>
                <a:ea typeface="Arial"/>
                <a:cs typeface="Arial"/>
              </a:rPr>
              <a:t>• Calibration quality was affected by lighting, head movement and blinking.</a:t>
            </a:r>
          </a:p>
          <a:p>
            <a:pPr>
              <a:buNone/>
              <a:defRPr sz="1800">
                <a:solidFill>
                  <a:srgbClr val="121426"/>
                </a:solidFill>
                <a:latin typeface="Arial"/>
                <a:ea typeface="Arial"/>
                <a:cs typeface="Arial"/>
              </a:defRPr>
            </a:pPr>
            <a:r>
              <a:rPr sz="2000">
                <a:solidFill>
                  <a:srgbClr val="121426"/>
                </a:solidFill>
                <a:latin typeface="Arial"/>
                <a:ea typeface="Arial"/>
                <a:cs typeface="Arial"/>
              </a:rPr>
              <a:t>• Dynamic videos made fine-grained AOI labeling harder than static images.</a:t>
            </a:r>
          </a:p>
          <a:p>
            <a:pPr>
              <a:buNone/>
              <a:defRPr sz="1800">
                <a:solidFill>
                  <a:srgbClr val="121426"/>
                </a:solidFill>
                <a:latin typeface="Arial"/>
                <a:ea typeface="Arial"/>
                <a:cs typeface="Arial"/>
              </a:defRPr>
            </a:pPr>
            <a:r>
              <a:rPr sz="2000">
                <a:solidFill>
                  <a:srgbClr val="121426"/>
                </a:solidFill>
                <a:latin typeface="Arial"/>
                <a:ea typeface="Arial"/>
                <a:cs typeface="Arial"/>
              </a:rPr>
              <a:t>• Sample size and gender imbalance limit the strength of conclusions.</a:t>
            </a:r>
          </a:p>
        </p:txBody>
      </p:sp>
      <p:sp>
        <p:nvSpPr>
          <p:cNvPr id="309" name="pipeline-title">
            <a:extLst>
              <a:ext uri="{FF2B5EF4-FFF2-40B4-BE49-F238E27FC236}">
                <a16:creationId xmlns:a16="http://schemas.microsoft.com/office/drawing/2014/main" id="{51691B88-6B27-4CAA-87F9-626D758E3284}"/>
              </a:ext>
            </a:extLst>
          </p:cNvPr>
          <p:cNvSpPr>
            <a:spLocks noGrp="1"/>
          </p:cNvSpPr>
          <p:nvPr/>
        </p:nvSpPr>
        <p:spPr>
          <a:xfrm>
            <a:off x="533400" y="34918650"/>
            <a:ext cx="14287500" cy="40005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a:solidFill>
                  <a:srgbClr val="121426"/>
                </a:solidFill>
                <a:latin typeface="Arial"/>
                <a:ea typeface="Arial"/>
                <a:cs typeface="Arial"/>
              </a:rPr>
              <a:t>Analysis pipeline used in the project</a:t>
            </a:r>
          </a:p>
        </p:txBody>
      </p:sp>
      <p:sp>
        <p:nvSpPr>
          <p:cNvPr id="310" name="pipeline-step-1">
            <a:extLst>
              <a:ext uri="{FF2B5EF4-FFF2-40B4-BE49-F238E27FC236}">
                <a16:creationId xmlns:a16="http://schemas.microsoft.com/office/drawing/2014/main" id="{7F8E02AF-40F8-41C7-9BDA-07DDC8F0E217}"/>
              </a:ext>
            </a:extLst>
          </p:cNvPr>
          <p:cNvSpPr>
            <a:spLocks noGrp="1"/>
          </p:cNvSpPr>
          <p:nvPr/>
        </p:nvSpPr>
        <p:spPr>
          <a:xfrm>
            <a:off x="609600" y="35490150"/>
            <a:ext cx="4095750" cy="904875"/>
          </a:xfrm>
          <a:prstGeom prst="roundRect">
            <a:avLst>
              <a:gd name="adj" fmla="val 6316"/>
            </a:avLst>
          </a:prstGeom>
          <a:solidFill>
            <a:srgbClr val="FFFFFF"/>
          </a:solidFill>
          <a:ln w="19050">
            <a:solidFill>
              <a:srgbClr val="9BB6D3"/>
            </a:solidFill>
            <a:prstDash val="solid"/>
          </a:ln>
        </p:spPr>
        <p:txBody>
          <a:bodyPr/>
          <a:lstStyle/>
          <a:p>
            <a:endParaRPr sz="2000"/>
          </a:p>
        </p:txBody>
      </p:sp>
      <p:sp>
        <p:nvSpPr>
          <p:cNvPr id="311" name="pipeline-step-1-dot">
            <a:extLst>
              <a:ext uri="{FF2B5EF4-FFF2-40B4-BE49-F238E27FC236}">
                <a16:creationId xmlns:a16="http://schemas.microsoft.com/office/drawing/2014/main" id="{29A4D238-2BFE-4432-A29F-6783599947F9}"/>
              </a:ext>
            </a:extLst>
          </p:cNvPr>
          <p:cNvSpPr>
            <a:spLocks noGrp="1"/>
          </p:cNvSpPr>
          <p:nvPr/>
        </p:nvSpPr>
        <p:spPr>
          <a:xfrm>
            <a:off x="781050" y="35699700"/>
            <a:ext cx="476250" cy="476250"/>
          </a:xfrm>
          <a:prstGeom prst="ellipse">
            <a:avLst/>
          </a:prstGeom>
          <a:solidFill>
            <a:srgbClr val="14A098"/>
          </a:solidFill>
          <a:ln w="0">
            <a:solidFill>
              <a:srgbClr val="14A098"/>
            </a:solidFill>
            <a:prstDash val="solid"/>
          </a:ln>
        </p:spPr>
        <p:txBody>
          <a:bodyPr/>
          <a:lstStyle/>
          <a:p>
            <a:endParaRPr sz="2000"/>
          </a:p>
        </p:txBody>
      </p:sp>
      <p:sp>
        <p:nvSpPr>
          <p:cNvPr id="312" name="pipeline-step-1-num">
            <a:extLst>
              <a:ext uri="{FF2B5EF4-FFF2-40B4-BE49-F238E27FC236}">
                <a16:creationId xmlns:a16="http://schemas.microsoft.com/office/drawing/2014/main" id="{641A7CE5-56C7-4A8E-A980-ADEAE072EA74}"/>
              </a:ext>
            </a:extLst>
          </p:cNvPr>
          <p:cNvSpPr>
            <a:spLocks noGrp="1"/>
          </p:cNvSpPr>
          <p:nvPr/>
        </p:nvSpPr>
        <p:spPr>
          <a:xfrm>
            <a:off x="781050" y="35756850"/>
            <a:ext cx="476250" cy="323850"/>
          </a:xfrm>
          <a:prstGeom prst="rect">
            <a:avLst/>
          </a:prstGeom>
          <a:noFill/>
          <a:ln w="0">
            <a:noFill/>
            <a:prstDash val="solid"/>
          </a:ln>
        </p:spPr>
        <p:txBody>
          <a:bodyPr/>
          <a:lstStyle/>
          <a:p>
            <a:pPr algn="ctr">
              <a:buNone/>
              <a:defRPr sz="1950" b="1">
                <a:solidFill>
                  <a:srgbClr val="FFFFFF"/>
                </a:solidFill>
                <a:latin typeface="Arial"/>
                <a:ea typeface="Arial"/>
                <a:cs typeface="Arial"/>
              </a:defRPr>
            </a:pPr>
            <a:r>
              <a:rPr sz="2000" b="1">
                <a:solidFill>
                  <a:srgbClr val="FFFFFF"/>
                </a:solidFill>
                <a:latin typeface="Arial"/>
                <a:ea typeface="Arial"/>
                <a:cs typeface="Arial"/>
              </a:rPr>
              <a:t>1</a:t>
            </a:r>
          </a:p>
        </p:txBody>
      </p:sp>
      <p:sp>
        <p:nvSpPr>
          <p:cNvPr id="313" name="pipeline-step-1-label">
            <a:extLst>
              <a:ext uri="{FF2B5EF4-FFF2-40B4-BE49-F238E27FC236}">
                <a16:creationId xmlns:a16="http://schemas.microsoft.com/office/drawing/2014/main" id="{20C6748C-C9DA-498E-A941-8DD6B5F70DA9}"/>
              </a:ext>
            </a:extLst>
          </p:cNvPr>
          <p:cNvSpPr>
            <a:spLocks noGrp="1"/>
          </p:cNvSpPr>
          <p:nvPr/>
        </p:nvSpPr>
        <p:spPr>
          <a:xfrm>
            <a:off x="1390650" y="35680650"/>
            <a:ext cx="3105150" cy="552450"/>
          </a:xfrm>
          <a:prstGeom prst="rect">
            <a:avLst/>
          </a:prstGeom>
          <a:noFill/>
          <a:ln w="0">
            <a:noFill/>
            <a:prstDash val="solid"/>
          </a:ln>
        </p:spPr>
        <p:txBody>
          <a:bodyPr/>
          <a:lstStyle/>
          <a:p>
            <a:pPr>
              <a:buNone/>
              <a:defRPr sz="1800" b="1">
                <a:solidFill>
                  <a:srgbClr val="121426"/>
                </a:solidFill>
                <a:latin typeface="Arial"/>
                <a:ea typeface="Arial"/>
                <a:cs typeface="Arial"/>
              </a:defRPr>
            </a:pPr>
            <a:r>
              <a:rPr sz="2000" b="1">
                <a:solidFill>
                  <a:srgbClr val="121426"/>
                </a:solidFill>
                <a:latin typeface="Arial"/>
                <a:ea typeface="Arial"/>
                <a:cs typeface="Arial"/>
              </a:rPr>
              <a:t>Collect gaze recordings</a:t>
            </a:r>
          </a:p>
          <a:p>
            <a:pPr>
              <a:buNone/>
              <a:defRPr sz="1800" b="1">
                <a:solidFill>
                  <a:srgbClr val="121426"/>
                </a:solidFill>
                <a:latin typeface="Arial"/>
                <a:ea typeface="Arial"/>
                <a:cs typeface="Arial"/>
              </a:defRPr>
            </a:pPr>
            <a:r>
              <a:rPr sz="2000" b="1">
                <a:solidFill>
                  <a:srgbClr val="121426"/>
                </a:solidFill>
                <a:latin typeface="Arial"/>
                <a:ea typeface="Arial"/>
                <a:cs typeface="Arial"/>
              </a:rPr>
              <a:t>and questionnaire answers</a:t>
            </a:r>
          </a:p>
        </p:txBody>
      </p:sp>
      <p:sp>
        <p:nvSpPr>
          <p:cNvPr id="314" name="pipeline-arrow-1">
            <a:extLst>
              <a:ext uri="{FF2B5EF4-FFF2-40B4-BE49-F238E27FC236}">
                <a16:creationId xmlns:a16="http://schemas.microsoft.com/office/drawing/2014/main" id="{D1F7FBC8-7BF8-4C04-9521-E3FF44D9F4DB}"/>
              </a:ext>
            </a:extLst>
          </p:cNvPr>
          <p:cNvSpPr>
            <a:spLocks noGrp="1"/>
          </p:cNvSpPr>
          <p:nvPr/>
        </p:nvSpPr>
        <p:spPr>
          <a:xfrm>
            <a:off x="4953000" y="35737800"/>
            <a:ext cx="857250" cy="400050"/>
          </a:xfrm>
          <a:prstGeom prst="rightArrow">
            <a:avLst/>
          </a:prstGeom>
          <a:solidFill>
            <a:srgbClr val="14A098"/>
          </a:solidFill>
          <a:ln w="0">
            <a:solidFill>
              <a:srgbClr val="14A098"/>
            </a:solidFill>
            <a:prstDash val="solid"/>
          </a:ln>
        </p:spPr>
        <p:txBody>
          <a:bodyPr/>
          <a:lstStyle/>
          <a:p>
            <a:endParaRPr sz="2000"/>
          </a:p>
        </p:txBody>
      </p:sp>
      <p:sp>
        <p:nvSpPr>
          <p:cNvPr id="315" name="pipeline-step-2">
            <a:extLst>
              <a:ext uri="{FF2B5EF4-FFF2-40B4-BE49-F238E27FC236}">
                <a16:creationId xmlns:a16="http://schemas.microsoft.com/office/drawing/2014/main" id="{BEB0D519-52AC-4BCC-8B10-D31B170D3EF9}"/>
              </a:ext>
            </a:extLst>
          </p:cNvPr>
          <p:cNvSpPr>
            <a:spLocks noGrp="1"/>
          </p:cNvSpPr>
          <p:nvPr/>
        </p:nvSpPr>
        <p:spPr>
          <a:xfrm>
            <a:off x="6048375" y="35490150"/>
            <a:ext cx="4095750" cy="904875"/>
          </a:xfrm>
          <a:prstGeom prst="roundRect">
            <a:avLst>
              <a:gd name="adj" fmla="val 6316"/>
            </a:avLst>
          </a:prstGeom>
          <a:solidFill>
            <a:srgbClr val="FFFFFF"/>
          </a:solidFill>
          <a:ln w="19050">
            <a:solidFill>
              <a:srgbClr val="9BB6D3"/>
            </a:solidFill>
            <a:prstDash val="solid"/>
          </a:ln>
        </p:spPr>
        <p:txBody>
          <a:bodyPr/>
          <a:lstStyle/>
          <a:p>
            <a:endParaRPr sz="2000"/>
          </a:p>
        </p:txBody>
      </p:sp>
      <p:sp>
        <p:nvSpPr>
          <p:cNvPr id="316" name="pipeline-step-2-dot">
            <a:extLst>
              <a:ext uri="{FF2B5EF4-FFF2-40B4-BE49-F238E27FC236}">
                <a16:creationId xmlns:a16="http://schemas.microsoft.com/office/drawing/2014/main" id="{C0150485-50F0-422A-A6D3-7F26E1FB4497}"/>
              </a:ext>
            </a:extLst>
          </p:cNvPr>
          <p:cNvSpPr>
            <a:spLocks noGrp="1"/>
          </p:cNvSpPr>
          <p:nvPr/>
        </p:nvSpPr>
        <p:spPr>
          <a:xfrm>
            <a:off x="6219825" y="35699700"/>
            <a:ext cx="476250" cy="476250"/>
          </a:xfrm>
          <a:prstGeom prst="ellipse">
            <a:avLst/>
          </a:prstGeom>
          <a:solidFill>
            <a:srgbClr val="3975A8"/>
          </a:solidFill>
          <a:ln w="0">
            <a:solidFill>
              <a:srgbClr val="3975A8"/>
            </a:solidFill>
            <a:prstDash val="solid"/>
          </a:ln>
        </p:spPr>
        <p:txBody>
          <a:bodyPr/>
          <a:lstStyle/>
          <a:p>
            <a:endParaRPr sz="2000"/>
          </a:p>
        </p:txBody>
      </p:sp>
      <p:sp>
        <p:nvSpPr>
          <p:cNvPr id="317" name="pipeline-step-2-num">
            <a:extLst>
              <a:ext uri="{FF2B5EF4-FFF2-40B4-BE49-F238E27FC236}">
                <a16:creationId xmlns:a16="http://schemas.microsoft.com/office/drawing/2014/main" id="{AC447278-84F2-4128-90DB-DA99ACA873D1}"/>
              </a:ext>
            </a:extLst>
          </p:cNvPr>
          <p:cNvSpPr>
            <a:spLocks noGrp="1"/>
          </p:cNvSpPr>
          <p:nvPr/>
        </p:nvSpPr>
        <p:spPr>
          <a:xfrm>
            <a:off x="6219825" y="35756850"/>
            <a:ext cx="476250" cy="323850"/>
          </a:xfrm>
          <a:prstGeom prst="rect">
            <a:avLst/>
          </a:prstGeom>
          <a:noFill/>
          <a:ln w="0">
            <a:noFill/>
            <a:prstDash val="solid"/>
          </a:ln>
        </p:spPr>
        <p:txBody>
          <a:bodyPr/>
          <a:lstStyle/>
          <a:p>
            <a:pPr algn="ctr">
              <a:buNone/>
              <a:defRPr sz="1950" b="1">
                <a:solidFill>
                  <a:srgbClr val="FFFFFF"/>
                </a:solidFill>
                <a:latin typeface="Arial"/>
                <a:ea typeface="Arial"/>
                <a:cs typeface="Arial"/>
              </a:defRPr>
            </a:pPr>
            <a:r>
              <a:rPr sz="2000" b="1">
                <a:solidFill>
                  <a:srgbClr val="FFFFFF"/>
                </a:solidFill>
                <a:latin typeface="Arial"/>
                <a:ea typeface="Arial"/>
                <a:cs typeface="Arial"/>
              </a:rPr>
              <a:t>2</a:t>
            </a:r>
          </a:p>
        </p:txBody>
      </p:sp>
      <p:sp>
        <p:nvSpPr>
          <p:cNvPr id="318" name="pipeline-step-2-label">
            <a:extLst>
              <a:ext uri="{FF2B5EF4-FFF2-40B4-BE49-F238E27FC236}">
                <a16:creationId xmlns:a16="http://schemas.microsoft.com/office/drawing/2014/main" id="{2BC3265F-18C4-4121-B664-0C0162844573}"/>
              </a:ext>
            </a:extLst>
          </p:cNvPr>
          <p:cNvSpPr>
            <a:spLocks noGrp="1"/>
          </p:cNvSpPr>
          <p:nvPr/>
        </p:nvSpPr>
        <p:spPr>
          <a:xfrm>
            <a:off x="6829425" y="35680650"/>
            <a:ext cx="3105150" cy="552450"/>
          </a:xfrm>
          <a:prstGeom prst="rect">
            <a:avLst/>
          </a:prstGeom>
          <a:noFill/>
          <a:ln w="0">
            <a:noFill/>
            <a:prstDash val="solid"/>
          </a:ln>
        </p:spPr>
        <p:txBody>
          <a:bodyPr/>
          <a:lstStyle/>
          <a:p>
            <a:pPr>
              <a:buNone/>
              <a:defRPr sz="1800" b="1">
                <a:solidFill>
                  <a:srgbClr val="121426"/>
                </a:solidFill>
                <a:latin typeface="Arial"/>
                <a:ea typeface="Arial"/>
                <a:cs typeface="Arial"/>
              </a:defRPr>
            </a:pPr>
            <a:r>
              <a:rPr sz="2000" b="1">
                <a:solidFill>
                  <a:srgbClr val="121426"/>
                </a:solidFill>
                <a:latin typeface="Arial"/>
                <a:ea typeface="Arial"/>
                <a:cs typeface="Arial"/>
              </a:rPr>
              <a:t>Normalize AOIs and</a:t>
            </a:r>
          </a:p>
          <a:p>
            <a:pPr>
              <a:buNone/>
              <a:defRPr sz="1800" b="1">
                <a:solidFill>
                  <a:srgbClr val="121426"/>
                </a:solidFill>
                <a:latin typeface="Arial"/>
                <a:ea typeface="Arial"/>
                <a:cs typeface="Arial"/>
              </a:defRPr>
            </a:pPr>
            <a:r>
              <a:rPr sz="2000" b="1">
                <a:solidFill>
                  <a:srgbClr val="121426"/>
                </a:solidFill>
                <a:latin typeface="Arial"/>
                <a:ea typeface="Arial"/>
                <a:cs typeface="Arial"/>
              </a:rPr>
              <a:t>remove unusable samples</a:t>
            </a:r>
          </a:p>
        </p:txBody>
      </p:sp>
      <p:sp>
        <p:nvSpPr>
          <p:cNvPr id="319" name="pipeline-arrow-2">
            <a:extLst>
              <a:ext uri="{FF2B5EF4-FFF2-40B4-BE49-F238E27FC236}">
                <a16:creationId xmlns:a16="http://schemas.microsoft.com/office/drawing/2014/main" id="{E927F5C0-94F1-4227-925D-94463E34C8E2}"/>
              </a:ext>
            </a:extLst>
          </p:cNvPr>
          <p:cNvSpPr>
            <a:spLocks noGrp="1"/>
          </p:cNvSpPr>
          <p:nvPr/>
        </p:nvSpPr>
        <p:spPr>
          <a:xfrm>
            <a:off x="10382250" y="35737800"/>
            <a:ext cx="857250" cy="400050"/>
          </a:xfrm>
          <a:prstGeom prst="rightArrow">
            <a:avLst/>
          </a:prstGeom>
          <a:solidFill>
            <a:srgbClr val="3975A8"/>
          </a:solidFill>
          <a:ln w="0">
            <a:solidFill>
              <a:srgbClr val="3975A8"/>
            </a:solidFill>
            <a:prstDash val="solid"/>
          </a:ln>
        </p:spPr>
        <p:txBody>
          <a:bodyPr/>
          <a:lstStyle/>
          <a:p>
            <a:endParaRPr sz="2000"/>
          </a:p>
        </p:txBody>
      </p:sp>
      <p:sp>
        <p:nvSpPr>
          <p:cNvPr id="320" name="pipeline-step-3">
            <a:extLst>
              <a:ext uri="{FF2B5EF4-FFF2-40B4-BE49-F238E27FC236}">
                <a16:creationId xmlns:a16="http://schemas.microsoft.com/office/drawing/2014/main" id="{3577553C-A210-44CE-852D-3CD278AB7E11}"/>
              </a:ext>
            </a:extLst>
          </p:cNvPr>
          <p:cNvSpPr>
            <a:spLocks noGrp="1"/>
          </p:cNvSpPr>
          <p:nvPr/>
        </p:nvSpPr>
        <p:spPr>
          <a:xfrm>
            <a:off x="11477625" y="35490150"/>
            <a:ext cx="4095750" cy="904875"/>
          </a:xfrm>
          <a:prstGeom prst="roundRect">
            <a:avLst>
              <a:gd name="adj" fmla="val 6316"/>
            </a:avLst>
          </a:prstGeom>
          <a:solidFill>
            <a:srgbClr val="FFFFFF"/>
          </a:solidFill>
          <a:ln w="19050">
            <a:solidFill>
              <a:srgbClr val="9BB6D3"/>
            </a:solidFill>
            <a:prstDash val="solid"/>
          </a:ln>
        </p:spPr>
        <p:txBody>
          <a:bodyPr/>
          <a:lstStyle/>
          <a:p>
            <a:endParaRPr sz="2000"/>
          </a:p>
        </p:txBody>
      </p:sp>
      <p:sp>
        <p:nvSpPr>
          <p:cNvPr id="321" name="pipeline-step-3-dot">
            <a:extLst>
              <a:ext uri="{FF2B5EF4-FFF2-40B4-BE49-F238E27FC236}">
                <a16:creationId xmlns:a16="http://schemas.microsoft.com/office/drawing/2014/main" id="{077B1C3D-ADF1-46C5-8E41-AF523B56C1FC}"/>
              </a:ext>
            </a:extLst>
          </p:cNvPr>
          <p:cNvSpPr>
            <a:spLocks noGrp="1"/>
          </p:cNvSpPr>
          <p:nvPr/>
        </p:nvSpPr>
        <p:spPr>
          <a:xfrm>
            <a:off x="11649075" y="35699700"/>
            <a:ext cx="476250" cy="476250"/>
          </a:xfrm>
          <a:prstGeom prst="ellipse">
            <a:avLst/>
          </a:prstGeom>
          <a:solidFill>
            <a:srgbClr val="F27C38"/>
          </a:solidFill>
          <a:ln w="0">
            <a:solidFill>
              <a:srgbClr val="F27C38"/>
            </a:solidFill>
            <a:prstDash val="solid"/>
          </a:ln>
        </p:spPr>
        <p:txBody>
          <a:bodyPr/>
          <a:lstStyle/>
          <a:p>
            <a:endParaRPr sz="2000"/>
          </a:p>
        </p:txBody>
      </p:sp>
      <p:sp>
        <p:nvSpPr>
          <p:cNvPr id="322" name="pipeline-step-3-num">
            <a:extLst>
              <a:ext uri="{FF2B5EF4-FFF2-40B4-BE49-F238E27FC236}">
                <a16:creationId xmlns:a16="http://schemas.microsoft.com/office/drawing/2014/main" id="{1ADEBEB0-5498-4631-82B0-4F0511C414F2}"/>
              </a:ext>
            </a:extLst>
          </p:cNvPr>
          <p:cNvSpPr>
            <a:spLocks noGrp="1"/>
          </p:cNvSpPr>
          <p:nvPr/>
        </p:nvSpPr>
        <p:spPr>
          <a:xfrm>
            <a:off x="11649075" y="35756850"/>
            <a:ext cx="476250" cy="323850"/>
          </a:xfrm>
          <a:prstGeom prst="rect">
            <a:avLst/>
          </a:prstGeom>
          <a:noFill/>
          <a:ln w="0">
            <a:noFill/>
            <a:prstDash val="solid"/>
          </a:ln>
        </p:spPr>
        <p:txBody>
          <a:bodyPr/>
          <a:lstStyle/>
          <a:p>
            <a:pPr algn="ctr">
              <a:buNone/>
              <a:defRPr sz="1950" b="1">
                <a:solidFill>
                  <a:srgbClr val="FFFFFF"/>
                </a:solidFill>
                <a:latin typeface="Arial"/>
                <a:ea typeface="Arial"/>
                <a:cs typeface="Arial"/>
              </a:defRPr>
            </a:pPr>
            <a:r>
              <a:rPr sz="2000" b="1">
                <a:solidFill>
                  <a:srgbClr val="FFFFFF"/>
                </a:solidFill>
                <a:latin typeface="Arial"/>
                <a:ea typeface="Arial"/>
                <a:cs typeface="Arial"/>
              </a:rPr>
              <a:t>3</a:t>
            </a:r>
          </a:p>
        </p:txBody>
      </p:sp>
      <p:sp>
        <p:nvSpPr>
          <p:cNvPr id="323" name="pipeline-step-3-label">
            <a:extLst>
              <a:ext uri="{FF2B5EF4-FFF2-40B4-BE49-F238E27FC236}">
                <a16:creationId xmlns:a16="http://schemas.microsoft.com/office/drawing/2014/main" id="{D8D6466D-65CD-485A-BD3B-A5F39101268A}"/>
              </a:ext>
            </a:extLst>
          </p:cNvPr>
          <p:cNvSpPr>
            <a:spLocks noGrp="1"/>
          </p:cNvSpPr>
          <p:nvPr/>
        </p:nvSpPr>
        <p:spPr>
          <a:xfrm>
            <a:off x="12258675" y="35680650"/>
            <a:ext cx="3105150" cy="552450"/>
          </a:xfrm>
          <a:prstGeom prst="rect">
            <a:avLst/>
          </a:prstGeom>
          <a:noFill/>
          <a:ln w="0">
            <a:noFill/>
            <a:prstDash val="solid"/>
          </a:ln>
        </p:spPr>
        <p:txBody>
          <a:bodyPr/>
          <a:lstStyle/>
          <a:p>
            <a:pPr>
              <a:buNone/>
              <a:defRPr sz="1800" b="1">
                <a:solidFill>
                  <a:srgbClr val="121426"/>
                </a:solidFill>
                <a:latin typeface="Arial"/>
                <a:ea typeface="Arial"/>
                <a:cs typeface="Arial"/>
              </a:defRPr>
            </a:pPr>
            <a:r>
              <a:rPr sz="2000" b="1">
                <a:solidFill>
                  <a:srgbClr val="121426"/>
                </a:solidFill>
                <a:latin typeface="Arial"/>
                <a:ea typeface="Arial"/>
                <a:cs typeface="Arial"/>
              </a:rPr>
              <a:t>Compute gaze metrics</a:t>
            </a:r>
          </a:p>
          <a:p>
            <a:pPr>
              <a:buNone/>
              <a:defRPr sz="1800" b="1">
                <a:solidFill>
                  <a:srgbClr val="121426"/>
                </a:solidFill>
                <a:latin typeface="Arial"/>
                <a:ea typeface="Arial"/>
                <a:cs typeface="Arial"/>
              </a:defRPr>
            </a:pPr>
            <a:r>
              <a:rPr sz="2000" b="1">
                <a:solidFill>
                  <a:srgbClr val="121426"/>
                </a:solidFill>
                <a:latin typeface="Arial"/>
                <a:ea typeface="Arial"/>
                <a:cs typeface="Arial"/>
              </a:rPr>
              <a:t>and scanpath similarity</a:t>
            </a:r>
          </a:p>
        </p:txBody>
      </p:sp>
      <p:sp>
        <p:nvSpPr>
          <p:cNvPr id="324" name="pipeline-arrow-3">
            <a:extLst>
              <a:ext uri="{FF2B5EF4-FFF2-40B4-BE49-F238E27FC236}">
                <a16:creationId xmlns:a16="http://schemas.microsoft.com/office/drawing/2014/main" id="{16EE3FD7-062A-4FDE-B7EA-140D0E6668A1}"/>
              </a:ext>
            </a:extLst>
          </p:cNvPr>
          <p:cNvSpPr>
            <a:spLocks noGrp="1"/>
          </p:cNvSpPr>
          <p:nvPr/>
        </p:nvSpPr>
        <p:spPr>
          <a:xfrm>
            <a:off x="15811500" y="35737800"/>
            <a:ext cx="857250" cy="400050"/>
          </a:xfrm>
          <a:prstGeom prst="rightArrow">
            <a:avLst/>
          </a:prstGeom>
          <a:solidFill>
            <a:srgbClr val="F27C38"/>
          </a:solidFill>
          <a:ln w="0">
            <a:solidFill>
              <a:srgbClr val="F27C38"/>
            </a:solidFill>
            <a:prstDash val="solid"/>
          </a:ln>
        </p:spPr>
        <p:txBody>
          <a:bodyPr/>
          <a:lstStyle/>
          <a:p>
            <a:endParaRPr sz="2000"/>
          </a:p>
        </p:txBody>
      </p:sp>
      <p:sp>
        <p:nvSpPr>
          <p:cNvPr id="325" name="pipeline-step-4">
            <a:extLst>
              <a:ext uri="{FF2B5EF4-FFF2-40B4-BE49-F238E27FC236}">
                <a16:creationId xmlns:a16="http://schemas.microsoft.com/office/drawing/2014/main" id="{F198D7AA-E12C-4BF3-AC7E-B0308119F396}"/>
              </a:ext>
            </a:extLst>
          </p:cNvPr>
          <p:cNvSpPr>
            <a:spLocks noGrp="1"/>
          </p:cNvSpPr>
          <p:nvPr/>
        </p:nvSpPr>
        <p:spPr>
          <a:xfrm>
            <a:off x="16906875" y="35490150"/>
            <a:ext cx="4095750" cy="904875"/>
          </a:xfrm>
          <a:prstGeom prst="roundRect">
            <a:avLst>
              <a:gd name="adj" fmla="val 6316"/>
            </a:avLst>
          </a:prstGeom>
          <a:solidFill>
            <a:srgbClr val="FFFFFF"/>
          </a:solidFill>
          <a:ln w="19050">
            <a:solidFill>
              <a:srgbClr val="9BB6D3"/>
            </a:solidFill>
            <a:prstDash val="solid"/>
          </a:ln>
        </p:spPr>
        <p:txBody>
          <a:bodyPr/>
          <a:lstStyle/>
          <a:p>
            <a:endParaRPr sz="2000"/>
          </a:p>
        </p:txBody>
      </p:sp>
      <p:sp>
        <p:nvSpPr>
          <p:cNvPr id="326" name="pipeline-step-4-dot">
            <a:extLst>
              <a:ext uri="{FF2B5EF4-FFF2-40B4-BE49-F238E27FC236}">
                <a16:creationId xmlns:a16="http://schemas.microsoft.com/office/drawing/2014/main" id="{56190C98-977B-40AA-B22F-57AB63A496D8}"/>
              </a:ext>
            </a:extLst>
          </p:cNvPr>
          <p:cNvSpPr>
            <a:spLocks noGrp="1"/>
          </p:cNvSpPr>
          <p:nvPr/>
        </p:nvSpPr>
        <p:spPr>
          <a:xfrm>
            <a:off x="17078325" y="35699700"/>
            <a:ext cx="476250" cy="476250"/>
          </a:xfrm>
          <a:prstGeom prst="ellipse">
            <a:avLst/>
          </a:prstGeom>
          <a:solidFill>
            <a:srgbClr val="62A744"/>
          </a:solidFill>
          <a:ln w="0">
            <a:solidFill>
              <a:srgbClr val="62A744"/>
            </a:solidFill>
            <a:prstDash val="solid"/>
          </a:ln>
        </p:spPr>
        <p:txBody>
          <a:bodyPr/>
          <a:lstStyle/>
          <a:p>
            <a:endParaRPr sz="2000"/>
          </a:p>
        </p:txBody>
      </p:sp>
      <p:sp>
        <p:nvSpPr>
          <p:cNvPr id="327" name="pipeline-step-4-num">
            <a:extLst>
              <a:ext uri="{FF2B5EF4-FFF2-40B4-BE49-F238E27FC236}">
                <a16:creationId xmlns:a16="http://schemas.microsoft.com/office/drawing/2014/main" id="{9193FAA4-9E58-4E31-A474-9B061F51ADA7}"/>
              </a:ext>
            </a:extLst>
          </p:cNvPr>
          <p:cNvSpPr>
            <a:spLocks noGrp="1"/>
          </p:cNvSpPr>
          <p:nvPr/>
        </p:nvSpPr>
        <p:spPr>
          <a:xfrm>
            <a:off x="17078325" y="35756850"/>
            <a:ext cx="476250" cy="323850"/>
          </a:xfrm>
          <a:prstGeom prst="rect">
            <a:avLst/>
          </a:prstGeom>
          <a:noFill/>
          <a:ln w="0">
            <a:noFill/>
            <a:prstDash val="solid"/>
          </a:ln>
        </p:spPr>
        <p:txBody>
          <a:bodyPr/>
          <a:lstStyle/>
          <a:p>
            <a:pPr algn="ctr">
              <a:buNone/>
              <a:defRPr sz="1950" b="1">
                <a:solidFill>
                  <a:srgbClr val="FFFFFF"/>
                </a:solidFill>
                <a:latin typeface="Arial"/>
                <a:ea typeface="Arial"/>
                <a:cs typeface="Arial"/>
              </a:defRPr>
            </a:pPr>
            <a:r>
              <a:rPr sz="2000" b="1">
                <a:solidFill>
                  <a:srgbClr val="FFFFFF"/>
                </a:solidFill>
                <a:latin typeface="Arial"/>
                <a:ea typeface="Arial"/>
                <a:cs typeface="Arial"/>
              </a:rPr>
              <a:t>4</a:t>
            </a:r>
          </a:p>
        </p:txBody>
      </p:sp>
      <p:sp>
        <p:nvSpPr>
          <p:cNvPr id="328" name="pipeline-step-4-label">
            <a:extLst>
              <a:ext uri="{FF2B5EF4-FFF2-40B4-BE49-F238E27FC236}">
                <a16:creationId xmlns:a16="http://schemas.microsoft.com/office/drawing/2014/main" id="{BC1D6BBA-0819-46FB-85A3-6D94DCCEFC9D}"/>
              </a:ext>
            </a:extLst>
          </p:cNvPr>
          <p:cNvSpPr>
            <a:spLocks noGrp="1"/>
          </p:cNvSpPr>
          <p:nvPr/>
        </p:nvSpPr>
        <p:spPr>
          <a:xfrm>
            <a:off x="17687925" y="35680650"/>
            <a:ext cx="3105150" cy="552450"/>
          </a:xfrm>
          <a:prstGeom prst="rect">
            <a:avLst/>
          </a:prstGeom>
          <a:noFill/>
          <a:ln w="0">
            <a:noFill/>
            <a:prstDash val="solid"/>
          </a:ln>
        </p:spPr>
        <p:txBody>
          <a:bodyPr/>
          <a:lstStyle/>
          <a:p>
            <a:pPr>
              <a:buNone/>
              <a:defRPr sz="1800" b="1">
                <a:solidFill>
                  <a:srgbClr val="121426"/>
                </a:solidFill>
                <a:latin typeface="Arial"/>
                <a:ea typeface="Arial"/>
                <a:cs typeface="Arial"/>
              </a:defRPr>
            </a:pPr>
            <a:r>
              <a:rPr sz="2000" b="1">
                <a:solidFill>
                  <a:srgbClr val="121426"/>
                </a:solidFill>
                <a:latin typeface="Arial"/>
                <a:ea typeface="Arial"/>
                <a:cs typeface="Arial"/>
              </a:rPr>
              <a:t>Explain findings with</a:t>
            </a:r>
          </a:p>
          <a:p>
            <a:pPr>
              <a:buNone/>
              <a:defRPr sz="1800" b="1">
                <a:solidFill>
                  <a:srgbClr val="121426"/>
                </a:solidFill>
                <a:latin typeface="Arial"/>
                <a:ea typeface="Arial"/>
                <a:cs typeface="Arial"/>
              </a:defRPr>
            </a:pPr>
            <a:r>
              <a:rPr sz="2000" b="1">
                <a:solidFill>
                  <a:srgbClr val="121426"/>
                </a:solidFill>
                <a:latin typeface="Arial"/>
                <a:ea typeface="Arial"/>
                <a:cs typeface="Arial"/>
              </a:rPr>
              <a:t>charts and comparisons</a:t>
            </a:r>
          </a:p>
        </p:txBody>
      </p:sp>
      <p:sp>
        <p:nvSpPr>
          <p:cNvPr id="329" name="presentation-title">
            <a:extLst>
              <a:ext uri="{FF2B5EF4-FFF2-40B4-BE49-F238E27FC236}">
                <a16:creationId xmlns:a16="http://schemas.microsoft.com/office/drawing/2014/main" id="{57CFB545-2674-4A82-9A21-29966C771B0B}"/>
              </a:ext>
            </a:extLst>
          </p:cNvPr>
          <p:cNvSpPr>
            <a:spLocks noGrp="1"/>
          </p:cNvSpPr>
          <p:nvPr/>
        </p:nvSpPr>
        <p:spPr>
          <a:xfrm>
            <a:off x="22145625" y="34918650"/>
            <a:ext cx="7048500" cy="40005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a:solidFill>
                  <a:srgbClr val="121426"/>
                </a:solidFill>
                <a:latin typeface="Arial"/>
                <a:ea typeface="Arial"/>
                <a:cs typeface="Arial"/>
              </a:rPr>
              <a:t>How to present this section</a:t>
            </a:r>
          </a:p>
        </p:txBody>
      </p:sp>
      <p:sp>
        <p:nvSpPr>
          <p:cNvPr id="330" name="presentation-tip-box">
            <a:extLst>
              <a:ext uri="{FF2B5EF4-FFF2-40B4-BE49-F238E27FC236}">
                <a16:creationId xmlns:a16="http://schemas.microsoft.com/office/drawing/2014/main" id="{211106CE-39F1-43F2-A5FA-04ACD59A0E60}"/>
              </a:ext>
            </a:extLst>
          </p:cNvPr>
          <p:cNvSpPr>
            <a:spLocks noGrp="1"/>
          </p:cNvSpPr>
          <p:nvPr/>
        </p:nvSpPr>
        <p:spPr>
          <a:xfrm>
            <a:off x="22145625" y="35490150"/>
            <a:ext cx="7334250" cy="1123950"/>
          </a:xfrm>
          <a:prstGeom prst="roundRect">
            <a:avLst>
              <a:gd name="adj" fmla="val 5085"/>
            </a:avLst>
          </a:prstGeom>
          <a:solidFill>
            <a:srgbClr val="FFFFFF"/>
          </a:solidFill>
          <a:ln w="19050">
            <a:solidFill>
              <a:srgbClr val="9BB6D3"/>
            </a:solidFill>
            <a:prstDash val="solid"/>
          </a:ln>
        </p:spPr>
        <p:txBody>
          <a:bodyPr/>
          <a:lstStyle/>
          <a:p>
            <a:endParaRPr sz="2000"/>
          </a:p>
        </p:txBody>
      </p:sp>
      <p:sp>
        <p:nvSpPr>
          <p:cNvPr id="331" name="presentation-tip">
            <a:extLst>
              <a:ext uri="{FF2B5EF4-FFF2-40B4-BE49-F238E27FC236}">
                <a16:creationId xmlns:a16="http://schemas.microsoft.com/office/drawing/2014/main" id="{51B2CEB9-07E5-44F0-86DC-EB89071F19C9}"/>
              </a:ext>
            </a:extLst>
          </p:cNvPr>
          <p:cNvSpPr>
            <a:spLocks noGrp="1"/>
          </p:cNvSpPr>
          <p:nvPr/>
        </p:nvSpPr>
        <p:spPr>
          <a:xfrm>
            <a:off x="22383750" y="35718750"/>
            <a:ext cx="6858000" cy="685800"/>
          </a:xfrm>
          <a:prstGeom prst="rect">
            <a:avLst/>
          </a:prstGeom>
          <a:noFill/>
          <a:ln w="0">
            <a:noFill/>
            <a:prstDash val="solid"/>
          </a:ln>
        </p:spPr>
        <p:txBody>
          <a:bodyPr/>
          <a:lstStyle/>
          <a:p>
            <a:pPr algn="ctr">
              <a:buNone/>
              <a:defRPr sz="1875">
                <a:solidFill>
                  <a:srgbClr val="405372"/>
                </a:solidFill>
                <a:latin typeface="Arial"/>
                <a:ea typeface="Arial"/>
                <a:cs typeface="Arial"/>
              </a:defRPr>
            </a:pPr>
            <a:r>
              <a:rPr sz="2000">
                <a:solidFill>
                  <a:srgbClr val="405372"/>
                </a:solidFill>
                <a:latin typeface="Arial"/>
                <a:ea typeface="Arial"/>
                <a:cs typeface="Arial"/>
              </a:rPr>
              <a:t>Start with the experiment, then show how raw gaze became AOI metrics, and finish with the constraints that shaped the analysis.</a:t>
            </a:r>
          </a:p>
        </p:txBody>
      </p:sp>
      <p:sp>
        <p:nvSpPr>
          <p:cNvPr id="332" name="workflow-bottom-note">
            <a:extLst>
              <a:ext uri="{FF2B5EF4-FFF2-40B4-BE49-F238E27FC236}">
                <a16:creationId xmlns:a16="http://schemas.microsoft.com/office/drawing/2014/main" id="{A363C24B-C5C9-4CCC-9D1D-AB627CDFE348}"/>
              </a:ext>
            </a:extLst>
          </p:cNvPr>
          <p:cNvSpPr>
            <a:spLocks noGrp="1"/>
          </p:cNvSpPr>
          <p:nvPr/>
        </p:nvSpPr>
        <p:spPr>
          <a:xfrm>
            <a:off x="533400" y="37299900"/>
            <a:ext cx="29051250" cy="400050"/>
          </a:xfrm>
          <a:prstGeom prst="rect">
            <a:avLst/>
          </a:prstGeom>
          <a:noFill/>
          <a:ln w="0">
            <a:noFill/>
            <a:prstDash val="solid"/>
          </a:ln>
        </p:spPr>
        <p:txBody>
          <a:bodyPr/>
          <a:lstStyle/>
          <a:p>
            <a:pPr algn="ctr">
              <a:buNone/>
              <a:defRPr sz="2025" b="1">
                <a:solidFill>
                  <a:srgbClr val="28235C"/>
                </a:solidFill>
                <a:latin typeface="Arial"/>
                <a:ea typeface="Arial"/>
                <a:cs typeface="Arial"/>
              </a:defRPr>
            </a:pPr>
            <a:r>
              <a:rPr sz="2400" b="1">
                <a:solidFill>
                  <a:srgbClr val="28235C"/>
                </a:solidFill>
                <a:latin typeface="Arial"/>
                <a:ea typeface="Arial"/>
                <a:cs typeface="Arial"/>
              </a:rPr>
              <a:t>Main takeaway: the project is both an experimental study and a reproducible analysis workflow.</a:t>
            </a:r>
          </a:p>
        </p:txBody>
      </p:sp>
      <p:sp>
        <p:nvSpPr>
          <p:cNvPr id="343" name="challenge-section-mask">
            <a:extLst>
              <a:ext uri="{FF2B5EF4-FFF2-40B4-BE49-F238E27FC236}">
                <a16:creationId xmlns:a16="http://schemas.microsoft.com/office/drawing/2014/main" id="{27209D18-1E06-4F4C-A90D-461EA719439F}"/>
              </a:ext>
            </a:extLst>
          </p:cNvPr>
          <p:cNvSpPr>
            <a:spLocks noGrp="1"/>
          </p:cNvSpPr>
          <p:nvPr/>
        </p:nvSpPr>
        <p:spPr>
          <a:xfrm>
            <a:off x="57150" y="30784800"/>
            <a:ext cx="30289500" cy="7543800"/>
          </a:xfrm>
          <a:prstGeom prst="rect">
            <a:avLst/>
          </a:prstGeom>
          <a:solidFill>
            <a:srgbClr val="EAF3FB"/>
          </a:solidFill>
          <a:ln w="0">
            <a:solidFill>
              <a:srgbClr val="EAF3FB"/>
            </a:solidFill>
            <a:prstDash val="solid"/>
          </a:ln>
        </p:spPr>
        <p:txBody>
          <a:bodyPr/>
          <a:lstStyle/>
          <a:p>
            <a:endParaRPr sz="2000"/>
          </a:p>
        </p:txBody>
      </p:sp>
      <p:sp>
        <p:nvSpPr>
          <p:cNvPr id="344" name="challenge-section-box">
            <a:extLst>
              <a:ext uri="{FF2B5EF4-FFF2-40B4-BE49-F238E27FC236}">
                <a16:creationId xmlns:a16="http://schemas.microsoft.com/office/drawing/2014/main" id="{05A62490-DD46-4A50-AB67-23083DB8AC1C}"/>
              </a:ext>
            </a:extLst>
          </p:cNvPr>
          <p:cNvSpPr>
            <a:spLocks noGrp="1"/>
          </p:cNvSpPr>
          <p:nvPr/>
        </p:nvSpPr>
        <p:spPr>
          <a:xfrm>
            <a:off x="152400" y="30813375"/>
            <a:ext cx="30175200" cy="7524750"/>
          </a:xfrm>
          <a:prstGeom prst="roundRect">
            <a:avLst>
              <a:gd name="adj" fmla="val 759"/>
            </a:avLst>
          </a:prstGeom>
          <a:solidFill>
            <a:srgbClr val="EAF3FB"/>
          </a:solidFill>
          <a:ln w="28575">
            <a:solidFill>
              <a:srgbClr val="28235C"/>
            </a:solidFill>
            <a:prstDash val="solid"/>
          </a:ln>
        </p:spPr>
        <p:txBody>
          <a:bodyPr/>
          <a:lstStyle/>
          <a:p>
            <a:endParaRPr sz="2000"/>
          </a:p>
        </p:txBody>
      </p:sp>
      <p:sp>
        <p:nvSpPr>
          <p:cNvPr id="345" name="challenge-section-title">
            <a:extLst>
              <a:ext uri="{FF2B5EF4-FFF2-40B4-BE49-F238E27FC236}">
                <a16:creationId xmlns:a16="http://schemas.microsoft.com/office/drawing/2014/main" id="{CAF0CB3F-C6FD-49CA-9D2D-FDAC3B88D5D2}"/>
              </a:ext>
            </a:extLst>
          </p:cNvPr>
          <p:cNvSpPr>
            <a:spLocks noGrp="1"/>
          </p:cNvSpPr>
          <p:nvPr/>
        </p:nvSpPr>
        <p:spPr>
          <a:xfrm>
            <a:off x="419100" y="31022925"/>
            <a:ext cx="29641800" cy="590550"/>
          </a:xfrm>
          <a:prstGeom prst="rect">
            <a:avLst/>
          </a:prstGeom>
          <a:noFill/>
          <a:ln w="0">
            <a:noFill/>
            <a:prstDash val="solid"/>
          </a:ln>
        </p:spPr>
        <p:txBody>
          <a:bodyPr/>
          <a:lstStyle/>
          <a:p>
            <a:pPr>
              <a:buNone/>
              <a:defRPr sz="3450" b="1">
                <a:solidFill>
                  <a:srgbClr val="28235C"/>
                </a:solidFill>
                <a:latin typeface="Arial"/>
                <a:ea typeface="Arial"/>
                <a:cs typeface="Arial"/>
              </a:defRPr>
            </a:pPr>
            <a:r>
              <a:rPr sz="3600" b="1">
                <a:solidFill>
                  <a:srgbClr val="28235C"/>
                </a:solidFill>
                <a:latin typeface="Arial"/>
                <a:ea typeface="Arial"/>
                <a:cs typeface="Arial"/>
              </a:rPr>
              <a:t>CHALLENGES &amp; DESIGN DECISIONS</a:t>
            </a:r>
          </a:p>
        </p:txBody>
      </p:sp>
      <p:sp>
        <p:nvSpPr>
          <p:cNvPr id="346" name="challenge-section-subtitle">
            <a:extLst>
              <a:ext uri="{FF2B5EF4-FFF2-40B4-BE49-F238E27FC236}">
                <a16:creationId xmlns:a16="http://schemas.microsoft.com/office/drawing/2014/main" id="{8C71247C-1BB9-425D-80D7-BB36F478CC20}"/>
              </a:ext>
            </a:extLst>
          </p:cNvPr>
          <p:cNvSpPr>
            <a:spLocks noGrp="1"/>
          </p:cNvSpPr>
          <p:nvPr/>
        </p:nvSpPr>
        <p:spPr>
          <a:xfrm>
            <a:off x="533400" y="31584900"/>
            <a:ext cx="28575000" cy="361950"/>
          </a:xfrm>
          <a:prstGeom prst="rect">
            <a:avLst/>
          </a:prstGeom>
          <a:noFill/>
          <a:ln w="0">
            <a:noFill/>
            <a:prstDash val="solid"/>
          </a:ln>
        </p:spPr>
        <p:txBody>
          <a:bodyPr/>
          <a:lstStyle/>
          <a:p>
            <a:pPr>
              <a:buNone/>
              <a:defRPr sz="2025">
                <a:solidFill>
                  <a:srgbClr val="405372"/>
                </a:solidFill>
                <a:latin typeface="Arial"/>
                <a:ea typeface="Arial"/>
                <a:cs typeface="Arial"/>
              </a:defRPr>
            </a:pPr>
            <a:r>
              <a:rPr sz="2400">
                <a:solidFill>
                  <a:srgbClr val="405372"/>
                </a:solidFill>
                <a:latin typeface="Arial"/>
                <a:ea typeface="Arial"/>
                <a:cs typeface="Arial"/>
              </a:rPr>
              <a:t>The main difficulty was not only collecting gaze data, but turning noisy dynamic-video observations into defensible research evidence.</a:t>
            </a:r>
          </a:p>
        </p:txBody>
      </p:sp>
      <p:sp>
        <p:nvSpPr>
          <p:cNvPr id="347" name="calibration-card">
            <a:extLst>
              <a:ext uri="{FF2B5EF4-FFF2-40B4-BE49-F238E27FC236}">
                <a16:creationId xmlns:a16="http://schemas.microsoft.com/office/drawing/2014/main" id="{5BBDF645-2F24-48AB-9281-562386F11122}"/>
              </a:ext>
            </a:extLst>
          </p:cNvPr>
          <p:cNvSpPr>
            <a:spLocks noGrp="1"/>
          </p:cNvSpPr>
          <p:nvPr/>
        </p:nvSpPr>
        <p:spPr>
          <a:xfrm>
            <a:off x="533400" y="32175450"/>
            <a:ext cx="6858000" cy="2381250"/>
          </a:xfrm>
          <a:prstGeom prst="roundRect">
            <a:avLst>
              <a:gd name="adj" fmla="val 2400"/>
            </a:avLst>
          </a:prstGeom>
          <a:solidFill>
            <a:srgbClr val="FFFFFF"/>
          </a:solidFill>
          <a:ln w="19050">
            <a:solidFill>
              <a:srgbClr val="9BB6D3"/>
            </a:solidFill>
            <a:prstDash val="solid"/>
          </a:ln>
        </p:spPr>
        <p:txBody>
          <a:bodyPr/>
          <a:lstStyle/>
          <a:p>
            <a:endParaRPr sz="2000"/>
          </a:p>
        </p:txBody>
      </p:sp>
      <p:sp>
        <p:nvSpPr>
          <p:cNvPr id="348" name="calibration-accent">
            <a:extLst>
              <a:ext uri="{FF2B5EF4-FFF2-40B4-BE49-F238E27FC236}">
                <a16:creationId xmlns:a16="http://schemas.microsoft.com/office/drawing/2014/main" id="{C2E16693-F1FA-4473-AB27-C8BBC64DAC7E}"/>
              </a:ext>
            </a:extLst>
          </p:cNvPr>
          <p:cNvSpPr>
            <a:spLocks noGrp="1"/>
          </p:cNvSpPr>
          <p:nvPr/>
        </p:nvSpPr>
        <p:spPr>
          <a:xfrm>
            <a:off x="533400" y="32175450"/>
            <a:ext cx="6858000" cy="114300"/>
          </a:xfrm>
          <a:prstGeom prst="rect">
            <a:avLst/>
          </a:prstGeom>
          <a:solidFill>
            <a:srgbClr val="14A098"/>
          </a:solidFill>
          <a:ln w="0">
            <a:solidFill>
              <a:srgbClr val="14A098"/>
            </a:solidFill>
            <a:prstDash val="solid"/>
          </a:ln>
        </p:spPr>
        <p:txBody>
          <a:bodyPr/>
          <a:lstStyle/>
          <a:p>
            <a:endParaRPr sz="2000"/>
          </a:p>
        </p:txBody>
      </p:sp>
      <p:sp>
        <p:nvSpPr>
          <p:cNvPr id="349" name="calibration-title">
            <a:extLst>
              <a:ext uri="{FF2B5EF4-FFF2-40B4-BE49-F238E27FC236}">
                <a16:creationId xmlns:a16="http://schemas.microsoft.com/office/drawing/2014/main" id="{589F98C2-4881-425F-A423-022B95D93F31}"/>
              </a:ext>
            </a:extLst>
          </p:cNvPr>
          <p:cNvSpPr>
            <a:spLocks noGrp="1"/>
          </p:cNvSpPr>
          <p:nvPr/>
        </p:nvSpPr>
        <p:spPr>
          <a:xfrm>
            <a:off x="742950" y="32442150"/>
            <a:ext cx="6438900" cy="381000"/>
          </a:xfrm>
          <a:prstGeom prst="rect">
            <a:avLst/>
          </a:prstGeom>
          <a:noFill/>
          <a:ln w="0">
            <a:noFill/>
            <a:prstDash val="solid"/>
          </a:ln>
        </p:spPr>
        <p:txBody>
          <a:bodyPr/>
          <a:lstStyle/>
          <a:p>
            <a:pPr>
              <a:buNone/>
              <a:defRPr sz="2250" b="1">
                <a:solidFill>
                  <a:srgbClr val="28235C"/>
                </a:solidFill>
                <a:latin typeface="Arial"/>
                <a:ea typeface="Arial"/>
                <a:cs typeface="Arial"/>
              </a:defRPr>
            </a:pPr>
            <a:r>
              <a:rPr sz="2400" b="1">
                <a:solidFill>
                  <a:srgbClr val="28235C"/>
                </a:solidFill>
                <a:latin typeface="Arial"/>
                <a:ea typeface="Arial"/>
                <a:cs typeface="Arial"/>
              </a:rPr>
              <a:t>Calibration Reliability</a:t>
            </a:r>
          </a:p>
        </p:txBody>
      </p:sp>
      <p:sp>
        <p:nvSpPr>
          <p:cNvPr id="350" name="calibration-challenge-label">
            <a:extLst>
              <a:ext uri="{FF2B5EF4-FFF2-40B4-BE49-F238E27FC236}">
                <a16:creationId xmlns:a16="http://schemas.microsoft.com/office/drawing/2014/main" id="{D233B411-17E7-4199-8AB9-7B9E85698AFE}"/>
              </a:ext>
            </a:extLst>
          </p:cNvPr>
          <p:cNvSpPr>
            <a:spLocks noGrp="1"/>
          </p:cNvSpPr>
          <p:nvPr/>
        </p:nvSpPr>
        <p:spPr>
          <a:xfrm>
            <a:off x="742950" y="32956500"/>
            <a:ext cx="2000250" cy="285750"/>
          </a:xfrm>
          <a:prstGeom prst="rect">
            <a:avLst/>
          </a:prstGeom>
          <a:noFill/>
          <a:ln w="0">
            <a:noFill/>
            <a:prstDash val="solid"/>
          </a:ln>
        </p:spPr>
        <p:txBody>
          <a:bodyPr/>
          <a:lstStyle/>
          <a:p>
            <a:pPr>
              <a:buNone/>
              <a:defRPr sz="1725" b="1">
                <a:solidFill>
                  <a:srgbClr val="14A098"/>
                </a:solidFill>
                <a:latin typeface="Arial"/>
                <a:ea typeface="Arial"/>
                <a:cs typeface="Arial"/>
              </a:defRPr>
            </a:pPr>
            <a:r>
              <a:rPr b="1">
                <a:solidFill>
                  <a:srgbClr val="14A098"/>
                </a:solidFill>
                <a:latin typeface="Arial"/>
                <a:ea typeface="Arial"/>
                <a:cs typeface="Arial"/>
              </a:rPr>
              <a:t>Challenge</a:t>
            </a:r>
          </a:p>
        </p:txBody>
      </p:sp>
      <p:sp>
        <p:nvSpPr>
          <p:cNvPr id="351" name="calibration-challenge">
            <a:extLst>
              <a:ext uri="{FF2B5EF4-FFF2-40B4-BE49-F238E27FC236}">
                <a16:creationId xmlns:a16="http://schemas.microsoft.com/office/drawing/2014/main" id="{1DF32D97-7E4A-4A5D-B484-FC77C2C1462F}"/>
              </a:ext>
            </a:extLst>
          </p:cNvPr>
          <p:cNvSpPr>
            <a:spLocks noGrp="1"/>
          </p:cNvSpPr>
          <p:nvPr/>
        </p:nvSpPr>
        <p:spPr>
          <a:xfrm>
            <a:off x="742950" y="33261300"/>
            <a:ext cx="6438900" cy="495300"/>
          </a:xfrm>
          <a:prstGeom prst="rect">
            <a:avLst/>
          </a:prstGeom>
          <a:noFill/>
          <a:ln w="0">
            <a:noFill/>
            <a:prstDash val="solid"/>
          </a:ln>
        </p:spPr>
        <p:txBody>
          <a:bodyPr/>
          <a:lstStyle/>
          <a:p>
            <a:pPr>
              <a:buNone/>
              <a:defRPr sz="1725">
                <a:solidFill>
                  <a:srgbClr val="121426"/>
                </a:solidFill>
                <a:latin typeface="Arial"/>
                <a:ea typeface="Arial"/>
                <a:cs typeface="Arial"/>
              </a:defRPr>
            </a:pPr>
            <a:r>
              <a:rPr>
                <a:solidFill>
                  <a:srgbClr val="121426"/>
                </a:solidFill>
                <a:latin typeface="Arial"/>
                <a:ea typeface="Arial"/>
                <a:cs typeface="Arial"/>
              </a:rPr>
              <a:t>Light, blinking and small head movements affected gaze quality.</a:t>
            </a:r>
          </a:p>
        </p:txBody>
      </p:sp>
      <p:sp>
        <p:nvSpPr>
          <p:cNvPr id="352" name="calibration-decision-label">
            <a:extLst>
              <a:ext uri="{FF2B5EF4-FFF2-40B4-BE49-F238E27FC236}">
                <a16:creationId xmlns:a16="http://schemas.microsoft.com/office/drawing/2014/main" id="{C0E20796-5DDC-4181-A74B-BCE3FA8978D3}"/>
              </a:ext>
            </a:extLst>
          </p:cNvPr>
          <p:cNvSpPr>
            <a:spLocks noGrp="1"/>
          </p:cNvSpPr>
          <p:nvPr/>
        </p:nvSpPr>
        <p:spPr>
          <a:xfrm>
            <a:off x="742950" y="33832800"/>
            <a:ext cx="2000250" cy="285750"/>
          </a:xfrm>
          <a:prstGeom prst="rect">
            <a:avLst/>
          </a:prstGeom>
          <a:noFill/>
          <a:ln w="0">
            <a:noFill/>
            <a:prstDash val="solid"/>
          </a:ln>
        </p:spPr>
        <p:txBody>
          <a:bodyPr/>
          <a:lstStyle/>
          <a:p>
            <a:pPr>
              <a:buNone/>
              <a:defRPr sz="1725" b="1">
                <a:solidFill>
                  <a:srgbClr val="14A098"/>
                </a:solidFill>
                <a:latin typeface="Arial"/>
                <a:ea typeface="Arial"/>
                <a:cs typeface="Arial"/>
              </a:defRPr>
            </a:pPr>
            <a:r>
              <a:rPr b="1">
                <a:solidFill>
                  <a:srgbClr val="14A098"/>
                </a:solidFill>
                <a:latin typeface="Arial"/>
                <a:ea typeface="Arial"/>
                <a:cs typeface="Arial"/>
              </a:rPr>
              <a:t>Decision</a:t>
            </a:r>
          </a:p>
        </p:txBody>
      </p:sp>
      <p:sp>
        <p:nvSpPr>
          <p:cNvPr id="353" name="calibration-decision">
            <a:extLst>
              <a:ext uri="{FF2B5EF4-FFF2-40B4-BE49-F238E27FC236}">
                <a16:creationId xmlns:a16="http://schemas.microsoft.com/office/drawing/2014/main" id="{3C95138C-3930-4721-99CB-336D444ADCC9}"/>
              </a:ext>
            </a:extLst>
          </p:cNvPr>
          <p:cNvSpPr>
            <a:spLocks noGrp="1"/>
          </p:cNvSpPr>
          <p:nvPr/>
        </p:nvSpPr>
        <p:spPr>
          <a:xfrm>
            <a:off x="742950" y="34137600"/>
            <a:ext cx="6438900" cy="361950"/>
          </a:xfrm>
          <a:prstGeom prst="rect">
            <a:avLst/>
          </a:prstGeom>
          <a:noFill/>
          <a:ln w="0">
            <a:noFill/>
            <a:prstDash val="solid"/>
          </a:ln>
        </p:spPr>
        <p:txBody>
          <a:bodyPr/>
          <a:lstStyle/>
          <a:p>
            <a:pPr>
              <a:buNone/>
              <a:defRPr sz="1650">
                <a:solidFill>
                  <a:srgbClr val="405372"/>
                </a:solidFill>
                <a:latin typeface="Arial"/>
                <a:ea typeface="Arial"/>
                <a:cs typeface="Arial"/>
              </a:defRPr>
            </a:pPr>
            <a:r>
              <a:rPr>
                <a:solidFill>
                  <a:srgbClr val="405372"/>
                </a:solidFill>
                <a:latin typeface="Arial"/>
                <a:ea typeface="Arial"/>
                <a:cs typeface="Arial"/>
              </a:rPr>
              <a:t>Repositioned the setup, fixed the viewing distance, and excluded unreliable calibrations.</a:t>
            </a:r>
          </a:p>
        </p:txBody>
      </p:sp>
      <p:sp>
        <p:nvSpPr>
          <p:cNvPr id="354" name="dynamic-aoi-card">
            <a:extLst>
              <a:ext uri="{FF2B5EF4-FFF2-40B4-BE49-F238E27FC236}">
                <a16:creationId xmlns:a16="http://schemas.microsoft.com/office/drawing/2014/main" id="{1A615C07-889D-438D-A114-59B27D754A7F}"/>
              </a:ext>
            </a:extLst>
          </p:cNvPr>
          <p:cNvSpPr>
            <a:spLocks noGrp="1"/>
          </p:cNvSpPr>
          <p:nvPr/>
        </p:nvSpPr>
        <p:spPr>
          <a:xfrm>
            <a:off x="7810500" y="32175450"/>
            <a:ext cx="6858000" cy="2381250"/>
          </a:xfrm>
          <a:prstGeom prst="roundRect">
            <a:avLst>
              <a:gd name="adj" fmla="val 2400"/>
            </a:avLst>
          </a:prstGeom>
          <a:solidFill>
            <a:srgbClr val="FFFFFF"/>
          </a:solidFill>
          <a:ln w="19050">
            <a:solidFill>
              <a:srgbClr val="9BB6D3"/>
            </a:solidFill>
            <a:prstDash val="solid"/>
          </a:ln>
        </p:spPr>
        <p:txBody>
          <a:bodyPr/>
          <a:lstStyle/>
          <a:p>
            <a:endParaRPr sz="2000"/>
          </a:p>
        </p:txBody>
      </p:sp>
      <p:sp>
        <p:nvSpPr>
          <p:cNvPr id="355" name="dynamic-aoi-accent">
            <a:extLst>
              <a:ext uri="{FF2B5EF4-FFF2-40B4-BE49-F238E27FC236}">
                <a16:creationId xmlns:a16="http://schemas.microsoft.com/office/drawing/2014/main" id="{FD473D47-8367-495E-AECF-6F754A8E2918}"/>
              </a:ext>
            </a:extLst>
          </p:cNvPr>
          <p:cNvSpPr>
            <a:spLocks noGrp="1"/>
          </p:cNvSpPr>
          <p:nvPr/>
        </p:nvSpPr>
        <p:spPr>
          <a:xfrm>
            <a:off x="7810500" y="32175450"/>
            <a:ext cx="6858000" cy="114300"/>
          </a:xfrm>
          <a:prstGeom prst="rect">
            <a:avLst/>
          </a:prstGeom>
          <a:solidFill>
            <a:srgbClr val="3975A8"/>
          </a:solidFill>
          <a:ln w="0">
            <a:solidFill>
              <a:srgbClr val="3975A8"/>
            </a:solidFill>
            <a:prstDash val="solid"/>
          </a:ln>
        </p:spPr>
        <p:txBody>
          <a:bodyPr/>
          <a:lstStyle/>
          <a:p>
            <a:endParaRPr sz="2000"/>
          </a:p>
        </p:txBody>
      </p:sp>
      <p:sp>
        <p:nvSpPr>
          <p:cNvPr id="356" name="dynamic-aoi-title">
            <a:extLst>
              <a:ext uri="{FF2B5EF4-FFF2-40B4-BE49-F238E27FC236}">
                <a16:creationId xmlns:a16="http://schemas.microsoft.com/office/drawing/2014/main" id="{62B3C52F-AF35-40CE-B316-D56B039B51FE}"/>
              </a:ext>
            </a:extLst>
          </p:cNvPr>
          <p:cNvSpPr>
            <a:spLocks noGrp="1"/>
          </p:cNvSpPr>
          <p:nvPr/>
        </p:nvSpPr>
        <p:spPr>
          <a:xfrm>
            <a:off x="8020050" y="32442150"/>
            <a:ext cx="6438900" cy="381000"/>
          </a:xfrm>
          <a:prstGeom prst="rect">
            <a:avLst/>
          </a:prstGeom>
          <a:noFill/>
          <a:ln w="0">
            <a:noFill/>
            <a:prstDash val="solid"/>
          </a:ln>
        </p:spPr>
        <p:txBody>
          <a:bodyPr/>
          <a:lstStyle/>
          <a:p>
            <a:pPr>
              <a:buNone/>
              <a:defRPr sz="2250" b="1">
                <a:solidFill>
                  <a:srgbClr val="28235C"/>
                </a:solidFill>
                <a:latin typeface="Arial"/>
                <a:ea typeface="Arial"/>
                <a:cs typeface="Arial"/>
              </a:defRPr>
            </a:pPr>
            <a:r>
              <a:rPr sz="2400" b="1">
                <a:solidFill>
                  <a:srgbClr val="28235C"/>
                </a:solidFill>
                <a:latin typeface="Arial"/>
                <a:ea typeface="Arial"/>
                <a:cs typeface="Arial"/>
              </a:rPr>
              <a:t>Dynamic AOIs</a:t>
            </a:r>
          </a:p>
        </p:txBody>
      </p:sp>
      <p:sp>
        <p:nvSpPr>
          <p:cNvPr id="357" name="dynamic-aoi-challenge-label">
            <a:extLst>
              <a:ext uri="{FF2B5EF4-FFF2-40B4-BE49-F238E27FC236}">
                <a16:creationId xmlns:a16="http://schemas.microsoft.com/office/drawing/2014/main" id="{38274B05-2254-490A-8FA6-7525EAE6CC9B}"/>
              </a:ext>
            </a:extLst>
          </p:cNvPr>
          <p:cNvSpPr>
            <a:spLocks noGrp="1"/>
          </p:cNvSpPr>
          <p:nvPr/>
        </p:nvSpPr>
        <p:spPr>
          <a:xfrm>
            <a:off x="8020050" y="32956500"/>
            <a:ext cx="2000250" cy="285750"/>
          </a:xfrm>
          <a:prstGeom prst="rect">
            <a:avLst/>
          </a:prstGeom>
          <a:noFill/>
          <a:ln w="0">
            <a:noFill/>
            <a:prstDash val="solid"/>
          </a:ln>
        </p:spPr>
        <p:txBody>
          <a:bodyPr/>
          <a:lstStyle/>
          <a:p>
            <a:pPr>
              <a:buNone/>
              <a:defRPr sz="1725" b="1">
                <a:solidFill>
                  <a:srgbClr val="3975A8"/>
                </a:solidFill>
                <a:latin typeface="Arial"/>
                <a:ea typeface="Arial"/>
                <a:cs typeface="Arial"/>
              </a:defRPr>
            </a:pPr>
            <a:r>
              <a:rPr b="1">
                <a:solidFill>
                  <a:srgbClr val="3975A8"/>
                </a:solidFill>
                <a:latin typeface="Arial"/>
                <a:ea typeface="Arial"/>
                <a:cs typeface="Arial"/>
              </a:rPr>
              <a:t>Challenge</a:t>
            </a:r>
          </a:p>
        </p:txBody>
      </p:sp>
      <p:sp>
        <p:nvSpPr>
          <p:cNvPr id="358" name="dynamic-aoi-challenge">
            <a:extLst>
              <a:ext uri="{FF2B5EF4-FFF2-40B4-BE49-F238E27FC236}">
                <a16:creationId xmlns:a16="http://schemas.microsoft.com/office/drawing/2014/main" id="{780714C3-0BC1-43B6-AFB6-C733E0E0BC86}"/>
              </a:ext>
            </a:extLst>
          </p:cNvPr>
          <p:cNvSpPr>
            <a:spLocks noGrp="1"/>
          </p:cNvSpPr>
          <p:nvPr/>
        </p:nvSpPr>
        <p:spPr>
          <a:xfrm>
            <a:off x="8020050" y="33261300"/>
            <a:ext cx="6438900" cy="495300"/>
          </a:xfrm>
          <a:prstGeom prst="rect">
            <a:avLst/>
          </a:prstGeom>
          <a:noFill/>
          <a:ln w="0">
            <a:noFill/>
            <a:prstDash val="solid"/>
          </a:ln>
        </p:spPr>
        <p:txBody>
          <a:bodyPr/>
          <a:lstStyle/>
          <a:p>
            <a:pPr>
              <a:buNone/>
              <a:defRPr sz="1725">
                <a:solidFill>
                  <a:srgbClr val="121426"/>
                </a:solidFill>
                <a:latin typeface="Arial"/>
                <a:ea typeface="Arial"/>
                <a:cs typeface="Arial"/>
              </a:defRPr>
            </a:pPr>
            <a:r>
              <a:rPr>
                <a:solidFill>
                  <a:srgbClr val="121426"/>
                </a:solidFill>
                <a:latin typeface="Arial"/>
                <a:ea typeface="Arial"/>
                <a:cs typeface="Arial"/>
              </a:rPr>
              <a:t>Videos made fine facial regions hard to separate consistently.</a:t>
            </a:r>
          </a:p>
        </p:txBody>
      </p:sp>
      <p:sp>
        <p:nvSpPr>
          <p:cNvPr id="359" name="dynamic-aoi-decision-label">
            <a:extLst>
              <a:ext uri="{FF2B5EF4-FFF2-40B4-BE49-F238E27FC236}">
                <a16:creationId xmlns:a16="http://schemas.microsoft.com/office/drawing/2014/main" id="{DB69B1C6-4594-4E71-AEE9-94998016E514}"/>
              </a:ext>
            </a:extLst>
          </p:cNvPr>
          <p:cNvSpPr>
            <a:spLocks noGrp="1"/>
          </p:cNvSpPr>
          <p:nvPr/>
        </p:nvSpPr>
        <p:spPr>
          <a:xfrm>
            <a:off x="8020050" y="33832800"/>
            <a:ext cx="2000250" cy="285750"/>
          </a:xfrm>
          <a:prstGeom prst="rect">
            <a:avLst/>
          </a:prstGeom>
          <a:noFill/>
          <a:ln w="0">
            <a:noFill/>
            <a:prstDash val="solid"/>
          </a:ln>
        </p:spPr>
        <p:txBody>
          <a:bodyPr/>
          <a:lstStyle/>
          <a:p>
            <a:pPr>
              <a:buNone/>
              <a:defRPr sz="1725" b="1">
                <a:solidFill>
                  <a:srgbClr val="3975A8"/>
                </a:solidFill>
                <a:latin typeface="Arial"/>
                <a:ea typeface="Arial"/>
                <a:cs typeface="Arial"/>
              </a:defRPr>
            </a:pPr>
            <a:r>
              <a:rPr b="1">
                <a:solidFill>
                  <a:srgbClr val="3975A8"/>
                </a:solidFill>
                <a:latin typeface="Arial"/>
                <a:ea typeface="Arial"/>
                <a:cs typeface="Arial"/>
              </a:rPr>
              <a:t>Decision</a:t>
            </a:r>
          </a:p>
        </p:txBody>
      </p:sp>
      <p:sp>
        <p:nvSpPr>
          <p:cNvPr id="360" name="dynamic-aoi-decision">
            <a:extLst>
              <a:ext uri="{FF2B5EF4-FFF2-40B4-BE49-F238E27FC236}">
                <a16:creationId xmlns:a16="http://schemas.microsoft.com/office/drawing/2014/main" id="{A2C1A6FA-CCA9-4CA5-A463-DEA9008FCCFD}"/>
              </a:ext>
            </a:extLst>
          </p:cNvPr>
          <p:cNvSpPr>
            <a:spLocks noGrp="1"/>
          </p:cNvSpPr>
          <p:nvPr/>
        </p:nvSpPr>
        <p:spPr>
          <a:xfrm>
            <a:off x="8020050" y="34137600"/>
            <a:ext cx="6438900" cy="361950"/>
          </a:xfrm>
          <a:prstGeom prst="rect">
            <a:avLst/>
          </a:prstGeom>
          <a:noFill/>
          <a:ln w="0">
            <a:noFill/>
            <a:prstDash val="solid"/>
          </a:ln>
        </p:spPr>
        <p:txBody>
          <a:bodyPr/>
          <a:lstStyle/>
          <a:p>
            <a:pPr>
              <a:buNone/>
              <a:defRPr sz="1650">
                <a:solidFill>
                  <a:srgbClr val="405372"/>
                </a:solidFill>
                <a:latin typeface="Arial"/>
                <a:ea typeface="Arial"/>
                <a:cs typeface="Arial"/>
              </a:defRPr>
            </a:pPr>
            <a:r>
              <a:rPr>
                <a:solidFill>
                  <a:srgbClr val="405372"/>
                </a:solidFill>
                <a:latin typeface="Arial"/>
                <a:ea typeface="Arial"/>
                <a:cs typeface="Arial"/>
              </a:rPr>
              <a:t>Merged detailed labels into broader AOIs that could support stable analysis.</a:t>
            </a:r>
          </a:p>
        </p:txBody>
      </p:sp>
      <p:sp>
        <p:nvSpPr>
          <p:cNvPr id="361" name="self-report-card">
            <a:extLst>
              <a:ext uri="{FF2B5EF4-FFF2-40B4-BE49-F238E27FC236}">
                <a16:creationId xmlns:a16="http://schemas.microsoft.com/office/drawing/2014/main" id="{8B2255C9-1E89-40E4-B968-95A5FD422C5B}"/>
              </a:ext>
            </a:extLst>
          </p:cNvPr>
          <p:cNvSpPr>
            <a:spLocks noGrp="1"/>
          </p:cNvSpPr>
          <p:nvPr/>
        </p:nvSpPr>
        <p:spPr>
          <a:xfrm>
            <a:off x="15087600" y="32175450"/>
            <a:ext cx="6858000" cy="2381250"/>
          </a:xfrm>
          <a:prstGeom prst="roundRect">
            <a:avLst>
              <a:gd name="adj" fmla="val 2400"/>
            </a:avLst>
          </a:prstGeom>
          <a:solidFill>
            <a:srgbClr val="FFFFFF"/>
          </a:solidFill>
          <a:ln w="19050">
            <a:solidFill>
              <a:srgbClr val="9BB6D3"/>
            </a:solidFill>
            <a:prstDash val="solid"/>
          </a:ln>
        </p:spPr>
        <p:txBody>
          <a:bodyPr/>
          <a:lstStyle/>
          <a:p>
            <a:endParaRPr sz="2000"/>
          </a:p>
        </p:txBody>
      </p:sp>
      <p:sp>
        <p:nvSpPr>
          <p:cNvPr id="362" name="self-report-accent">
            <a:extLst>
              <a:ext uri="{FF2B5EF4-FFF2-40B4-BE49-F238E27FC236}">
                <a16:creationId xmlns:a16="http://schemas.microsoft.com/office/drawing/2014/main" id="{BD499D81-AB76-4EFB-A27A-4AA0C1B87772}"/>
              </a:ext>
            </a:extLst>
          </p:cNvPr>
          <p:cNvSpPr>
            <a:spLocks noGrp="1"/>
          </p:cNvSpPr>
          <p:nvPr/>
        </p:nvSpPr>
        <p:spPr>
          <a:xfrm>
            <a:off x="15087600" y="32175450"/>
            <a:ext cx="6858000" cy="114300"/>
          </a:xfrm>
          <a:prstGeom prst="rect">
            <a:avLst/>
          </a:prstGeom>
          <a:solidFill>
            <a:srgbClr val="F27C38"/>
          </a:solidFill>
          <a:ln w="0">
            <a:solidFill>
              <a:srgbClr val="F27C38"/>
            </a:solidFill>
            <a:prstDash val="solid"/>
          </a:ln>
        </p:spPr>
        <p:txBody>
          <a:bodyPr/>
          <a:lstStyle/>
          <a:p>
            <a:endParaRPr sz="2000"/>
          </a:p>
        </p:txBody>
      </p:sp>
      <p:sp>
        <p:nvSpPr>
          <p:cNvPr id="363" name="self-report-title">
            <a:extLst>
              <a:ext uri="{FF2B5EF4-FFF2-40B4-BE49-F238E27FC236}">
                <a16:creationId xmlns:a16="http://schemas.microsoft.com/office/drawing/2014/main" id="{2528E4C0-706B-492A-96F0-56C334D16F7C}"/>
              </a:ext>
            </a:extLst>
          </p:cNvPr>
          <p:cNvSpPr>
            <a:spLocks noGrp="1"/>
          </p:cNvSpPr>
          <p:nvPr/>
        </p:nvSpPr>
        <p:spPr>
          <a:xfrm>
            <a:off x="15297150" y="32442150"/>
            <a:ext cx="6438900" cy="381000"/>
          </a:xfrm>
          <a:prstGeom prst="rect">
            <a:avLst/>
          </a:prstGeom>
          <a:noFill/>
          <a:ln w="0">
            <a:noFill/>
            <a:prstDash val="solid"/>
          </a:ln>
        </p:spPr>
        <p:txBody>
          <a:bodyPr/>
          <a:lstStyle/>
          <a:p>
            <a:pPr>
              <a:buNone/>
              <a:defRPr sz="2250" b="1">
                <a:solidFill>
                  <a:srgbClr val="28235C"/>
                </a:solidFill>
                <a:latin typeface="Arial"/>
                <a:ea typeface="Arial"/>
                <a:cs typeface="Arial"/>
              </a:defRPr>
            </a:pPr>
            <a:r>
              <a:rPr sz="2400" b="1">
                <a:solidFill>
                  <a:srgbClr val="28235C"/>
                </a:solidFill>
                <a:latin typeface="Arial"/>
                <a:ea typeface="Arial"/>
                <a:cs typeface="Arial"/>
              </a:rPr>
              <a:t>Self-Report Gap</a:t>
            </a:r>
          </a:p>
        </p:txBody>
      </p:sp>
      <p:sp>
        <p:nvSpPr>
          <p:cNvPr id="364" name="self-report-challenge-label">
            <a:extLst>
              <a:ext uri="{FF2B5EF4-FFF2-40B4-BE49-F238E27FC236}">
                <a16:creationId xmlns:a16="http://schemas.microsoft.com/office/drawing/2014/main" id="{A3938DDF-8F84-4FDB-8864-266230C4BEFE}"/>
              </a:ext>
            </a:extLst>
          </p:cNvPr>
          <p:cNvSpPr>
            <a:spLocks noGrp="1"/>
          </p:cNvSpPr>
          <p:nvPr/>
        </p:nvSpPr>
        <p:spPr>
          <a:xfrm>
            <a:off x="15297150" y="32956500"/>
            <a:ext cx="2000250" cy="285750"/>
          </a:xfrm>
          <a:prstGeom prst="rect">
            <a:avLst/>
          </a:prstGeom>
          <a:noFill/>
          <a:ln w="0">
            <a:noFill/>
            <a:prstDash val="solid"/>
          </a:ln>
        </p:spPr>
        <p:txBody>
          <a:bodyPr/>
          <a:lstStyle/>
          <a:p>
            <a:pPr>
              <a:buNone/>
              <a:defRPr sz="1725" b="1">
                <a:solidFill>
                  <a:srgbClr val="F27C38"/>
                </a:solidFill>
                <a:latin typeface="Arial"/>
                <a:ea typeface="Arial"/>
                <a:cs typeface="Arial"/>
              </a:defRPr>
            </a:pPr>
            <a:r>
              <a:rPr b="1">
                <a:solidFill>
                  <a:srgbClr val="F27C38"/>
                </a:solidFill>
                <a:latin typeface="Arial"/>
                <a:ea typeface="Arial"/>
                <a:cs typeface="Arial"/>
              </a:rPr>
              <a:t>Challenge</a:t>
            </a:r>
          </a:p>
        </p:txBody>
      </p:sp>
      <p:sp>
        <p:nvSpPr>
          <p:cNvPr id="365" name="self-report-challenge">
            <a:extLst>
              <a:ext uri="{FF2B5EF4-FFF2-40B4-BE49-F238E27FC236}">
                <a16:creationId xmlns:a16="http://schemas.microsoft.com/office/drawing/2014/main" id="{DF44F6A4-8AC2-41BB-8C82-738752238470}"/>
              </a:ext>
            </a:extLst>
          </p:cNvPr>
          <p:cNvSpPr>
            <a:spLocks noGrp="1"/>
          </p:cNvSpPr>
          <p:nvPr/>
        </p:nvSpPr>
        <p:spPr>
          <a:xfrm>
            <a:off x="15297150" y="33261300"/>
            <a:ext cx="6438900" cy="495300"/>
          </a:xfrm>
          <a:prstGeom prst="rect">
            <a:avLst/>
          </a:prstGeom>
          <a:noFill/>
          <a:ln w="0">
            <a:noFill/>
            <a:prstDash val="solid"/>
          </a:ln>
        </p:spPr>
        <p:txBody>
          <a:bodyPr/>
          <a:lstStyle/>
          <a:p>
            <a:pPr>
              <a:buNone/>
              <a:defRPr sz="1725">
                <a:solidFill>
                  <a:srgbClr val="121426"/>
                </a:solidFill>
                <a:latin typeface="Arial"/>
                <a:ea typeface="Arial"/>
                <a:cs typeface="Arial"/>
              </a:defRPr>
            </a:pPr>
            <a:r>
              <a:rPr>
                <a:solidFill>
                  <a:srgbClr val="121426"/>
                </a:solidFill>
                <a:latin typeface="Arial"/>
                <a:ea typeface="Arial"/>
                <a:cs typeface="Arial"/>
              </a:rPr>
              <a:t>Participants reported using body cues more than their fixation data showed.</a:t>
            </a:r>
          </a:p>
        </p:txBody>
      </p:sp>
      <p:sp>
        <p:nvSpPr>
          <p:cNvPr id="366" name="self-report-decision-label">
            <a:extLst>
              <a:ext uri="{FF2B5EF4-FFF2-40B4-BE49-F238E27FC236}">
                <a16:creationId xmlns:a16="http://schemas.microsoft.com/office/drawing/2014/main" id="{D135242F-5487-4334-959D-28F3692403CF}"/>
              </a:ext>
            </a:extLst>
          </p:cNvPr>
          <p:cNvSpPr>
            <a:spLocks noGrp="1"/>
          </p:cNvSpPr>
          <p:nvPr/>
        </p:nvSpPr>
        <p:spPr>
          <a:xfrm>
            <a:off x="15297150" y="33832800"/>
            <a:ext cx="2000250" cy="285750"/>
          </a:xfrm>
          <a:prstGeom prst="rect">
            <a:avLst/>
          </a:prstGeom>
          <a:noFill/>
          <a:ln w="0">
            <a:noFill/>
            <a:prstDash val="solid"/>
          </a:ln>
        </p:spPr>
        <p:txBody>
          <a:bodyPr/>
          <a:lstStyle/>
          <a:p>
            <a:pPr>
              <a:buNone/>
              <a:defRPr sz="1725" b="1">
                <a:solidFill>
                  <a:srgbClr val="F27C38"/>
                </a:solidFill>
                <a:latin typeface="Arial"/>
                <a:ea typeface="Arial"/>
                <a:cs typeface="Arial"/>
              </a:defRPr>
            </a:pPr>
            <a:r>
              <a:rPr b="1">
                <a:solidFill>
                  <a:srgbClr val="F27C38"/>
                </a:solidFill>
                <a:latin typeface="Arial"/>
                <a:ea typeface="Arial"/>
                <a:cs typeface="Arial"/>
              </a:rPr>
              <a:t>Decision</a:t>
            </a:r>
          </a:p>
        </p:txBody>
      </p:sp>
      <p:sp>
        <p:nvSpPr>
          <p:cNvPr id="367" name="self-report-decision">
            <a:extLst>
              <a:ext uri="{FF2B5EF4-FFF2-40B4-BE49-F238E27FC236}">
                <a16:creationId xmlns:a16="http://schemas.microsoft.com/office/drawing/2014/main" id="{63E78CBA-BA65-450A-A1D0-839676112753}"/>
              </a:ext>
            </a:extLst>
          </p:cNvPr>
          <p:cNvSpPr>
            <a:spLocks noGrp="1"/>
          </p:cNvSpPr>
          <p:nvPr/>
        </p:nvSpPr>
        <p:spPr>
          <a:xfrm>
            <a:off x="15297150" y="34137600"/>
            <a:ext cx="6438900" cy="361950"/>
          </a:xfrm>
          <a:prstGeom prst="rect">
            <a:avLst/>
          </a:prstGeom>
          <a:noFill/>
          <a:ln w="0">
            <a:noFill/>
            <a:prstDash val="solid"/>
          </a:ln>
        </p:spPr>
        <p:txBody>
          <a:bodyPr/>
          <a:lstStyle/>
          <a:p>
            <a:pPr>
              <a:buNone/>
              <a:defRPr sz="1650">
                <a:solidFill>
                  <a:srgbClr val="405372"/>
                </a:solidFill>
                <a:latin typeface="Arial"/>
                <a:ea typeface="Arial"/>
                <a:cs typeface="Arial"/>
              </a:defRPr>
            </a:pPr>
            <a:r>
              <a:rPr>
                <a:solidFill>
                  <a:srgbClr val="405372"/>
                </a:solidFill>
                <a:latin typeface="Arial"/>
                <a:ea typeface="Arial"/>
                <a:cs typeface="Arial"/>
              </a:rPr>
              <a:t>Compared questionnaire answers against actual gaze distribution instead of relying on reports alone.</a:t>
            </a:r>
          </a:p>
        </p:txBody>
      </p:sp>
      <p:sp>
        <p:nvSpPr>
          <p:cNvPr id="368" name="interpretation-card">
            <a:extLst>
              <a:ext uri="{FF2B5EF4-FFF2-40B4-BE49-F238E27FC236}">
                <a16:creationId xmlns:a16="http://schemas.microsoft.com/office/drawing/2014/main" id="{432E50BE-5B08-4E44-9EAD-58FCD58768A5}"/>
              </a:ext>
            </a:extLst>
          </p:cNvPr>
          <p:cNvSpPr>
            <a:spLocks noGrp="1"/>
          </p:cNvSpPr>
          <p:nvPr/>
        </p:nvSpPr>
        <p:spPr>
          <a:xfrm>
            <a:off x="22364700" y="32175450"/>
            <a:ext cx="6858000" cy="2381250"/>
          </a:xfrm>
          <a:prstGeom prst="roundRect">
            <a:avLst>
              <a:gd name="adj" fmla="val 2400"/>
            </a:avLst>
          </a:prstGeom>
          <a:solidFill>
            <a:srgbClr val="FFFFFF"/>
          </a:solidFill>
          <a:ln w="19050">
            <a:solidFill>
              <a:srgbClr val="9BB6D3"/>
            </a:solidFill>
            <a:prstDash val="solid"/>
          </a:ln>
        </p:spPr>
        <p:txBody>
          <a:bodyPr/>
          <a:lstStyle/>
          <a:p>
            <a:endParaRPr sz="2000"/>
          </a:p>
        </p:txBody>
      </p:sp>
      <p:sp>
        <p:nvSpPr>
          <p:cNvPr id="369" name="interpretation-accent">
            <a:extLst>
              <a:ext uri="{FF2B5EF4-FFF2-40B4-BE49-F238E27FC236}">
                <a16:creationId xmlns:a16="http://schemas.microsoft.com/office/drawing/2014/main" id="{470049FE-21B3-4072-B51C-39CDBB110AC7}"/>
              </a:ext>
            </a:extLst>
          </p:cNvPr>
          <p:cNvSpPr>
            <a:spLocks noGrp="1"/>
          </p:cNvSpPr>
          <p:nvPr/>
        </p:nvSpPr>
        <p:spPr>
          <a:xfrm>
            <a:off x="22364700" y="32175450"/>
            <a:ext cx="6858000" cy="114300"/>
          </a:xfrm>
          <a:prstGeom prst="rect">
            <a:avLst/>
          </a:prstGeom>
          <a:solidFill>
            <a:srgbClr val="D84D4D"/>
          </a:solidFill>
          <a:ln w="0">
            <a:solidFill>
              <a:srgbClr val="D84D4D"/>
            </a:solidFill>
            <a:prstDash val="solid"/>
          </a:ln>
        </p:spPr>
        <p:txBody>
          <a:bodyPr/>
          <a:lstStyle/>
          <a:p>
            <a:endParaRPr sz="2000"/>
          </a:p>
        </p:txBody>
      </p:sp>
      <p:sp>
        <p:nvSpPr>
          <p:cNvPr id="370" name="interpretation-title">
            <a:extLst>
              <a:ext uri="{FF2B5EF4-FFF2-40B4-BE49-F238E27FC236}">
                <a16:creationId xmlns:a16="http://schemas.microsoft.com/office/drawing/2014/main" id="{F122BF69-3C05-46D6-A712-D3423726C24E}"/>
              </a:ext>
            </a:extLst>
          </p:cNvPr>
          <p:cNvSpPr>
            <a:spLocks noGrp="1"/>
          </p:cNvSpPr>
          <p:nvPr/>
        </p:nvSpPr>
        <p:spPr>
          <a:xfrm>
            <a:off x="22574250" y="32442150"/>
            <a:ext cx="6438900" cy="381000"/>
          </a:xfrm>
          <a:prstGeom prst="rect">
            <a:avLst/>
          </a:prstGeom>
          <a:noFill/>
          <a:ln w="0">
            <a:noFill/>
            <a:prstDash val="solid"/>
          </a:ln>
        </p:spPr>
        <p:txBody>
          <a:bodyPr/>
          <a:lstStyle/>
          <a:p>
            <a:pPr>
              <a:buNone/>
              <a:defRPr sz="2250" b="1">
                <a:solidFill>
                  <a:srgbClr val="28235C"/>
                </a:solidFill>
                <a:latin typeface="Arial"/>
                <a:ea typeface="Arial"/>
                <a:cs typeface="Arial"/>
              </a:defRPr>
            </a:pPr>
            <a:r>
              <a:rPr sz="2400" b="1">
                <a:solidFill>
                  <a:srgbClr val="28235C"/>
                </a:solidFill>
                <a:latin typeface="Arial"/>
                <a:ea typeface="Arial"/>
                <a:cs typeface="Arial"/>
              </a:rPr>
              <a:t>Ambiguous Behavior</a:t>
            </a:r>
          </a:p>
        </p:txBody>
      </p:sp>
      <p:sp>
        <p:nvSpPr>
          <p:cNvPr id="371" name="interpretation-challenge-label">
            <a:extLst>
              <a:ext uri="{FF2B5EF4-FFF2-40B4-BE49-F238E27FC236}">
                <a16:creationId xmlns:a16="http://schemas.microsoft.com/office/drawing/2014/main" id="{9E4F886C-FA36-474A-B666-D439F3F66BA0}"/>
              </a:ext>
            </a:extLst>
          </p:cNvPr>
          <p:cNvSpPr>
            <a:spLocks noGrp="1"/>
          </p:cNvSpPr>
          <p:nvPr/>
        </p:nvSpPr>
        <p:spPr>
          <a:xfrm>
            <a:off x="22574250" y="32956500"/>
            <a:ext cx="2000250" cy="285750"/>
          </a:xfrm>
          <a:prstGeom prst="rect">
            <a:avLst/>
          </a:prstGeom>
          <a:noFill/>
          <a:ln w="0">
            <a:noFill/>
            <a:prstDash val="solid"/>
          </a:ln>
        </p:spPr>
        <p:txBody>
          <a:bodyPr/>
          <a:lstStyle/>
          <a:p>
            <a:pPr>
              <a:buNone/>
              <a:defRPr sz="1725" b="1">
                <a:solidFill>
                  <a:srgbClr val="D84D4D"/>
                </a:solidFill>
                <a:latin typeface="Arial"/>
                <a:ea typeface="Arial"/>
                <a:cs typeface="Arial"/>
              </a:defRPr>
            </a:pPr>
            <a:r>
              <a:rPr b="1">
                <a:solidFill>
                  <a:srgbClr val="D84D4D"/>
                </a:solidFill>
                <a:latin typeface="Arial"/>
                <a:ea typeface="Arial"/>
                <a:cs typeface="Arial"/>
              </a:rPr>
              <a:t>Challenge</a:t>
            </a:r>
          </a:p>
        </p:txBody>
      </p:sp>
      <p:sp>
        <p:nvSpPr>
          <p:cNvPr id="372" name="interpretation-challenge">
            <a:extLst>
              <a:ext uri="{FF2B5EF4-FFF2-40B4-BE49-F238E27FC236}">
                <a16:creationId xmlns:a16="http://schemas.microsoft.com/office/drawing/2014/main" id="{458C6A42-72F0-45D8-B04F-97D7B4AD61EE}"/>
              </a:ext>
            </a:extLst>
          </p:cNvPr>
          <p:cNvSpPr>
            <a:spLocks noGrp="1"/>
          </p:cNvSpPr>
          <p:nvPr/>
        </p:nvSpPr>
        <p:spPr>
          <a:xfrm>
            <a:off x="22574250" y="33261300"/>
            <a:ext cx="6438900" cy="495300"/>
          </a:xfrm>
          <a:prstGeom prst="rect">
            <a:avLst/>
          </a:prstGeom>
          <a:noFill/>
          <a:ln w="0">
            <a:noFill/>
            <a:prstDash val="solid"/>
          </a:ln>
        </p:spPr>
        <p:txBody>
          <a:bodyPr/>
          <a:lstStyle/>
          <a:p>
            <a:pPr>
              <a:buNone/>
              <a:defRPr sz="1725">
                <a:solidFill>
                  <a:srgbClr val="121426"/>
                </a:solidFill>
                <a:latin typeface="Arial"/>
                <a:ea typeface="Arial"/>
                <a:cs typeface="Arial"/>
              </a:defRPr>
            </a:pPr>
            <a:r>
              <a:rPr>
                <a:solidFill>
                  <a:srgbClr val="121426"/>
                </a:solidFill>
                <a:latin typeface="Arial"/>
                <a:ea typeface="Arial"/>
                <a:cs typeface="Arial"/>
              </a:rPr>
              <a:t>Some situations were interpreted very differently across participants.</a:t>
            </a:r>
          </a:p>
        </p:txBody>
      </p:sp>
      <p:sp>
        <p:nvSpPr>
          <p:cNvPr id="373" name="interpretation-decision-label">
            <a:extLst>
              <a:ext uri="{FF2B5EF4-FFF2-40B4-BE49-F238E27FC236}">
                <a16:creationId xmlns:a16="http://schemas.microsoft.com/office/drawing/2014/main" id="{4A302891-4425-42FD-A5A7-46E5E94BB256}"/>
              </a:ext>
            </a:extLst>
          </p:cNvPr>
          <p:cNvSpPr>
            <a:spLocks noGrp="1"/>
          </p:cNvSpPr>
          <p:nvPr/>
        </p:nvSpPr>
        <p:spPr>
          <a:xfrm>
            <a:off x="22574250" y="33832800"/>
            <a:ext cx="2000250" cy="285750"/>
          </a:xfrm>
          <a:prstGeom prst="rect">
            <a:avLst/>
          </a:prstGeom>
          <a:noFill/>
          <a:ln w="0">
            <a:noFill/>
            <a:prstDash val="solid"/>
          </a:ln>
        </p:spPr>
        <p:txBody>
          <a:bodyPr/>
          <a:lstStyle/>
          <a:p>
            <a:pPr>
              <a:buNone/>
              <a:defRPr sz="1725" b="1">
                <a:solidFill>
                  <a:srgbClr val="D84D4D"/>
                </a:solidFill>
                <a:latin typeface="Arial"/>
                <a:ea typeface="Arial"/>
                <a:cs typeface="Arial"/>
              </a:defRPr>
            </a:pPr>
            <a:r>
              <a:rPr b="1">
                <a:solidFill>
                  <a:srgbClr val="D84D4D"/>
                </a:solidFill>
                <a:latin typeface="Arial"/>
                <a:ea typeface="Arial"/>
                <a:cs typeface="Arial"/>
              </a:rPr>
              <a:t>Decision</a:t>
            </a:r>
          </a:p>
        </p:txBody>
      </p:sp>
      <p:sp>
        <p:nvSpPr>
          <p:cNvPr id="374" name="interpretation-decision">
            <a:extLst>
              <a:ext uri="{FF2B5EF4-FFF2-40B4-BE49-F238E27FC236}">
                <a16:creationId xmlns:a16="http://schemas.microsoft.com/office/drawing/2014/main" id="{25DA6249-4F62-4C23-A6A5-F993F602C36D}"/>
              </a:ext>
            </a:extLst>
          </p:cNvPr>
          <p:cNvSpPr>
            <a:spLocks noGrp="1"/>
          </p:cNvSpPr>
          <p:nvPr/>
        </p:nvSpPr>
        <p:spPr>
          <a:xfrm>
            <a:off x="22574250" y="34137600"/>
            <a:ext cx="6438900" cy="361950"/>
          </a:xfrm>
          <a:prstGeom prst="rect">
            <a:avLst/>
          </a:prstGeom>
          <a:noFill/>
          <a:ln w="0">
            <a:noFill/>
            <a:prstDash val="solid"/>
          </a:ln>
        </p:spPr>
        <p:txBody>
          <a:bodyPr/>
          <a:lstStyle/>
          <a:p>
            <a:pPr>
              <a:buNone/>
              <a:defRPr sz="1650">
                <a:solidFill>
                  <a:srgbClr val="405372"/>
                </a:solidFill>
                <a:latin typeface="Arial"/>
                <a:ea typeface="Arial"/>
                <a:cs typeface="Arial"/>
              </a:defRPr>
            </a:pPr>
            <a:r>
              <a:rPr>
                <a:solidFill>
                  <a:srgbClr val="405372"/>
                </a:solidFill>
                <a:latin typeface="Arial"/>
                <a:ea typeface="Arial"/>
                <a:cs typeface="Arial"/>
              </a:rPr>
              <a:t>Treated accuracy and confusion patterns as findings, not just errors.</a:t>
            </a:r>
          </a:p>
        </p:txBody>
      </p:sp>
      <p:sp>
        <p:nvSpPr>
          <p:cNvPr id="375" name="tradeoff-title">
            <a:extLst>
              <a:ext uri="{FF2B5EF4-FFF2-40B4-BE49-F238E27FC236}">
                <a16:creationId xmlns:a16="http://schemas.microsoft.com/office/drawing/2014/main" id="{9FAA688E-524E-405D-AB57-F51D3D1E98E2}"/>
              </a:ext>
            </a:extLst>
          </p:cNvPr>
          <p:cNvSpPr>
            <a:spLocks noGrp="1"/>
          </p:cNvSpPr>
          <p:nvPr/>
        </p:nvSpPr>
        <p:spPr>
          <a:xfrm>
            <a:off x="533400" y="35004375"/>
            <a:ext cx="10763250" cy="40005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a:solidFill>
                  <a:srgbClr val="121426"/>
                </a:solidFill>
                <a:latin typeface="Arial"/>
                <a:ea typeface="Arial"/>
                <a:cs typeface="Arial"/>
              </a:rPr>
              <a:t>Key tradeoffs that shaped the project</a:t>
            </a:r>
          </a:p>
        </p:txBody>
      </p:sp>
      <p:sp>
        <p:nvSpPr>
          <p:cNvPr id="376" name="tradeoff-1-pill">
            <a:extLst>
              <a:ext uri="{FF2B5EF4-FFF2-40B4-BE49-F238E27FC236}">
                <a16:creationId xmlns:a16="http://schemas.microsoft.com/office/drawing/2014/main" id="{80AFA8CD-7FBC-407A-B060-53AF65E995CC}"/>
              </a:ext>
            </a:extLst>
          </p:cNvPr>
          <p:cNvSpPr>
            <a:spLocks noGrp="1"/>
          </p:cNvSpPr>
          <p:nvPr/>
        </p:nvSpPr>
        <p:spPr>
          <a:xfrm>
            <a:off x="647700" y="35585400"/>
            <a:ext cx="3143250" cy="1028700"/>
          </a:xfrm>
          <a:prstGeom prst="roundRect">
            <a:avLst>
              <a:gd name="adj" fmla="val 5556"/>
            </a:avLst>
          </a:prstGeom>
          <a:solidFill>
            <a:srgbClr val="FFFFFF"/>
          </a:solidFill>
          <a:ln w="19050">
            <a:solidFill>
              <a:srgbClr val="9BB6D3"/>
            </a:solidFill>
            <a:prstDash val="solid"/>
          </a:ln>
        </p:spPr>
        <p:txBody>
          <a:bodyPr/>
          <a:lstStyle/>
          <a:p>
            <a:endParaRPr sz="2000"/>
          </a:p>
        </p:txBody>
      </p:sp>
      <p:sp>
        <p:nvSpPr>
          <p:cNvPr id="377" name="tradeoff-1-value">
            <a:extLst>
              <a:ext uri="{FF2B5EF4-FFF2-40B4-BE49-F238E27FC236}">
                <a16:creationId xmlns:a16="http://schemas.microsoft.com/office/drawing/2014/main" id="{C5B23207-74C0-4E36-89D5-BDD4CE076118}"/>
              </a:ext>
            </a:extLst>
          </p:cNvPr>
          <p:cNvSpPr>
            <a:spLocks noGrp="1"/>
          </p:cNvSpPr>
          <p:nvPr/>
        </p:nvSpPr>
        <p:spPr>
          <a:xfrm>
            <a:off x="781050" y="35737800"/>
            <a:ext cx="2876550" cy="400050"/>
          </a:xfrm>
          <a:prstGeom prst="rect">
            <a:avLst/>
          </a:prstGeom>
          <a:noFill/>
          <a:ln w="0">
            <a:noFill/>
            <a:prstDash val="solid"/>
          </a:ln>
        </p:spPr>
        <p:txBody>
          <a:bodyPr/>
          <a:lstStyle/>
          <a:p>
            <a:pPr algn="ctr">
              <a:buNone/>
              <a:defRPr sz="2550" b="1">
                <a:solidFill>
                  <a:srgbClr val="14A098"/>
                </a:solidFill>
                <a:latin typeface="Arial"/>
                <a:ea typeface="Arial"/>
                <a:cs typeface="Arial"/>
              </a:defRPr>
            </a:pPr>
            <a:r>
              <a:rPr sz="2800" b="1">
                <a:solidFill>
                  <a:srgbClr val="14A098"/>
                </a:solidFill>
                <a:latin typeface="Arial"/>
                <a:ea typeface="Arial"/>
                <a:cs typeface="Arial"/>
              </a:rPr>
              <a:t>Quality</a:t>
            </a:r>
          </a:p>
        </p:txBody>
      </p:sp>
      <p:sp>
        <p:nvSpPr>
          <p:cNvPr id="378" name="tradeoff-1-label">
            <a:extLst>
              <a:ext uri="{FF2B5EF4-FFF2-40B4-BE49-F238E27FC236}">
                <a16:creationId xmlns:a16="http://schemas.microsoft.com/office/drawing/2014/main" id="{1C2700BA-B513-4573-8AE6-FFFDA979C143}"/>
              </a:ext>
            </a:extLst>
          </p:cNvPr>
          <p:cNvSpPr>
            <a:spLocks noGrp="1"/>
          </p:cNvSpPr>
          <p:nvPr/>
        </p:nvSpPr>
        <p:spPr>
          <a:xfrm>
            <a:off x="781050" y="36175950"/>
            <a:ext cx="2876550" cy="342900"/>
          </a:xfrm>
          <a:prstGeom prst="rect">
            <a:avLst/>
          </a:prstGeom>
          <a:noFill/>
          <a:ln w="0">
            <a:noFill/>
            <a:prstDash val="solid"/>
          </a:ln>
        </p:spPr>
        <p:txBody>
          <a:bodyPr/>
          <a:lstStyle/>
          <a:p>
            <a:pPr algn="ctr">
              <a:buNone/>
              <a:defRPr sz="1500">
                <a:solidFill>
                  <a:srgbClr val="405372"/>
                </a:solidFill>
                <a:latin typeface="Arial"/>
                <a:ea typeface="Arial"/>
                <a:cs typeface="Arial"/>
              </a:defRPr>
            </a:pPr>
            <a:r>
              <a:rPr sz="1600">
                <a:solidFill>
                  <a:srgbClr val="405372"/>
                </a:solidFill>
                <a:latin typeface="Arial"/>
                <a:ea typeface="Arial"/>
                <a:cs typeface="Arial"/>
              </a:rPr>
              <a:t>fewer but cleaner gaze samples</a:t>
            </a:r>
          </a:p>
        </p:txBody>
      </p:sp>
      <p:sp>
        <p:nvSpPr>
          <p:cNvPr id="379" name="tradeoff-2-pill">
            <a:extLst>
              <a:ext uri="{FF2B5EF4-FFF2-40B4-BE49-F238E27FC236}">
                <a16:creationId xmlns:a16="http://schemas.microsoft.com/office/drawing/2014/main" id="{66E04A0D-BDC5-43AF-BA8C-F9EE03D44F2C}"/>
              </a:ext>
            </a:extLst>
          </p:cNvPr>
          <p:cNvSpPr>
            <a:spLocks noGrp="1"/>
          </p:cNvSpPr>
          <p:nvPr/>
        </p:nvSpPr>
        <p:spPr>
          <a:xfrm>
            <a:off x="4095750" y="35585400"/>
            <a:ext cx="3143250" cy="1028700"/>
          </a:xfrm>
          <a:prstGeom prst="roundRect">
            <a:avLst>
              <a:gd name="adj" fmla="val 5556"/>
            </a:avLst>
          </a:prstGeom>
          <a:solidFill>
            <a:srgbClr val="FFFFFF"/>
          </a:solidFill>
          <a:ln w="19050">
            <a:solidFill>
              <a:srgbClr val="9BB6D3"/>
            </a:solidFill>
            <a:prstDash val="solid"/>
          </a:ln>
        </p:spPr>
        <p:txBody>
          <a:bodyPr/>
          <a:lstStyle/>
          <a:p>
            <a:endParaRPr sz="2000"/>
          </a:p>
        </p:txBody>
      </p:sp>
      <p:sp>
        <p:nvSpPr>
          <p:cNvPr id="380" name="tradeoff-2-value">
            <a:extLst>
              <a:ext uri="{FF2B5EF4-FFF2-40B4-BE49-F238E27FC236}">
                <a16:creationId xmlns:a16="http://schemas.microsoft.com/office/drawing/2014/main" id="{967DECE7-8A52-49C1-8A15-E9D021A598C9}"/>
              </a:ext>
            </a:extLst>
          </p:cNvPr>
          <p:cNvSpPr>
            <a:spLocks noGrp="1"/>
          </p:cNvSpPr>
          <p:nvPr/>
        </p:nvSpPr>
        <p:spPr>
          <a:xfrm>
            <a:off x="4229100" y="35737800"/>
            <a:ext cx="2876550" cy="400050"/>
          </a:xfrm>
          <a:prstGeom prst="rect">
            <a:avLst/>
          </a:prstGeom>
          <a:noFill/>
          <a:ln w="0">
            <a:noFill/>
            <a:prstDash val="solid"/>
          </a:ln>
        </p:spPr>
        <p:txBody>
          <a:bodyPr/>
          <a:lstStyle/>
          <a:p>
            <a:pPr algn="ctr">
              <a:buNone/>
              <a:defRPr sz="2550" b="1">
                <a:solidFill>
                  <a:srgbClr val="3975A8"/>
                </a:solidFill>
                <a:latin typeface="Arial"/>
                <a:ea typeface="Arial"/>
                <a:cs typeface="Arial"/>
              </a:defRPr>
            </a:pPr>
            <a:r>
              <a:rPr sz="2800" b="1">
                <a:solidFill>
                  <a:srgbClr val="3975A8"/>
                </a:solidFill>
                <a:latin typeface="Arial"/>
                <a:ea typeface="Arial"/>
                <a:cs typeface="Arial"/>
              </a:rPr>
              <a:t>Granularity</a:t>
            </a:r>
          </a:p>
        </p:txBody>
      </p:sp>
      <p:sp>
        <p:nvSpPr>
          <p:cNvPr id="381" name="tradeoff-2-label">
            <a:extLst>
              <a:ext uri="{FF2B5EF4-FFF2-40B4-BE49-F238E27FC236}">
                <a16:creationId xmlns:a16="http://schemas.microsoft.com/office/drawing/2014/main" id="{FAC319C9-1B50-4230-B9E8-0D1A2D02A8AD}"/>
              </a:ext>
            </a:extLst>
          </p:cNvPr>
          <p:cNvSpPr>
            <a:spLocks noGrp="1"/>
          </p:cNvSpPr>
          <p:nvPr/>
        </p:nvSpPr>
        <p:spPr>
          <a:xfrm>
            <a:off x="4229100" y="36175950"/>
            <a:ext cx="2876550" cy="342900"/>
          </a:xfrm>
          <a:prstGeom prst="rect">
            <a:avLst/>
          </a:prstGeom>
          <a:noFill/>
          <a:ln w="0">
            <a:noFill/>
            <a:prstDash val="solid"/>
          </a:ln>
        </p:spPr>
        <p:txBody>
          <a:bodyPr/>
          <a:lstStyle/>
          <a:p>
            <a:pPr algn="ctr">
              <a:buNone/>
              <a:defRPr sz="1500">
                <a:solidFill>
                  <a:srgbClr val="405372"/>
                </a:solidFill>
                <a:latin typeface="Arial"/>
                <a:ea typeface="Arial"/>
                <a:cs typeface="Arial"/>
              </a:defRPr>
            </a:pPr>
            <a:r>
              <a:rPr sz="1600">
                <a:solidFill>
                  <a:srgbClr val="405372"/>
                </a:solidFill>
                <a:latin typeface="Arial"/>
                <a:ea typeface="Arial"/>
                <a:cs typeface="Arial"/>
              </a:rPr>
              <a:t>broader AOIs over fragile labels</a:t>
            </a:r>
          </a:p>
        </p:txBody>
      </p:sp>
      <p:sp>
        <p:nvSpPr>
          <p:cNvPr id="382" name="tradeoff-3-pill">
            <a:extLst>
              <a:ext uri="{FF2B5EF4-FFF2-40B4-BE49-F238E27FC236}">
                <a16:creationId xmlns:a16="http://schemas.microsoft.com/office/drawing/2014/main" id="{3DF6E396-236D-49CD-9643-0BED6DB65D08}"/>
              </a:ext>
            </a:extLst>
          </p:cNvPr>
          <p:cNvSpPr>
            <a:spLocks noGrp="1"/>
          </p:cNvSpPr>
          <p:nvPr/>
        </p:nvSpPr>
        <p:spPr>
          <a:xfrm>
            <a:off x="7543800" y="35585400"/>
            <a:ext cx="3429000" cy="1028700"/>
          </a:xfrm>
          <a:prstGeom prst="roundRect">
            <a:avLst>
              <a:gd name="adj" fmla="val 5556"/>
            </a:avLst>
          </a:prstGeom>
          <a:solidFill>
            <a:srgbClr val="FFFFFF"/>
          </a:solidFill>
          <a:ln w="19050">
            <a:solidFill>
              <a:srgbClr val="9BB6D3"/>
            </a:solidFill>
            <a:prstDash val="solid"/>
          </a:ln>
        </p:spPr>
        <p:txBody>
          <a:bodyPr/>
          <a:lstStyle/>
          <a:p>
            <a:endParaRPr sz="2000"/>
          </a:p>
        </p:txBody>
      </p:sp>
      <p:sp>
        <p:nvSpPr>
          <p:cNvPr id="383" name="tradeoff-3-value">
            <a:extLst>
              <a:ext uri="{FF2B5EF4-FFF2-40B4-BE49-F238E27FC236}">
                <a16:creationId xmlns:a16="http://schemas.microsoft.com/office/drawing/2014/main" id="{08ED99DF-6CAC-4B3B-A4DD-F9FB2CB95FCD}"/>
              </a:ext>
            </a:extLst>
          </p:cNvPr>
          <p:cNvSpPr>
            <a:spLocks noGrp="1"/>
          </p:cNvSpPr>
          <p:nvPr/>
        </p:nvSpPr>
        <p:spPr>
          <a:xfrm>
            <a:off x="7677150" y="35737800"/>
            <a:ext cx="3162300" cy="400050"/>
          </a:xfrm>
          <a:prstGeom prst="rect">
            <a:avLst/>
          </a:prstGeom>
          <a:noFill/>
          <a:ln w="0">
            <a:noFill/>
            <a:prstDash val="solid"/>
          </a:ln>
        </p:spPr>
        <p:txBody>
          <a:bodyPr/>
          <a:lstStyle/>
          <a:p>
            <a:pPr algn="ctr">
              <a:buNone/>
              <a:defRPr sz="2550" b="1">
                <a:solidFill>
                  <a:srgbClr val="F27C38"/>
                </a:solidFill>
                <a:latin typeface="Arial"/>
                <a:ea typeface="Arial"/>
                <a:cs typeface="Arial"/>
              </a:defRPr>
            </a:pPr>
            <a:r>
              <a:rPr sz="2800" b="1">
                <a:solidFill>
                  <a:srgbClr val="F27C38"/>
                </a:solidFill>
                <a:latin typeface="Arial"/>
                <a:ea typeface="Arial"/>
                <a:cs typeface="Arial"/>
              </a:rPr>
              <a:t>Evidence</a:t>
            </a:r>
          </a:p>
        </p:txBody>
      </p:sp>
      <p:sp>
        <p:nvSpPr>
          <p:cNvPr id="384" name="tradeoff-3-label">
            <a:extLst>
              <a:ext uri="{FF2B5EF4-FFF2-40B4-BE49-F238E27FC236}">
                <a16:creationId xmlns:a16="http://schemas.microsoft.com/office/drawing/2014/main" id="{41E5474F-08AC-4E70-88AD-C3BFC16E22FE}"/>
              </a:ext>
            </a:extLst>
          </p:cNvPr>
          <p:cNvSpPr>
            <a:spLocks noGrp="1"/>
          </p:cNvSpPr>
          <p:nvPr/>
        </p:nvSpPr>
        <p:spPr>
          <a:xfrm>
            <a:off x="7677150" y="36175950"/>
            <a:ext cx="3162300" cy="342900"/>
          </a:xfrm>
          <a:prstGeom prst="rect">
            <a:avLst/>
          </a:prstGeom>
          <a:noFill/>
          <a:ln w="0">
            <a:noFill/>
            <a:prstDash val="solid"/>
          </a:ln>
        </p:spPr>
        <p:txBody>
          <a:bodyPr/>
          <a:lstStyle/>
          <a:p>
            <a:pPr algn="ctr">
              <a:buNone/>
              <a:defRPr sz="1500">
                <a:solidFill>
                  <a:srgbClr val="405372"/>
                </a:solidFill>
                <a:latin typeface="Arial"/>
                <a:ea typeface="Arial"/>
                <a:cs typeface="Arial"/>
              </a:defRPr>
            </a:pPr>
            <a:r>
              <a:rPr sz="1600">
                <a:solidFill>
                  <a:srgbClr val="405372"/>
                </a:solidFill>
                <a:latin typeface="Arial"/>
                <a:ea typeface="Arial"/>
                <a:cs typeface="Arial"/>
              </a:rPr>
              <a:t>objective gaze plus subjective answers</a:t>
            </a:r>
          </a:p>
        </p:txBody>
      </p:sp>
      <p:sp>
        <p:nvSpPr>
          <p:cNvPr id="385" name="why-title">
            <a:extLst>
              <a:ext uri="{FF2B5EF4-FFF2-40B4-BE49-F238E27FC236}">
                <a16:creationId xmlns:a16="http://schemas.microsoft.com/office/drawing/2014/main" id="{C738A24C-F09A-42BD-A1B2-BF449921FFA4}"/>
              </a:ext>
            </a:extLst>
          </p:cNvPr>
          <p:cNvSpPr>
            <a:spLocks noGrp="1"/>
          </p:cNvSpPr>
          <p:nvPr/>
        </p:nvSpPr>
        <p:spPr>
          <a:xfrm>
            <a:off x="12239625" y="35004375"/>
            <a:ext cx="6096000" cy="40005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a:solidFill>
                  <a:srgbClr val="121426"/>
                </a:solidFill>
                <a:latin typeface="Arial"/>
                <a:ea typeface="Arial"/>
                <a:cs typeface="Arial"/>
              </a:rPr>
              <a:t>Why this matters</a:t>
            </a:r>
          </a:p>
        </p:txBody>
      </p:sp>
      <p:sp>
        <p:nvSpPr>
          <p:cNvPr id="386" name="why-box">
            <a:extLst>
              <a:ext uri="{FF2B5EF4-FFF2-40B4-BE49-F238E27FC236}">
                <a16:creationId xmlns:a16="http://schemas.microsoft.com/office/drawing/2014/main" id="{760B44A1-5FD7-4307-8E23-36A41CFB3E17}"/>
              </a:ext>
            </a:extLst>
          </p:cNvPr>
          <p:cNvSpPr>
            <a:spLocks noGrp="1"/>
          </p:cNvSpPr>
          <p:nvPr/>
        </p:nvSpPr>
        <p:spPr>
          <a:xfrm>
            <a:off x="12239625" y="35585400"/>
            <a:ext cx="8001000" cy="1028700"/>
          </a:xfrm>
          <a:prstGeom prst="roundRect">
            <a:avLst>
              <a:gd name="adj" fmla="val 5556"/>
            </a:avLst>
          </a:prstGeom>
          <a:solidFill>
            <a:srgbClr val="FFFFFF"/>
          </a:solidFill>
          <a:ln w="19050">
            <a:solidFill>
              <a:srgbClr val="9BB6D3"/>
            </a:solidFill>
            <a:prstDash val="solid"/>
          </a:ln>
        </p:spPr>
        <p:txBody>
          <a:bodyPr/>
          <a:lstStyle/>
          <a:p>
            <a:endParaRPr sz="2000"/>
          </a:p>
        </p:txBody>
      </p:sp>
      <p:sp>
        <p:nvSpPr>
          <p:cNvPr id="387" name="why-text">
            <a:extLst>
              <a:ext uri="{FF2B5EF4-FFF2-40B4-BE49-F238E27FC236}">
                <a16:creationId xmlns:a16="http://schemas.microsoft.com/office/drawing/2014/main" id="{05897F70-81D5-42AB-8613-B282E0A0CC37}"/>
              </a:ext>
            </a:extLst>
          </p:cNvPr>
          <p:cNvSpPr>
            <a:spLocks noGrp="1"/>
          </p:cNvSpPr>
          <p:nvPr/>
        </p:nvSpPr>
        <p:spPr>
          <a:xfrm>
            <a:off x="12477750" y="35794950"/>
            <a:ext cx="7524750" cy="647700"/>
          </a:xfrm>
          <a:prstGeom prst="rect">
            <a:avLst/>
          </a:prstGeom>
          <a:noFill/>
          <a:ln w="0">
            <a:noFill/>
            <a:prstDash val="solid"/>
          </a:ln>
        </p:spPr>
        <p:txBody>
          <a:bodyPr/>
          <a:lstStyle/>
          <a:p>
            <a:pPr algn="ctr">
              <a:buNone/>
              <a:defRPr sz="1800">
                <a:solidFill>
                  <a:srgbClr val="405372"/>
                </a:solidFill>
                <a:latin typeface="Arial"/>
                <a:ea typeface="Arial"/>
                <a:cs typeface="Arial"/>
              </a:defRPr>
            </a:pPr>
            <a:r>
              <a:rPr sz="2000">
                <a:solidFill>
                  <a:srgbClr val="405372"/>
                </a:solidFill>
                <a:latin typeface="Arial"/>
                <a:ea typeface="Arial"/>
                <a:cs typeface="Arial"/>
              </a:rPr>
              <a:t>These decisions made the analysis more explainable: instead of claiming perfect emotion recognition, the project shows where visual evidence was strong, weak, or inconsistent.</a:t>
            </a:r>
          </a:p>
        </p:txBody>
      </p:sp>
      <p:sp>
        <p:nvSpPr>
          <p:cNvPr id="388" name="talking-title">
            <a:extLst>
              <a:ext uri="{FF2B5EF4-FFF2-40B4-BE49-F238E27FC236}">
                <a16:creationId xmlns:a16="http://schemas.microsoft.com/office/drawing/2014/main" id="{9F096287-9D87-424F-BBFE-E68099AC4949}"/>
              </a:ext>
            </a:extLst>
          </p:cNvPr>
          <p:cNvSpPr>
            <a:spLocks noGrp="1"/>
          </p:cNvSpPr>
          <p:nvPr/>
        </p:nvSpPr>
        <p:spPr>
          <a:xfrm>
            <a:off x="21526500" y="35004375"/>
            <a:ext cx="7810500" cy="40005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a:solidFill>
                  <a:srgbClr val="121426"/>
                </a:solidFill>
                <a:latin typeface="Arial"/>
                <a:ea typeface="Arial"/>
                <a:cs typeface="Arial"/>
              </a:rPr>
              <a:t>Good examiner questions to expect</a:t>
            </a:r>
          </a:p>
        </p:txBody>
      </p:sp>
      <p:sp>
        <p:nvSpPr>
          <p:cNvPr id="389" name="talking-points">
            <a:extLst>
              <a:ext uri="{FF2B5EF4-FFF2-40B4-BE49-F238E27FC236}">
                <a16:creationId xmlns:a16="http://schemas.microsoft.com/office/drawing/2014/main" id="{F37D0A75-3CE7-4641-B26F-D94679DBAB62}"/>
              </a:ext>
            </a:extLst>
          </p:cNvPr>
          <p:cNvSpPr>
            <a:spLocks noGrp="1"/>
          </p:cNvSpPr>
          <p:nvPr/>
        </p:nvSpPr>
        <p:spPr>
          <a:xfrm>
            <a:off x="21526500" y="35575875"/>
            <a:ext cx="7810500" cy="1143000"/>
          </a:xfrm>
          <a:prstGeom prst="rect">
            <a:avLst/>
          </a:prstGeom>
          <a:noFill/>
          <a:ln w="0">
            <a:noFill/>
            <a:prstDash val="solid"/>
          </a:ln>
        </p:spPr>
        <p:txBody>
          <a:bodyPr/>
          <a:lstStyle/>
          <a:p>
            <a:pPr>
              <a:buNone/>
              <a:defRPr sz="1875">
                <a:solidFill>
                  <a:srgbClr val="121426"/>
                </a:solidFill>
                <a:latin typeface="Arial"/>
                <a:ea typeface="Arial"/>
                <a:cs typeface="Arial"/>
              </a:defRPr>
            </a:pPr>
            <a:r>
              <a:rPr sz="2000" dirty="0">
                <a:solidFill>
                  <a:srgbClr val="121426"/>
                </a:solidFill>
                <a:latin typeface="Arial"/>
                <a:ea typeface="Arial"/>
                <a:cs typeface="Arial"/>
              </a:rPr>
              <a:t>• Why split the face into top and bottom regions?</a:t>
            </a:r>
          </a:p>
          <a:p>
            <a:pPr>
              <a:buNone/>
              <a:defRPr sz="1875">
                <a:solidFill>
                  <a:srgbClr val="121426"/>
                </a:solidFill>
                <a:latin typeface="Arial"/>
                <a:ea typeface="Arial"/>
                <a:cs typeface="Arial"/>
              </a:defRPr>
            </a:pPr>
            <a:r>
              <a:rPr sz="2000" dirty="0">
                <a:solidFill>
                  <a:srgbClr val="121426"/>
                </a:solidFill>
                <a:latin typeface="Arial"/>
                <a:ea typeface="Arial"/>
                <a:cs typeface="Arial"/>
              </a:rPr>
              <a:t>• How did calibration limits affect the final dataset?</a:t>
            </a:r>
          </a:p>
          <a:p>
            <a:pPr>
              <a:buNone/>
              <a:defRPr sz="1875">
                <a:solidFill>
                  <a:srgbClr val="121426"/>
                </a:solidFill>
                <a:latin typeface="Arial"/>
                <a:ea typeface="Arial"/>
                <a:cs typeface="Arial"/>
              </a:defRPr>
            </a:pPr>
            <a:r>
              <a:rPr sz="2000" dirty="0">
                <a:solidFill>
                  <a:srgbClr val="121426"/>
                </a:solidFill>
                <a:latin typeface="Arial"/>
                <a:ea typeface="Arial"/>
                <a:cs typeface="Arial"/>
              </a:rPr>
              <a:t>• Why did reported cues differ from actual gaze behavior?</a:t>
            </a:r>
          </a:p>
        </p:txBody>
      </p:sp>
      <p:sp>
        <p:nvSpPr>
          <p:cNvPr id="390" name="challenge-bottom-note">
            <a:extLst>
              <a:ext uri="{FF2B5EF4-FFF2-40B4-BE49-F238E27FC236}">
                <a16:creationId xmlns:a16="http://schemas.microsoft.com/office/drawing/2014/main" id="{3B6CF2E8-49EE-4BD7-A1D3-60B160A29828}"/>
              </a:ext>
            </a:extLst>
          </p:cNvPr>
          <p:cNvSpPr>
            <a:spLocks noGrp="1"/>
          </p:cNvSpPr>
          <p:nvPr/>
        </p:nvSpPr>
        <p:spPr>
          <a:xfrm>
            <a:off x="533400" y="37242750"/>
            <a:ext cx="29051250" cy="400050"/>
          </a:xfrm>
          <a:prstGeom prst="rect">
            <a:avLst/>
          </a:prstGeom>
          <a:noFill/>
          <a:ln w="0">
            <a:noFill/>
            <a:prstDash val="solid"/>
          </a:ln>
        </p:spPr>
        <p:txBody>
          <a:bodyPr/>
          <a:lstStyle/>
          <a:p>
            <a:pPr algn="ctr">
              <a:buNone/>
              <a:defRPr sz="2100" b="1">
                <a:solidFill>
                  <a:srgbClr val="28235C"/>
                </a:solidFill>
                <a:latin typeface="Arial"/>
                <a:ea typeface="Arial"/>
                <a:cs typeface="Arial"/>
              </a:defRPr>
            </a:pPr>
            <a:r>
              <a:rPr sz="2400" b="1">
                <a:solidFill>
                  <a:srgbClr val="28235C"/>
                </a:solidFill>
                <a:latin typeface="Arial"/>
                <a:ea typeface="Arial"/>
                <a:cs typeface="Arial"/>
              </a:rPr>
              <a:t>Main takeaway: the project’s value comes from handling uncertainty transparently, not hiding it.</a:t>
            </a:r>
          </a:p>
        </p:txBody>
      </p:sp>
      <p:sp>
        <p:nvSpPr>
          <p:cNvPr id="401" name="challenge-lower-half-mask">
            <a:extLst>
              <a:ext uri="{FF2B5EF4-FFF2-40B4-BE49-F238E27FC236}">
                <a16:creationId xmlns:a16="http://schemas.microsoft.com/office/drawing/2014/main" id="{11356E8F-6607-4BF8-9FDE-F1D5815407D2}"/>
              </a:ext>
            </a:extLst>
          </p:cNvPr>
          <p:cNvSpPr>
            <a:spLocks noGrp="1"/>
          </p:cNvSpPr>
          <p:nvPr/>
        </p:nvSpPr>
        <p:spPr>
          <a:xfrm>
            <a:off x="209550" y="34880550"/>
            <a:ext cx="30003750" cy="3200400"/>
          </a:xfrm>
          <a:prstGeom prst="rect">
            <a:avLst/>
          </a:prstGeom>
          <a:solidFill>
            <a:srgbClr val="EAF3FB"/>
          </a:solidFill>
          <a:ln w="0">
            <a:solidFill>
              <a:srgbClr val="EAF3FB"/>
            </a:solidFill>
            <a:prstDash val="solid"/>
          </a:ln>
        </p:spPr>
        <p:txBody>
          <a:bodyPr/>
          <a:lstStyle/>
          <a:p>
            <a:endParaRPr sz="2000"/>
          </a:p>
        </p:txBody>
      </p:sp>
      <p:sp>
        <p:nvSpPr>
          <p:cNvPr id="402" name="learning-title">
            <a:extLst>
              <a:ext uri="{FF2B5EF4-FFF2-40B4-BE49-F238E27FC236}">
                <a16:creationId xmlns:a16="http://schemas.microsoft.com/office/drawing/2014/main" id="{3635EE86-5AE9-4002-A975-ED00261B84A4}"/>
              </a:ext>
            </a:extLst>
          </p:cNvPr>
          <p:cNvSpPr>
            <a:spLocks noGrp="1"/>
          </p:cNvSpPr>
          <p:nvPr/>
        </p:nvSpPr>
        <p:spPr>
          <a:xfrm>
            <a:off x="533400" y="35013900"/>
            <a:ext cx="14287500" cy="400050"/>
          </a:xfrm>
          <a:prstGeom prst="rect">
            <a:avLst/>
          </a:prstGeom>
          <a:noFill/>
          <a:ln w="0">
            <a:noFill/>
            <a:prstDash val="solid"/>
          </a:ln>
        </p:spPr>
        <p:txBody>
          <a:bodyPr/>
          <a:lstStyle/>
          <a:p>
            <a:pPr>
              <a:buNone/>
              <a:defRPr sz="2550" b="1">
                <a:solidFill>
                  <a:srgbClr val="121426"/>
                </a:solidFill>
                <a:latin typeface="Arial"/>
                <a:ea typeface="Arial"/>
                <a:cs typeface="Arial"/>
              </a:defRPr>
            </a:pPr>
            <a:r>
              <a:rPr sz="2800" b="1">
                <a:solidFill>
                  <a:srgbClr val="121426"/>
                </a:solidFill>
                <a:latin typeface="Arial"/>
                <a:ea typeface="Arial"/>
                <a:cs typeface="Arial"/>
              </a:rPr>
              <a:t>What we learned from these challenges</a:t>
            </a:r>
          </a:p>
        </p:txBody>
      </p:sp>
      <p:sp>
        <p:nvSpPr>
          <p:cNvPr id="403" name="learn-quality-box">
            <a:extLst>
              <a:ext uri="{FF2B5EF4-FFF2-40B4-BE49-F238E27FC236}">
                <a16:creationId xmlns:a16="http://schemas.microsoft.com/office/drawing/2014/main" id="{78E4E5D5-1525-464A-9D78-BA9EA8161FA5}"/>
              </a:ext>
            </a:extLst>
          </p:cNvPr>
          <p:cNvSpPr>
            <a:spLocks noGrp="1"/>
          </p:cNvSpPr>
          <p:nvPr/>
        </p:nvSpPr>
        <p:spPr>
          <a:xfrm>
            <a:off x="590550" y="35585400"/>
            <a:ext cx="5334000" cy="1314450"/>
          </a:xfrm>
          <a:prstGeom prst="roundRect">
            <a:avLst>
              <a:gd name="adj" fmla="val 4348"/>
            </a:avLst>
          </a:prstGeom>
          <a:solidFill>
            <a:srgbClr val="FFFFFF"/>
          </a:solidFill>
          <a:ln w="19050">
            <a:solidFill>
              <a:srgbClr val="9BB6D3"/>
            </a:solidFill>
            <a:prstDash val="solid"/>
          </a:ln>
        </p:spPr>
        <p:txBody>
          <a:bodyPr/>
          <a:lstStyle/>
          <a:p>
            <a:endParaRPr sz="2000"/>
          </a:p>
        </p:txBody>
      </p:sp>
      <p:sp>
        <p:nvSpPr>
          <p:cNvPr id="404" name="learn-quality-accent">
            <a:extLst>
              <a:ext uri="{FF2B5EF4-FFF2-40B4-BE49-F238E27FC236}">
                <a16:creationId xmlns:a16="http://schemas.microsoft.com/office/drawing/2014/main" id="{3130EE76-1C5F-470E-A503-D781EA266442}"/>
              </a:ext>
            </a:extLst>
          </p:cNvPr>
          <p:cNvSpPr>
            <a:spLocks noGrp="1"/>
          </p:cNvSpPr>
          <p:nvPr/>
        </p:nvSpPr>
        <p:spPr>
          <a:xfrm>
            <a:off x="590550" y="35585400"/>
            <a:ext cx="5334000" cy="95250"/>
          </a:xfrm>
          <a:prstGeom prst="rect">
            <a:avLst/>
          </a:prstGeom>
          <a:solidFill>
            <a:srgbClr val="14A098"/>
          </a:solidFill>
          <a:ln w="0">
            <a:solidFill>
              <a:srgbClr val="14A098"/>
            </a:solidFill>
            <a:prstDash val="solid"/>
          </a:ln>
        </p:spPr>
        <p:txBody>
          <a:bodyPr/>
          <a:lstStyle/>
          <a:p>
            <a:endParaRPr sz="2000"/>
          </a:p>
        </p:txBody>
      </p:sp>
      <p:sp>
        <p:nvSpPr>
          <p:cNvPr id="405" name="learn-quality-title">
            <a:extLst>
              <a:ext uri="{FF2B5EF4-FFF2-40B4-BE49-F238E27FC236}">
                <a16:creationId xmlns:a16="http://schemas.microsoft.com/office/drawing/2014/main" id="{A36DB61B-DF0E-43FD-9D7B-0917B22AFC27}"/>
              </a:ext>
            </a:extLst>
          </p:cNvPr>
          <p:cNvSpPr>
            <a:spLocks noGrp="1"/>
          </p:cNvSpPr>
          <p:nvPr/>
        </p:nvSpPr>
        <p:spPr>
          <a:xfrm>
            <a:off x="800100" y="35852100"/>
            <a:ext cx="4914900" cy="323850"/>
          </a:xfrm>
          <a:prstGeom prst="rect">
            <a:avLst/>
          </a:prstGeom>
          <a:noFill/>
          <a:ln w="0">
            <a:noFill/>
            <a:prstDash val="solid"/>
          </a:ln>
        </p:spPr>
        <p:txBody>
          <a:bodyPr/>
          <a:lstStyle/>
          <a:p>
            <a:pPr algn="ctr">
              <a:buNone/>
              <a:defRPr sz="2100" b="1">
                <a:solidFill>
                  <a:srgbClr val="14A098"/>
                </a:solidFill>
                <a:latin typeface="Arial"/>
                <a:ea typeface="Arial"/>
                <a:cs typeface="Arial"/>
              </a:defRPr>
            </a:pPr>
            <a:r>
              <a:rPr sz="2400" b="1">
                <a:solidFill>
                  <a:srgbClr val="14A098"/>
                </a:solidFill>
                <a:latin typeface="Arial"/>
                <a:ea typeface="Arial"/>
                <a:cs typeface="Arial"/>
              </a:rPr>
              <a:t>Quality Over Quantity</a:t>
            </a:r>
          </a:p>
        </p:txBody>
      </p:sp>
      <p:sp>
        <p:nvSpPr>
          <p:cNvPr id="406" name="learn-quality-body">
            <a:extLst>
              <a:ext uri="{FF2B5EF4-FFF2-40B4-BE49-F238E27FC236}">
                <a16:creationId xmlns:a16="http://schemas.microsoft.com/office/drawing/2014/main" id="{465E42B9-53BC-4ACB-B557-EADEB74E7449}"/>
              </a:ext>
            </a:extLst>
          </p:cNvPr>
          <p:cNvSpPr>
            <a:spLocks noGrp="1"/>
          </p:cNvSpPr>
          <p:nvPr/>
        </p:nvSpPr>
        <p:spPr>
          <a:xfrm>
            <a:off x="819150" y="36271200"/>
            <a:ext cx="4876800" cy="419100"/>
          </a:xfrm>
          <a:prstGeom prst="rect">
            <a:avLst/>
          </a:prstGeom>
          <a:noFill/>
          <a:ln w="0">
            <a:noFill/>
            <a:prstDash val="solid"/>
          </a:ln>
        </p:spPr>
        <p:txBody>
          <a:bodyPr/>
          <a:lstStyle/>
          <a:p>
            <a:pPr algn="ctr">
              <a:buNone/>
              <a:defRPr sz="1725">
                <a:solidFill>
                  <a:srgbClr val="405372"/>
                </a:solidFill>
                <a:latin typeface="Arial"/>
                <a:ea typeface="Arial"/>
                <a:cs typeface="Arial"/>
              </a:defRPr>
            </a:pPr>
            <a:r>
              <a:rPr>
                <a:solidFill>
                  <a:srgbClr val="405372"/>
                </a:solidFill>
                <a:latin typeface="Arial"/>
                <a:ea typeface="Arial"/>
                <a:cs typeface="Arial"/>
              </a:rPr>
              <a:t>Cleaner gaze samples mattered more than keeping every exported row.</a:t>
            </a:r>
          </a:p>
        </p:txBody>
      </p:sp>
      <p:sp>
        <p:nvSpPr>
          <p:cNvPr id="407" name="learn-aoi-box">
            <a:extLst>
              <a:ext uri="{FF2B5EF4-FFF2-40B4-BE49-F238E27FC236}">
                <a16:creationId xmlns:a16="http://schemas.microsoft.com/office/drawing/2014/main" id="{F5108453-B94B-4F31-A57E-2D4C836D9C32}"/>
              </a:ext>
            </a:extLst>
          </p:cNvPr>
          <p:cNvSpPr>
            <a:spLocks noGrp="1"/>
          </p:cNvSpPr>
          <p:nvPr/>
        </p:nvSpPr>
        <p:spPr>
          <a:xfrm>
            <a:off x="6305550" y="35585400"/>
            <a:ext cx="5905500" cy="1314450"/>
          </a:xfrm>
          <a:prstGeom prst="roundRect">
            <a:avLst>
              <a:gd name="adj" fmla="val 4348"/>
            </a:avLst>
          </a:prstGeom>
          <a:solidFill>
            <a:srgbClr val="FFFFFF"/>
          </a:solidFill>
          <a:ln w="19050">
            <a:solidFill>
              <a:srgbClr val="9BB6D3"/>
            </a:solidFill>
            <a:prstDash val="solid"/>
          </a:ln>
        </p:spPr>
        <p:txBody>
          <a:bodyPr/>
          <a:lstStyle/>
          <a:p>
            <a:endParaRPr sz="2000"/>
          </a:p>
        </p:txBody>
      </p:sp>
      <p:sp>
        <p:nvSpPr>
          <p:cNvPr id="408" name="learn-aoi-accent">
            <a:extLst>
              <a:ext uri="{FF2B5EF4-FFF2-40B4-BE49-F238E27FC236}">
                <a16:creationId xmlns:a16="http://schemas.microsoft.com/office/drawing/2014/main" id="{39F6C5A9-A144-4633-B910-91428DA1AFF7}"/>
              </a:ext>
            </a:extLst>
          </p:cNvPr>
          <p:cNvSpPr>
            <a:spLocks noGrp="1"/>
          </p:cNvSpPr>
          <p:nvPr/>
        </p:nvSpPr>
        <p:spPr>
          <a:xfrm>
            <a:off x="6305550" y="35585400"/>
            <a:ext cx="5905500" cy="95250"/>
          </a:xfrm>
          <a:prstGeom prst="rect">
            <a:avLst/>
          </a:prstGeom>
          <a:solidFill>
            <a:srgbClr val="3975A8"/>
          </a:solidFill>
          <a:ln w="0">
            <a:solidFill>
              <a:srgbClr val="3975A8"/>
            </a:solidFill>
            <a:prstDash val="solid"/>
          </a:ln>
        </p:spPr>
        <p:txBody>
          <a:bodyPr/>
          <a:lstStyle/>
          <a:p>
            <a:endParaRPr sz="2000"/>
          </a:p>
        </p:txBody>
      </p:sp>
      <p:sp>
        <p:nvSpPr>
          <p:cNvPr id="409" name="learn-aoi-title">
            <a:extLst>
              <a:ext uri="{FF2B5EF4-FFF2-40B4-BE49-F238E27FC236}">
                <a16:creationId xmlns:a16="http://schemas.microsoft.com/office/drawing/2014/main" id="{76E03C81-7A97-4AE3-8652-FC46E22062AC}"/>
              </a:ext>
            </a:extLst>
          </p:cNvPr>
          <p:cNvSpPr>
            <a:spLocks noGrp="1"/>
          </p:cNvSpPr>
          <p:nvPr/>
        </p:nvSpPr>
        <p:spPr>
          <a:xfrm>
            <a:off x="6515100" y="35852100"/>
            <a:ext cx="5486400" cy="323850"/>
          </a:xfrm>
          <a:prstGeom prst="rect">
            <a:avLst/>
          </a:prstGeom>
          <a:noFill/>
          <a:ln w="0">
            <a:noFill/>
            <a:prstDash val="solid"/>
          </a:ln>
        </p:spPr>
        <p:txBody>
          <a:bodyPr/>
          <a:lstStyle/>
          <a:p>
            <a:pPr algn="ctr">
              <a:buNone/>
              <a:defRPr sz="2100" b="1">
                <a:solidFill>
                  <a:srgbClr val="3975A8"/>
                </a:solidFill>
                <a:latin typeface="Arial"/>
                <a:ea typeface="Arial"/>
                <a:cs typeface="Arial"/>
              </a:defRPr>
            </a:pPr>
            <a:r>
              <a:rPr sz="2400" b="1">
                <a:solidFill>
                  <a:srgbClr val="3975A8"/>
                </a:solidFill>
                <a:latin typeface="Arial"/>
                <a:ea typeface="Arial"/>
                <a:cs typeface="Arial"/>
              </a:rPr>
              <a:t>Robust AOIs Over Fragile Detail</a:t>
            </a:r>
          </a:p>
        </p:txBody>
      </p:sp>
      <p:sp>
        <p:nvSpPr>
          <p:cNvPr id="410" name="learn-aoi-body">
            <a:extLst>
              <a:ext uri="{FF2B5EF4-FFF2-40B4-BE49-F238E27FC236}">
                <a16:creationId xmlns:a16="http://schemas.microsoft.com/office/drawing/2014/main" id="{EB772EFA-4C38-4C07-A4C1-3FA75095486D}"/>
              </a:ext>
            </a:extLst>
          </p:cNvPr>
          <p:cNvSpPr>
            <a:spLocks noGrp="1"/>
          </p:cNvSpPr>
          <p:nvPr/>
        </p:nvSpPr>
        <p:spPr>
          <a:xfrm>
            <a:off x="6534150" y="36271200"/>
            <a:ext cx="5448300" cy="419100"/>
          </a:xfrm>
          <a:prstGeom prst="rect">
            <a:avLst/>
          </a:prstGeom>
          <a:noFill/>
          <a:ln w="0">
            <a:noFill/>
            <a:prstDash val="solid"/>
          </a:ln>
        </p:spPr>
        <p:txBody>
          <a:bodyPr/>
          <a:lstStyle/>
          <a:p>
            <a:pPr algn="ctr">
              <a:buNone/>
              <a:defRPr sz="1725">
                <a:solidFill>
                  <a:srgbClr val="405372"/>
                </a:solidFill>
                <a:latin typeface="Arial"/>
                <a:ea typeface="Arial"/>
                <a:cs typeface="Arial"/>
              </a:defRPr>
            </a:pPr>
            <a:r>
              <a:rPr>
                <a:solidFill>
                  <a:srgbClr val="405372"/>
                </a:solidFill>
                <a:latin typeface="Arial"/>
                <a:ea typeface="Arial"/>
                <a:cs typeface="Arial"/>
              </a:rPr>
              <a:t>Broader AOI groups made dynamic-video analysis more defensible.</a:t>
            </a:r>
          </a:p>
        </p:txBody>
      </p:sp>
      <p:sp>
        <p:nvSpPr>
          <p:cNvPr id="411" name="learn-gap-box">
            <a:extLst>
              <a:ext uri="{FF2B5EF4-FFF2-40B4-BE49-F238E27FC236}">
                <a16:creationId xmlns:a16="http://schemas.microsoft.com/office/drawing/2014/main" id="{34CEBD5A-E28C-4AB2-BE4A-1ED7E903A1DA}"/>
              </a:ext>
            </a:extLst>
          </p:cNvPr>
          <p:cNvSpPr>
            <a:spLocks noGrp="1"/>
          </p:cNvSpPr>
          <p:nvPr/>
        </p:nvSpPr>
        <p:spPr>
          <a:xfrm>
            <a:off x="12592050" y="35585400"/>
            <a:ext cx="5715000" cy="1314450"/>
          </a:xfrm>
          <a:prstGeom prst="roundRect">
            <a:avLst>
              <a:gd name="adj" fmla="val 4348"/>
            </a:avLst>
          </a:prstGeom>
          <a:solidFill>
            <a:srgbClr val="FFFFFF"/>
          </a:solidFill>
          <a:ln w="19050">
            <a:solidFill>
              <a:srgbClr val="9BB6D3"/>
            </a:solidFill>
            <a:prstDash val="solid"/>
          </a:ln>
        </p:spPr>
        <p:txBody>
          <a:bodyPr/>
          <a:lstStyle/>
          <a:p>
            <a:endParaRPr sz="2000"/>
          </a:p>
        </p:txBody>
      </p:sp>
      <p:sp>
        <p:nvSpPr>
          <p:cNvPr id="412" name="learn-gap-accent">
            <a:extLst>
              <a:ext uri="{FF2B5EF4-FFF2-40B4-BE49-F238E27FC236}">
                <a16:creationId xmlns:a16="http://schemas.microsoft.com/office/drawing/2014/main" id="{62B651BC-FBB1-4959-8A5B-10D3692754ED}"/>
              </a:ext>
            </a:extLst>
          </p:cNvPr>
          <p:cNvSpPr>
            <a:spLocks noGrp="1"/>
          </p:cNvSpPr>
          <p:nvPr/>
        </p:nvSpPr>
        <p:spPr>
          <a:xfrm>
            <a:off x="12592050" y="35585400"/>
            <a:ext cx="5715000" cy="95250"/>
          </a:xfrm>
          <a:prstGeom prst="rect">
            <a:avLst/>
          </a:prstGeom>
          <a:solidFill>
            <a:srgbClr val="F27C38"/>
          </a:solidFill>
          <a:ln w="0">
            <a:solidFill>
              <a:srgbClr val="F27C38"/>
            </a:solidFill>
            <a:prstDash val="solid"/>
          </a:ln>
        </p:spPr>
        <p:txBody>
          <a:bodyPr/>
          <a:lstStyle/>
          <a:p>
            <a:endParaRPr sz="2000"/>
          </a:p>
        </p:txBody>
      </p:sp>
      <p:sp>
        <p:nvSpPr>
          <p:cNvPr id="413" name="learn-gap-title">
            <a:extLst>
              <a:ext uri="{FF2B5EF4-FFF2-40B4-BE49-F238E27FC236}">
                <a16:creationId xmlns:a16="http://schemas.microsoft.com/office/drawing/2014/main" id="{66D2A456-BD10-419A-805A-00BE4CF13A2D}"/>
              </a:ext>
            </a:extLst>
          </p:cNvPr>
          <p:cNvSpPr>
            <a:spLocks noGrp="1"/>
          </p:cNvSpPr>
          <p:nvPr/>
        </p:nvSpPr>
        <p:spPr>
          <a:xfrm>
            <a:off x="12801600" y="35852100"/>
            <a:ext cx="5295900" cy="323850"/>
          </a:xfrm>
          <a:prstGeom prst="rect">
            <a:avLst/>
          </a:prstGeom>
          <a:noFill/>
          <a:ln w="0">
            <a:noFill/>
            <a:prstDash val="solid"/>
          </a:ln>
        </p:spPr>
        <p:txBody>
          <a:bodyPr/>
          <a:lstStyle/>
          <a:p>
            <a:pPr algn="ctr">
              <a:buNone/>
              <a:defRPr sz="2100" b="1">
                <a:solidFill>
                  <a:srgbClr val="F27C38"/>
                </a:solidFill>
                <a:latin typeface="Arial"/>
                <a:ea typeface="Arial"/>
                <a:cs typeface="Arial"/>
              </a:defRPr>
            </a:pPr>
            <a:r>
              <a:rPr sz="2400" b="1">
                <a:solidFill>
                  <a:srgbClr val="F27C38"/>
                </a:solidFill>
                <a:latin typeface="Arial"/>
                <a:ea typeface="Arial"/>
                <a:cs typeface="Arial"/>
              </a:rPr>
              <a:t>Reports Are Not Enough</a:t>
            </a:r>
          </a:p>
        </p:txBody>
      </p:sp>
      <p:sp>
        <p:nvSpPr>
          <p:cNvPr id="414" name="learn-gap-body">
            <a:extLst>
              <a:ext uri="{FF2B5EF4-FFF2-40B4-BE49-F238E27FC236}">
                <a16:creationId xmlns:a16="http://schemas.microsoft.com/office/drawing/2014/main" id="{A85F74D6-7447-4F7C-B1DA-30D136348D15}"/>
              </a:ext>
            </a:extLst>
          </p:cNvPr>
          <p:cNvSpPr>
            <a:spLocks noGrp="1"/>
          </p:cNvSpPr>
          <p:nvPr/>
        </p:nvSpPr>
        <p:spPr>
          <a:xfrm>
            <a:off x="12820650" y="36271200"/>
            <a:ext cx="5257800" cy="419100"/>
          </a:xfrm>
          <a:prstGeom prst="rect">
            <a:avLst/>
          </a:prstGeom>
          <a:noFill/>
          <a:ln w="0">
            <a:noFill/>
            <a:prstDash val="solid"/>
          </a:ln>
        </p:spPr>
        <p:txBody>
          <a:bodyPr/>
          <a:lstStyle/>
          <a:p>
            <a:pPr algn="ctr">
              <a:buNone/>
              <a:defRPr sz="1725">
                <a:solidFill>
                  <a:srgbClr val="405372"/>
                </a:solidFill>
                <a:latin typeface="Arial"/>
                <a:ea typeface="Arial"/>
                <a:cs typeface="Arial"/>
              </a:defRPr>
            </a:pPr>
            <a:r>
              <a:rPr>
                <a:solidFill>
                  <a:srgbClr val="405372"/>
                </a:solidFill>
                <a:latin typeface="Arial"/>
                <a:ea typeface="Arial"/>
                <a:cs typeface="Arial"/>
              </a:rPr>
              <a:t>Self-reported cues had to be checked against actual gaze behavior.</a:t>
            </a:r>
          </a:p>
        </p:txBody>
      </p:sp>
      <p:sp>
        <p:nvSpPr>
          <p:cNvPr id="415" name="discussion-box">
            <a:extLst>
              <a:ext uri="{FF2B5EF4-FFF2-40B4-BE49-F238E27FC236}">
                <a16:creationId xmlns:a16="http://schemas.microsoft.com/office/drawing/2014/main" id="{A2170741-5CA5-4806-B005-42D70CC32FBA}"/>
              </a:ext>
            </a:extLst>
          </p:cNvPr>
          <p:cNvSpPr>
            <a:spLocks noGrp="1"/>
          </p:cNvSpPr>
          <p:nvPr/>
        </p:nvSpPr>
        <p:spPr>
          <a:xfrm>
            <a:off x="19145250" y="35413950"/>
            <a:ext cx="10287000" cy="1657350"/>
          </a:xfrm>
          <a:prstGeom prst="roundRect">
            <a:avLst>
              <a:gd name="adj" fmla="val 3448"/>
            </a:avLst>
          </a:prstGeom>
          <a:solidFill>
            <a:srgbClr val="FFFFFF"/>
          </a:solidFill>
          <a:ln w="19050">
            <a:solidFill>
              <a:srgbClr val="9BB6D3"/>
            </a:solidFill>
            <a:prstDash val="solid"/>
          </a:ln>
        </p:spPr>
        <p:txBody>
          <a:bodyPr/>
          <a:lstStyle/>
          <a:p>
            <a:endParaRPr sz="2000"/>
          </a:p>
        </p:txBody>
      </p:sp>
      <p:sp>
        <p:nvSpPr>
          <p:cNvPr id="416" name="discussion-title">
            <a:extLst>
              <a:ext uri="{FF2B5EF4-FFF2-40B4-BE49-F238E27FC236}">
                <a16:creationId xmlns:a16="http://schemas.microsoft.com/office/drawing/2014/main" id="{EBBB35E2-06A2-4E1C-8F71-DBA57105EA60}"/>
              </a:ext>
            </a:extLst>
          </p:cNvPr>
          <p:cNvSpPr>
            <a:spLocks noGrp="1"/>
          </p:cNvSpPr>
          <p:nvPr/>
        </p:nvSpPr>
        <p:spPr>
          <a:xfrm>
            <a:off x="19431000" y="35623500"/>
            <a:ext cx="9715500" cy="342900"/>
          </a:xfrm>
          <a:prstGeom prst="rect">
            <a:avLst/>
          </a:prstGeom>
          <a:noFill/>
          <a:ln w="0">
            <a:noFill/>
            <a:prstDash val="solid"/>
          </a:ln>
        </p:spPr>
        <p:txBody>
          <a:bodyPr/>
          <a:lstStyle/>
          <a:p>
            <a:pPr algn="ctr">
              <a:buNone/>
              <a:defRPr sz="2250" b="1">
                <a:solidFill>
                  <a:srgbClr val="28235C"/>
                </a:solidFill>
                <a:latin typeface="Arial"/>
                <a:ea typeface="Arial"/>
                <a:cs typeface="Arial"/>
              </a:defRPr>
            </a:pPr>
            <a:r>
              <a:rPr sz="2400" b="1">
                <a:solidFill>
                  <a:srgbClr val="28235C"/>
                </a:solidFill>
                <a:latin typeface="Arial"/>
                <a:ea typeface="Arial"/>
                <a:cs typeface="Arial"/>
              </a:rPr>
              <a:t>Discussion angle for the poster session</a:t>
            </a:r>
          </a:p>
        </p:txBody>
      </p:sp>
      <p:sp>
        <p:nvSpPr>
          <p:cNvPr id="417" name="discussion-body">
            <a:extLst>
              <a:ext uri="{FF2B5EF4-FFF2-40B4-BE49-F238E27FC236}">
                <a16:creationId xmlns:a16="http://schemas.microsoft.com/office/drawing/2014/main" id="{CB22BB69-21FD-4A51-BCD3-65C5B636944E}"/>
              </a:ext>
            </a:extLst>
          </p:cNvPr>
          <p:cNvSpPr>
            <a:spLocks noGrp="1"/>
          </p:cNvSpPr>
          <p:nvPr/>
        </p:nvSpPr>
        <p:spPr>
          <a:xfrm>
            <a:off x="19526250" y="36080700"/>
            <a:ext cx="9525000" cy="704850"/>
          </a:xfrm>
          <a:prstGeom prst="rect">
            <a:avLst/>
          </a:prstGeom>
          <a:noFill/>
          <a:ln w="0">
            <a:noFill/>
            <a:prstDash val="solid"/>
          </a:ln>
        </p:spPr>
        <p:txBody>
          <a:bodyPr/>
          <a:lstStyle/>
          <a:p>
            <a:pPr algn="ctr">
              <a:buNone/>
              <a:defRPr sz="1800">
                <a:solidFill>
                  <a:srgbClr val="405372"/>
                </a:solidFill>
                <a:latin typeface="Arial"/>
                <a:ea typeface="Arial"/>
                <a:cs typeface="Arial"/>
              </a:defRPr>
            </a:pPr>
            <a:r>
              <a:rPr sz="2000">
                <a:solidFill>
                  <a:srgbClr val="405372"/>
                </a:solidFill>
                <a:latin typeface="Arial"/>
                <a:ea typeface="Arial"/>
                <a:cs typeface="Arial"/>
              </a:rPr>
              <a:t>This section shows that the project handled uncertainty explicitly: calibration quality, moving AOIs, and mismatch between what people said they used and where they actually looked.</a:t>
            </a:r>
          </a:p>
        </p:txBody>
      </p:sp>
      <p:sp>
        <p:nvSpPr>
          <p:cNvPr id="418" name="challenge-final-note">
            <a:extLst>
              <a:ext uri="{FF2B5EF4-FFF2-40B4-BE49-F238E27FC236}">
                <a16:creationId xmlns:a16="http://schemas.microsoft.com/office/drawing/2014/main" id="{FEC9FF74-EA46-4DC6-A050-E06E15CC92A1}"/>
              </a:ext>
            </a:extLst>
          </p:cNvPr>
          <p:cNvSpPr>
            <a:spLocks noGrp="1"/>
          </p:cNvSpPr>
          <p:nvPr/>
        </p:nvSpPr>
        <p:spPr>
          <a:xfrm>
            <a:off x="533400" y="37357050"/>
            <a:ext cx="29051250" cy="400050"/>
          </a:xfrm>
          <a:prstGeom prst="rect">
            <a:avLst/>
          </a:prstGeom>
          <a:noFill/>
          <a:ln w="0">
            <a:noFill/>
            <a:prstDash val="solid"/>
          </a:ln>
        </p:spPr>
        <p:txBody>
          <a:bodyPr/>
          <a:lstStyle/>
          <a:p>
            <a:pPr algn="ctr">
              <a:buNone/>
              <a:defRPr sz="2100" b="1">
                <a:solidFill>
                  <a:srgbClr val="28235C"/>
                </a:solidFill>
                <a:latin typeface="Arial"/>
                <a:ea typeface="Arial"/>
                <a:cs typeface="Arial"/>
              </a:defRPr>
            </a:pPr>
            <a:r>
              <a:rPr sz="2400" b="1">
                <a:solidFill>
                  <a:srgbClr val="28235C"/>
                </a:solidFill>
                <a:latin typeface="Arial"/>
                <a:ea typeface="Arial"/>
                <a:cs typeface="Arial"/>
              </a:rPr>
              <a:t>Main takeaway: the project’s value comes from handling uncertainty transparently, not hiding it.</a:t>
            </a:r>
          </a:p>
        </p:txBody>
      </p:sp>
      <p:sp>
        <p:nvSpPr>
          <p:cNvPr id="429" name="rq-section-mask">
            <a:extLst>
              <a:ext uri="{FF2B5EF4-FFF2-40B4-BE49-F238E27FC236}">
                <a16:creationId xmlns:a16="http://schemas.microsoft.com/office/drawing/2014/main" id="{E5CA5C63-061E-4D4D-AFF8-1C4A72BDCE97}"/>
              </a:ext>
            </a:extLst>
          </p:cNvPr>
          <p:cNvSpPr>
            <a:spLocks noGrp="1"/>
          </p:cNvSpPr>
          <p:nvPr/>
        </p:nvSpPr>
        <p:spPr>
          <a:xfrm>
            <a:off x="57150" y="30784800"/>
            <a:ext cx="30289500" cy="7543800"/>
          </a:xfrm>
          <a:prstGeom prst="rect">
            <a:avLst/>
          </a:prstGeom>
          <a:solidFill>
            <a:srgbClr val="EAF3FB"/>
          </a:solidFill>
          <a:ln w="0">
            <a:solidFill>
              <a:srgbClr val="EAF3FB"/>
            </a:solidFill>
            <a:prstDash val="solid"/>
          </a:ln>
        </p:spPr>
        <p:txBody>
          <a:bodyPr/>
          <a:lstStyle/>
          <a:p>
            <a:pPr marL="0" indent="0" algn="l">
              <a:buNone/>
            </a:pPr>
            <a:endParaRPr sz="2000"/>
          </a:p>
        </p:txBody>
      </p:sp>
      <p:sp>
        <p:nvSpPr>
          <p:cNvPr id="430" name="rq-section-box">
            <a:extLst>
              <a:ext uri="{FF2B5EF4-FFF2-40B4-BE49-F238E27FC236}">
                <a16:creationId xmlns:a16="http://schemas.microsoft.com/office/drawing/2014/main" id="{5CD94CBA-7018-43B0-9F74-81E3DC6BA6EE}"/>
              </a:ext>
            </a:extLst>
          </p:cNvPr>
          <p:cNvSpPr>
            <a:spLocks noGrp="1"/>
          </p:cNvSpPr>
          <p:nvPr/>
        </p:nvSpPr>
        <p:spPr>
          <a:xfrm>
            <a:off x="152400" y="30813375"/>
            <a:ext cx="30175200" cy="7524750"/>
          </a:xfrm>
          <a:prstGeom prst="roundRect">
            <a:avLst>
              <a:gd name="adj" fmla="val 759"/>
            </a:avLst>
          </a:prstGeom>
          <a:solidFill>
            <a:srgbClr val="EAF3FB"/>
          </a:solidFill>
          <a:ln w="28575">
            <a:solidFill>
              <a:srgbClr val="28235C"/>
            </a:solidFill>
            <a:prstDash val="solid"/>
          </a:ln>
        </p:spPr>
        <p:txBody>
          <a:bodyPr/>
          <a:lstStyle/>
          <a:p>
            <a:pPr marL="0" indent="0" algn="l">
              <a:buNone/>
            </a:pPr>
            <a:endParaRPr sz="2000"/>
          </a:p>
        </p:txBody>
      </p:sp>
      <p:sp>
        <p:nvSpPr>
          <p:cNvPr id="431" name="rq-section-title">
            <a:extLst>
              <a:ext uri="{FF2B5EF4-FFF2-40B4-BE49-F238E27FC236}">
                <a16:creationId xmlns:a16="http://schemas.microsoft.com/office/drawing/2014/main" id="{A0CFF028-78B4-4BF7-8E75-8F9520CA0F0D}"/>
              </a:ext>
            </a:extLst>
          </p:cNvPr>
          <p:cNvSpPr>
            <a:spLocks noGrp="1"/>
          </p:cNvSpPr>
          <p:nvPr/>
        </p:nvSpPr>
        <p:spPr>
          <a:xfrm>
            <a:off x="419100" y="31022925"/>
            <a:ext cx="29641800" cy="590550"/>
          </a:xfrm>
          <a:prstGeom prst="rect">
            <a:avLst/>
          </a:prstGeom>
          <a:noFill/>
          <a:ln w="0">
            <a:noFill/>
            <a:prstDash val="solid"/>
          </a:ln>
        </p:spPr>
        <p:txBody>
          <a:bodyPr/>
          <a:lstStyle/>
          <a:p>
            <a:pPr>
              <a:buNone/>
              <a:defRPr sz="3450" b="1">
                <a:solidFill>
                  <a:srgbClr val="28235C"/>
                </a:solidFill>
                <a:latin typeface="Arial"/>
                <a:ea typeface="Arial"/>
                <a:cs typeface="Arial"/>
              </a:defRPr>
            </a:pPr>
            <a:r>
              <a:rPr sz="3600" b="1">
                <a:solidFill>
                  <a:srgbClr val="28235C"/>
                </a:solidFill>
                <a:latin typeface="Arial"/>
                <a:ea typeface="Arial"/>
                <a:cs typeface="Arial"/>
              </a:rPr>
              <a:t>RESEARCH QUESTIONS &amp; FINDINGS</a:t>
            </a:r>
          </a:p>
        </p:txBody>
      </p:sp>
      <p:sp>
        <p:nvSpPr>
          <p:cNvPr id="433" name="RQ1-card">
            <a:extLst>
              <a:ext uri="{FF2B5EF4-FFF2-40B4-BE49-F238E27FC236}">
                <a16:creationId xmlns:a16="http://schemas.microsoft.com/office/drawing/2014/main" id="{FC925007-108A-4E7B-ACA0-933A05A86F21}"/>
              </a:ext>
            </a:extLst>
          </p:cNvPr>
          <p:cNvSpPr>
            <a:spLocks noGrp="1"/>
          </p:cNvSpPr>
          <p:nvPr/>
        </p:nvSpPr>
        <p:spPr>
          <a:xfrm>
            <a:off x="533400" y="32146875"/>
            <a:ext cx="9525000" cy="2047875"/>
          </a:xfrm>
          <a:prstGeom prst="roundRect">
            <a:avLst>
              <a:gd name="adj" fmla="val 2791"/>
            </a:avLst>
          </a:prstGeom>
          <a:solidFill>
            <a:srgbClr val="FFFFFF"/>
          </a:solidFill>
          <a:ln w="19050">
            <a:solidFill>
              <a:srgbClr val="9BB6D3"/>
            </a:solidFill>
            <a:prstDash val="solid"/>
          </a:ln>
        </p:spPr>
        <p:txBody>
          <a:bodyPr/>
          <a:lstStyle/>
          <a:p>
            <a:pPr marL="0" indent="0" algn="l">
              <a:buNone/>
            </a:pPr>
            <a:endParaRPr sz="2000"/>
          </a:p>
        </p:txBody>
      </p:sp>
      <p:sp>
        <p:nvSpPr>
          <p:cNvPr id="434" name="RQ1-accent">
            <a:extLst>
              <a:ext uri="{FF2B5EF4-FFF2-40B4-BE49-F238E27FC236}">
                <a16:creationId xmlns:a16="http://schemas.microsoft.com/office/drawing/2014/main" id="{31DB47CA-5DF5-48F3-BEB1-FF2D43EF29BD}"/>
              </a:ext>
            </a:extLst>
          </p:cNvPr>
          <p:cNvSpPr>
            <a:spLocks noGrp="1"/>
          </p:cNvSpPr>
          <p:nvPr/>
        </p:nvSpPr>
        <p:spPr>
          <a:xfrm>
            <a:off x="533400" y="32146875"/>
            <a:ext cx="9525000" cy="114300"/>
          </a:xfrm>
          <a:prstGeom prst="rect">
            <a:avLst/>
          </a:prstGeom>
          <a:solidFill>
            <a:srgbClr val="14A098"/>
          </a:solidFill>
          <a:ln w="0">
            <a:solidFill>
              <a:srgbClr val="14A098"/>
            </a:solidFill>
            <a:prstDash val="solid"/>
          </a:ln>
        </p:spPr>
        <p:txBody>
          <a:bodyPr/>
          <a:lstStyle/>
          <a:p>
            <a:endParaRPr sz="2000"/>
          </a:p>
        </p:txBody>
      </p:sp>
      <p:sp>
        <p:nvSpPr>
          <p:cNvPr id="435" name="RQ1-badge">
            <a:extLst>
              <a:ext uri="{FF2B5EF4-FFF2-40B4-BE49-F238E27FC236}">
                <a16:creationId xmlns:a16="http://schemas.microsoft.com/office/drawing/2014/main" id="{EA9A8D8F-9D58-45B7-AB12-6F9A6E66237D}"/>
              </a:ext>
            </a:extLst>
          </p:cNvPr>
          <p:cNvSpPr>
            <a:spLocks noGrp="1"/>
          </p:cNvSpPr>
          <p:nvPr/>
        </p:nvSpPr>
        <p:spPr>
          <a:xfrm>
            <a:off x="742950" y="32432625"/>
            <a:ext cx="876300" cy="533400"/>
          </a:xfrm>
          <a:prstGeom prst="roundRect">
            <a:avLst>
              <a:gd name="adj" fmla="val 10714"/>
            </a:avLst>
          </a:prstGeom>
          <a:solidFill>
            <a:srgbClr val="14A098"/>
          </a:solidFill>
          <a:ln w="0">
            <a:solidFill>
              <a:srgbClr val="14A098"/>
            </a:solidFill>
            <a:prstDash val="solid"/>
          </a:ln>
        </p:spPr>
        <p:txBody>
          <a:bodyPr/>
          <a:lstStyle/>
          <a:p>
            <a:endParaRPr sz="2000"/>
          </a:p>
        </p:txBody>
      </p:sp>
      <p:sp>
        <p:nvSpPr>
          <p:cNvPr id="436" name="RQ1-badge-text">
            <a:extLst>
              <a:ext uri="{FF2B5EF4-FFF2-40B4-BE49-F238E27FC236}">
                <a16:creationId xmlns:a16="http://schemas.microsoft.com/office/drawing/2014/main" id="{3FE74AD1-422A-46BC-98CF-6CC452DF24F4}"/>
              </a:ext>
            </a:extLst>
          </p:cNvPr>
          <p:cNvSpPr>
            <a:spLocks noGrp="1"/>
          </p:cNvSpPr>
          <p:nvPr/>
        </p:nvSpPr>
        <p:spPr>
          <a:xfrm>
            <a:off x="742950" y="32518350"/>
            <a:ext cx="876300" cy="323850"/>
          </a:xfrm>
          <a:prstGeom prst="rect">
            <a:avLst/>
          </a:prstGeom>
          <a:noFill/>
          <a:ln w="0">
            <a:noFill/>
            <a:prstDash val="solid"/>
          </a:ln>
        </p:spPr>
        <p:txBody>
          <a:bodyPr/>
          <a:lstStyle/>
          <a:p>
            <a:pPr algn="ctr">
              <a:buNone/>
              <a:defRPr sz="2025" b="1">
                <a:solidFill>
                  <a:srgbClr val="FFFFFF"/>
                </a:solidFill>
                <a:latin typeface="Arial"/>
                <a:ea typeface="Arial"/>
                <a:cs typeface="Arial"/>
              </a:defRPr>
            </a:pPr>
            <a:r>
              <a:rPr sz="2400" b="1">
                <a:solidFill>
                  <a:srgbClr val="FFFFFF"/>
                </a:solidFill>
                <a:latin typeface="Arial"/>
                <a:ea typeface="Arial"/>
                <a:cs typeface="Arial"/>
              </a:rPr>
              <a:t>RQ1</a:t>
            </a:r>
          </a:p>
        </p:txBody>
      </p:sp>
      <p:sp>
        <p:nvSpPr>
          <p:cNvPr id="437" name="RQ1-topic">
            <a:extLst>
              <a:ext uri="{FF2B5EF4-FFF2-40B4-BE49-F238E27FC236}">
                <a16:creationId xmlns:a16="http://schemas.microsoft.com/office/drawing/2014/main" id="{7955A7D8-EE72-406D-B8F9-C80D528F3C68}"/>
              </a:ext>
            </a:extLst>
          </p:cNvPr>
          <p:cNvSpPr>
            <a:spLocks noGrp="1"/>
          </p:cNvSpPr>
          <p:nvPr/>
        </p:nvSpPr>
        <p:spPr>
          <a:xfrm>
            <a:off x="1790700" y="32413575"/>
            <a:ext cx="8001000" cy="419100"/>
          </a:xfrm>
          <a:prstGeom prst="rect">
            <a:avLst/>
          </a:prstGeom>
          <a:noFill/>
          <a:ln w="0">
            <a:noFill/>
            <a:prstDash val="solid"/>
          </a:ln>
        </p:spPr>
        <p:txBody>
          <a:bodyPr/>
          <a:lstStyle/>
          <a:p>
            <a:pPr>
              <a:buNone/>
              <a:defRPr sz="2175" b="1">
                <a:solidFill>
                  <a:srgbClr val="28235C"/>
                </a:solidFill>
                <a:latin typeface="Arial"/>
                <a:ea typeface="Arial"/>
                <a:cs typeface="Arial"/>
              </a:defRPr>
            </a:pPr>
            <a:r>
              <a:rPr sz="2400"/>
              <a:t>Which AOIs attract the most visual attention across dog types?</a:t>
            </a:r>
          </a:p>
        </p:txBody>
      </p:sp>
      <p:sp>
        <p:nvSpPr>
          <p:cNvPr id="438" name="RQ1-finding-label">
            <a:extLst>
              <a:ext uri="{FF2B5EF4-FFF2-40B4-BE49-F238E27FC236}">
                <a16:creationId xmlns:a16="http://schemas.microsoft.com/office/drawing/2014/main" id="{4693999E-90A5-4FDD-9505-C20DD1853BB3}"/>
              </a:ext>
            </a:extLst>
          </p:cNvPr>
          <p:cNvSpPr>
            <a:spLocks noGrp="1"/>
          </p:cNvSpPr>
          <p:nvPr/>
        </p:nvSpPr>
        <p:spPr>
          <a:xfrm>
            <a:off x="762000" y="33080325"/>
            <a:ext cx="1524000" cy="266700"/>
          </a:xfrm>
          <a:prstGeom prst="rect">
            <a:avLst/>
          </a:prstGeom>
          <a:noFill/>
          <a:ln w="0">
            <a:noFill/>
            <a:prstDash val="solid"/>
          </a:ln>
        </p:spPr>
        <p:txBody>
          <a:bodyPr/>
          <a:lstStyle/>
          <a:p>
            <a:pPr>
              <a:buNone/>
              <a:defRPr sz="1650" b="1">
                <a:solidFill>
                  <a:srgbClr val="14A098"/>
                </a:solidFill>
                <a:latin typeface="Arial"/>
                <a:ea typeface="Arial"/>
                <a:cs typeface="Arial"/>
              </a:defRPr>
            </a:pPr>
            <a:r>
              <a:rPr b="1">
                <a:solidFill>
                  <a:srgbClr val="14A098"/>
                </a:solidFill>
                <a:latin typeface="Arial"/>
                <a:ea typeface="Arial"/>
                <a:cs typeface="Arial"/>
              </a:rPr>
              <a:t>Finding</a:t>
            </a:r>
          </a:p>
        </p:txBody>
      </p:sp>
      <p:sp>
        <p:nvSpPr>
          <p:cNvPr id="439" name="RQ1-finding">
            <a:extLst>
              <a:ext uri="{FF2B5EF4-FFF2-40B4-BE49-F238E27FC236}">
                <a16:creationId xmlns:a16="http://schemas.microsoft.com/office/drawing/2014/main" id="{1734C890-48B4-4F46-986E-5AF571379957}"/>
              </a:ext>
            </a:extLst>
          </p:cNvPr>
          <p:cNvSpPr>
            <a:spLocks noGrp="1"/>
          </p:cNvSpPr>
          <p:nvPr/>
        </p:nvSpPr>
        <p:spPr>
          <a:xfrm>
            <a:off x="762000" y="33366075"/>
            <a:ext cx="9067800" cy="695325"/>
          </a:xfrm>
          <a:prstGeom prst="rect">
            <a:avLst/>
          </a:prstGeom>
          <a:noFill/>
          <a:ln w="0">
            <a:noFill/>
            <a:prstDash val="solid"/>
          </a:ln>
        </p:spPr>
        <p:txBody>
          <a:bodyPr/>
          <a:lstStyle/>
          <a:p>
            <a:pPr>
              <a:buNone/>
              <a:defRPr sz="1800">
                <a:solidFill>
                  <a:srgbClr val="121426"/>
                </a:solidFill>
                <a:latin typeface="Arial"/>
                <a:ea typeface="Arial"/>
                <a:cs typeface="Arial"/>
              </a:defRPr>
            </a:pPr>
            <a:r>
              <a:rPr sz="2000" dirty="0">
                <a:solidFill>
                  <a:srgbClr val="121426"/>
                </a:solidFill>
                <a:latin typeface="Arial"/>
                <a:ea typeface="Arial"/>
                <a:cs typeface="Arial"/>
              </a:rPr>
              <a:t>Facial AOIs received the most attention, especially </a:t>
            </a:r>
            <a:r>
              <a:rPr sz="2000" dirty="0" err="1">
                <a:solidFill>
                  <a:srgbClr val="121426"/>
                </a:solidFill>
                <a:latin typeface="Arial"/>
                <a:ea typeface="Arial"/>
                <a:cs typeface="Arial"/>
              </a:rPr>
              <a:t>Face_TOP</a:t>
            </a:r>
            <a:r>
              <a:rPr sz="2000" dirty="0">
                <a:solidFill>
                  <a:srgbClr val="121426"/>
                </a:solidFill>
                <a:latin typeface="Arial"/>
                <a:ea typeface="Arial"/>
                <a:cs typeface="Arial"/>
              </a:rPr>
              <a:t>; </a:t>
            </a:r>
            <a:r>
              <a:rPr sz="2000" dirty="0" err="1">
                <a:solidFill>
                  <a:srgbClr val="121426"/>
                </a:solidFill>
                <a:latin typeface="Arial"/>
                <a:ea typeface="Arial"/>
                <a:cs typeface="Arial"/>
              </a:rPr>
              <a:t>Face_BOTTOM</a:t>
            </a:r>
            <a:r>
              <a:rPr sz="2000" dirty="0">
                <a:solidFill>
                  <a:srgbClr val="121426"/>
                </a:solidFill>
                <a:latin typeface="Arial"/>
                <a:ea typeface="Arial"/>
                <a:cs typeface="Arial"/>
              </a:rPr>
              <a:t> and Torso followed, while Tail and Legs were much lower.</a:t>
            </a:r>
          </a:p>
        </p:txBody>
      </p:sp>
      <p:sp>
        <p:nvSpPr>
          <p:cNvPr id="440" name="RQ2-card">
            <a:extLst>
              <a:ext uri="{FF2B5EF4-FFF2-40B4-BE49-F238E27FC236}">
                <a16:creationId xmlns:a16="http://schemas.microsoft.com/office/drawing/2014/main" id="{11E3BA07-E9B4-4645-B65D-D6D090D2EE48}"/>
              </a:ext>
            </a:extLst>
          </p:cNvPr>
          <p:cNvSpPr>
            <a:spLocks noGrp="1"/>
          </p:cNvSpPr>
          <p:nvPr/>
        </p:nvSpPr>
        <p:spPr>
          <a:xfrm>
            <a:off x="10382250" y="32146875"/>
            <a:ext cx="9525000" cy="2047875"/>
          </a:xfrm>
          <a:prstGeom prst="roundRect">
            <a:avLst>
              <a:gd name="adj" fmla="val 2791"/>
            </a:avLst>
          </a:prstGeom>
          <a:solidFill>
            <a:srgbClr val="FFFFFF"/>
          </a:solidFill>
          <a:ln w="19050">
            <a:solidFill>
              <a:srgbClr val="9BB6D3"/>
            </a:solidFill>
            <a:prstDash val="solid"/>
          </a:ln>
        </p:spPr>
        <p:txBody>
          <a:bodyPr/>
          <a:lstStyle/>
          <a:p>
            <a:endParaRPr sz="2000"/>
          </a:p>
        </p:txBody>
      </p:sp>
      <p:sp>
        <p:nvSpPr>
          <p:cNvPr id="441" name="RQ2-accent">
            <a:extLst>
              <a:ext uri="{FF2B5EF4-FFF2-40B4-BE49-F238E27FC236}">
                <a16:creationId xmlns:a16="http://schemas.microsoft.com/office/drawing/2014/main" id="{2148120B-3521-41EE-A2B0-0C0C38B4A7A4}"/>
              </a:ext>
            </a:extLst>
          </p:cNvPr>
          <p:cNvSpPr>
            <a:spLocks noGrp="1"/>
          </p:cNvSpPr>
          <p:nvPr/>
        </p:nvSpPr>
        <p:spPr>
          <a:xfrm>
            <a:off x="10382250" y="32146875"/>
            <a:ext cx="9525000" cy="114300"/>
          </a:xfrm>
          <a:prstGeom prst="rect">
            <a:avLst/>
          </a:prstGeom>
          <a:solidFill>
            <a:srgbClr val="3975A8"/>
          </a:solidFill>
          <a:ln w="0">
            <a:solidFill>
              <a:srgbClr val="3975A8"/>
            </a:solidFill>
            <a:prstDash val="solid"/>
          </a:ln>
        </p:spPr>
        <p:txBody>
          <a:bodyPr/>
          <a:lstStyle/>
          <a:p>
            <a:endParaRPr sz="2000"/>
          </a:p>
        </p:txBody>
      </p:sp>
      <p:sp>
        <p:nvSpPr>
          <p:cNvPr id="442" name="RQ2-badge">
            <a:extLst>
              <a:ext uri="{FF2B5EF4-FFF2-40B4-BE49-F238E27FC236}">
                <a16:creationId xmlns:a16="http://schemas.microsoft.com/office/drawing/2014/main" id="{DA382977-E6F7-461E-BD13-AFC025997D26}"/>
              </a:ext>
            </a:extLst>
          </p:cNvPr>
          <p:cNvSpPr>
            <a:spLocks noGrp="1"/>
          </p:cNvSpPr>
          <p:nvPr/>
        </p:nvSpPr>
        <p:spPr>
          <a:xfrm>
            <a:off x="10591800" y="32432625"/>
            <a:ext cx="876300" cy="533400"/>
          </a:xfrm>
          <a:prstGeom prst="roundRect">
            <a:avLst>
              <a:gd name="adj" fmla="val 10714"/>
            </a:avLst>
          </a:prstGeom>
          <a:solidFill>
            <a:srgbClr val="3975A8"/>
          </a:solidFill>
          <a:ln w="0">
            <a:solidFill>
              <a:srgbClr val="3975A8"/>
            </a:solidFill>
            <a:prstDash val="solid"/>
          </a:ln>
        </p:spPr>
        <p:txBody>
          <a:bodyPr/>
          <a:lstStyle/>
          <a:p>
            <a:endParaRPr sz="2000"/>
          </a:p>
        </p:txBody>
      </p:sp>
      <p:sp>
        <p:nvSpPr>
          <p:cNvPr id="443" name="RQ2-badge-text">
            <a:extLst>
              <a:ext uri="{FF2B5EF4-FFF2-40B4-BE49-F238E27FC236}">
                <a16:creationId xmlns:a16="http://schemas.microsoft.com/office/drawing/2014/main" id="{1E46941D-E7AA-4B19-9A1F-41C3C44118C5}"/>
              </a:ext>
            </a:extLst>
          </p:cNvPr>
          <p:cNvSpPr>
            <a:spLocks noGrp="1"/>
          </p:cNvSpPr>
          <p:nvPr/>
        </p:nvSpPr>
        <p:spPr>
          <a:xfrm>
            <a:off x="10591800" y="32518350"/>
            <a:ext cx="876300" cy="323850"/>
          </a:xfrm>
          <a:prstGeom prst="rect">
            <a:avLst/>
          </a:prstGeom>
          <a:noFill/>
          <a:ln w="0">
            <a:noFill/>
            <a:prstDash val="solid"/>
          </a:ln>
        </p:spPr>
        <p:txBody>
          <a:bodyPr/>
          <a:lstStyle/>
          <a:p>
            <a:pPr algn="ctr">
              <a:buNone/>
              <a:defRPr sz="2025" b="1">
                <a:solidFill>
                  <a:srgbClr val="FFFFFF"/>
                </a:solidFill>
                <a:latin typeface="Arial"/>
                <a:ea typeface="Arial"/>
                <a:cs typeface="Arial"/>
              </a:defRPr>
            </a:pPr>
            <a:r>
              <a:rPr sz="2400" b="1">
                <a:solidFill>
                  <a:srgbClr val="FFFFFF"/>
                </a:solidFill>
                <a:latin typeface="Arial"/>
                <a:ea typeface="Arial"/>
                <a:cs typeface="Arial"/>
              </a:rPr>
              <a:t>RQ2</a:t>
            </a:r>
          </a:p>
        </p:txBody>
      </p:sp>
      <p:sp>
        <p:nvSpPr>
          <p:cNvPr id="444" name="RQ2-topic">
            <a:extLst>
              <a:ext uri="{FF2B5EF4-FFF2-40B4-BE49-F238E27FC236}">
                <a16:creationId xmlns:a16="http://schemas.microsoft.com/office/drawing/2014/main" id="{12E087E4-D514-4BAB-98F5-97C0218C8BE9}"/>
              </a:ext>
            </a:extLst>
          </p:cNvPr>
          <p:cNvSpPr>
            <a:spLocks noGrp="1"/>
          </p:cNvSpPr>
          <p:nvPr/>
        </p:nvSpPr>
        <p:spPr>
          <a:xfrm>
            <a:off x="11639550" y="32413575"/>
            <a:ext cx="8001000" cy="419100"/>
          </a:xfrm>
          <a:prstGeom prst="rect">
            <a:avLst/>
          </a:prstGeom>
          <a:noFill/>
          <a:ln w="0">
            <a:noFill/>
            <a:prstDash val="solid"/>
          </a:ln>
        </p:spPr>
        <p:txBody>
          <a:bodyPr/>
          <a:lstStyle/>
          <a:p>
            <a:pPr>
              <a:buNone/>
              <a:defRPr sz="2175" b="1">
                <a:solidFill>
                  <a:srgbClr val="28235C"/>
                </a:solidFill>
                <a:latin typeface="Arial"/>
                <a:ea typeface="Arial"/>
                <a:cs typeface="Arial"/>
              </a:defRPr>
            </a:pPr>
            <a:r>
              <a:rPr sz="2400"/>
              <a:t>How similar are participants’ gaze sequences across videos and situations?</a:t>
            </a:r>
          </a:p>
        </p:txBody>
      </p:sp>
      <p:sp>
        <p:nvSpPr>
          <p:cNvPr id="445" name="RQ2-finding-label">
            <a:extLst>
              <a:ext uri="{FF2B5EF4-FFF2-40B4-BE49-F238E27FC236}">
                <a16:creationId xmlns:a16="http://schemas.microsoft.com/office/drawing/2014/main" id="{765F9027-8E1C-4DF4-B9B6-3C0E62DBEF1A}"/>
              </a:ext>
            </a:extLst>
          </p:cNvPr>
          <p:cNvSpPr>
            <a:spLocks noGrp="1"/>
          </p:cNvSpPr>
          <p:nvPr/>
        </p:nvSpPr>
        <p:spPr>
          <a:xfrm>
            <a:off x="10610850" y="33080325"/>
            <a:ext cx="1524000" cy="266700"/>
          </a:xfrm>
          <a:prstGeom prst="rect">
            <a:avLst/>
          </a:prstGeom>
          <a:noFill/>
          <a:ln w="0">
            <a:noFill/>
            <a:prstDash val="solid"/>
          </a:ln>
        </p:spPr>
        <p:txBody>
          <a:bodyPr/>
          <a:lstStyle/>
          <a:p>
            <a:pPr>
              <a:buNone/>
              <a:defRPr sz="1650" b="1">
                <a:solidFill>
                  <a:srgbClr val="3975A8"/>
                </a:solidFill>
                <a:latin typeface="Arial"/>
                <a:ea typeface="Arial"/>
                <a:cs typeface="Arial"/>
              </a:defRPr>
            </a:pPr>
            <a:r>
              <a:rPr b="1">
                <a:solidFill>
                  <a:srgbClr val="3975A8"/>
                </a:solidFill>
                <a:latin typeface="Arial"/>
                <a:ea typeface="Arial"/>
                <a:cs typeface="Arial"/>
              </a:rPr>
              <a:t>Finding</a:t>
            </a:r>
          </a:p>
        </p:txBody>
      </p:sp>
      <p:sp>
        <p:nvSpPr>
          <p:cNvPr id="446" name="RQ2-finding">
            <a:extLst>
              <a:ext uri="{FF2B5EF4-FFF2-40B4-BE49-F238E27FC236}">
                <a16:creationId xmlns:a16="http://schemas.microsoft.com/office/drawing/2014/main" id="{D15FB19A-CDF0-4EFC-A832-834AF2233C55}"/>
              </a:ext>
            </a:extLst>
          </p:cNvPr>
          <p:cNvSpPr>
            <a:spLocks noGrp="1"/>
          </p:cNvSpPr>
          <p:nvPr/>
        </p:nvSpPr>
        <p:spPr>
          <a:xfrm>
            <a:off x="10610850" y="33366075"/>
            <a:ext cx="9067800" cy="695325"/>
          </a:xfrm>
          <a:prstGeom prst="rect">
            <a:avLst/>
          </a:prstGeom>
          <a:noFill/>
          <a:ln w="0">
            <a:noFill/>
            <a:prstDash val="solid"/>
          </a:ln>
        </p:spPr>
        <p:txBody>
          <a:bodyPr/>
          <a:lstStyle/>
          <a:p>
            <a:pPr>
              <a:buNone/>
              <a:defRPr sz="1800">
                <a:solidFill>
                  <a:srgbClr val="121426"/>
                </a:solidFill>
                <a:latin typeface="Arial"/>
                <a:ea typeface="Arial"/>
                <a:cs typeface="Arial"/>
              </a:defRPr>
            </a:pPr>
            <a:r>
              <a:rPr sz="2000">
                <a:solidFill>
                  <a:srgbClr val="121426"/>
                </a:solidFill>
                <a:latin typeface="Arial"/>
                <a:ea typeface="Arial"/>
                <a:cs typeface="Arial"/>
              </a:rPr>
              <a:t>Gaze-sequence similarity varied by video. Patterns depended more on movement, situation and cue clarity than dog type alone.</a:t>
            </a:r>
          </a:p>
        </p:txBody>
      </p:sp>
      <p:sp>
        <p:nvSpPr>
          <p:cNvPr id="447" name="RQ3-card">
            <a:extLst>
              <a:ext uri="{FF2B5EF4-FFF2-40B4-BE49-F238E27FC236}">
                <a16:creationId xmlns:a16="http://schemas.microsoft.com/office/drawing/2014/main" id="{40772E7D-D4F9-4465-9579-2916262B1939}"/>
              </a:ext>
            </a:extLst>
          </p:cNvPr>
          <p:cNvSpPr>
            <a:spLocks noGrp="1"/>
          </p:cNvSpPr>
          <p:nvPr/>
        </p:nvSpPr>
        <p:spPr>
          <a:xfrm>
            <a:off x="20231100" y="32146875"/>
            <a:ext cx="9525000" cy="2047875"/>
          </a:xfrm>
          <a:prstGeom prst="roundRect">
            <a:avLst>
              <a:gd name="adj" fmla="val 2791"/>
            </a:avLst>
          </a:prstGeom>
          <a:solidFill>
            <a:srgbClr val="FFFFFF"/>
          </a:solidFill>
          <a:ln w="19050">
            <a:solidFill>
              <a:srgbClr val="9BB6D3"/>
            </a:solidFill>
            <a:prstDash val="solid"/>
          </a:ln>
        </p:spPr>
        <p:txBody>
          <a:bodyPr/>
          <a:lstStyle/>
          <a:p>
            <a:pPr marL="0" indent="0" algn="l">
              <a:buNone/>
            </a:pPr>
            <a:endParaRPr sz="2000"/>
          </a:p>
        </p:txBody>
      </p:sp>
      <p:sp>
        <p:nvSpPr>
          <p:cNvPr id="448" name="RQ3-accent">
            <a:extLst>
              <a:ext uri="{FF2B5EF4-FFF2-40B4-BE49-F238E27FC236}">
                <a16:creationId xmlns:a16="http://schemas.microsoft.com/office/drawing/2014/main" id="{21A51FAC-F1B0-4EA4-8BA8-2A3FC7BD5F24}"/>
              </a:ext>
            </a:extLst>
          </p:cNvPr>
          <p:cNvSpPr>
            <a:spLocks noGrp="1"/>
          </p:cNvSpPr>
          <p:nvPr/>
        </p:nvSpPr>
        <p:spPr>
          <a:xfrm>
            <a:off x="20231100" y="32146875"/>
            <a:ext cx="9525000" cy="114300"/>
          </a:xfrm>
          <a:prstGeom prst="rect">
            <a:avLst/>
          </a:prstGeom>
          <a:solidFill>
            <a:srgbClr val="F27C38"/>
          </a:solidFill>
          <a:ln w="0">
            <a:solidFill>
              <a:srgbClr val="F27C38"/>
            </a:solidFill>
            <a:prstDash val="solid"/>
          </a:ln>
        </p:spPr>
        <p:txBody>
          <a:bodyPr/>
          <a:lstStyle/>
          <a:p>
            <a:endParaRPr sz="2000"/>
          </a:p>
        </p:txBody>
      </p:sp>
      <p:sp>
        <p:nvSpPr>
          <p:cNvPr id="449" name="RQ3-badge">
            <a:extLst>
              <a:ext uri="{FF2B5EF4-FFF2-40B4-BE49-F238E27FC236}">
                <a16:creationId xmlns:a16="http://schemas.microsoft.com/office/drawing/2014/main" id="{9FF4A2D5-3A9C-4EE9-811A-3B6054D7A167}"/>
              </a:ext>
            </a:extLst>
          </p:cNvPr>
          <p:cNvSpPr>
            <a:spLocks noGrp="1"/>
          </p:cNvSpPr>
          <p:nvPr/>
        </p:nvSpPr>
        <p:spPr>
          <a:xfrm>
            <a:off x="20440650" y="32432625"/>
            <a:ext cx="876300" cy="533400"/>
          </a:xfrm>
          <a:prstGeom prst="roundRect">
            <a:avLst>
              <a:gd name="adj" fmla="val 10714"/>
            </a:avLst>
          </a:prstGeom>
          <a:solidFill>
            <a:srgbClr val="F27C38"/>
          </a:solidFill>
          <a:ln w="0">
            <a:solidFill>
              <a:srgbClr val="F27C38"/>
            </a:solidFill>
            <a:prstDash val="solid"/>
          </a:ln>
        </p:spPr>
        <p:txBody>
          <a:bodyPr/>
          <a:lstStyle/>
          <a:p>
            <a:endParaRPr sz="2000"/>
          </a:p>
        </p:txBody>
      </p:sp>
      <p:sp>
        <p:nvSpPr>
          <p:cNvPr id="450" name="RQ3-badge-text">
            <a:extLst>
              <a:ext uri="{FF2B5EF4-FFF2-40B4-BE49-F238E27FC236}">
                <a16:creationId xmlns:a16="http://schemas.microsoft.com/office/drawing/2014/main" id="{B8CBD594-E44D-4543-AF26-143E66C9DDD5}"/>
              </a:ext>
            </a:extLst>
          </p:cNvPr>
          <p:cNvSpPr>
            <a:spLocks noGrp="1"/>
          </p:cNvSpPr>
          <p:nvPr/>
        </p:nvSpPr>
        <p:spPr>
          <a:xfrm>
            <a:off x="20440650" y="32518350"/>
            <a:ext cx="876300" cy="323850"/>
          </a:xfrm>
          <a:prstGeom prst="rect">
            <a:avLst/>
          </a:prstGeom>
          <a:noFill/>
          <a:ln w="0">
            <a:noFill/>
            <a:prstDash val="solid"/>
          </a:ln>
        </p:spPr>
        <p:txBody>
          <a:bodyPr/>
          <a:lstStyle/>
          <a:p>
            <a:pPr algn="ctr">
              <a:buNone/>
              <a:defRPr sz="2025" b="1">
                <a:solidFill>
                  <a:srgbClr val="FFFFFF"/>
                </a:solidFill>
                <a:latin typeface="Arial"/>
                <a:ea typeface="Arial"/>
                <a:cs typeface="Arial"/>
              </a:defRPr>
            </a:pPr>
            <a:r>
              <a:rPr sz="2400" b="1">
                <a:solidFill>
                  <a:srgbClr val="FFFFFF"/>
                </a:solidFill>
                <a:latin typeface="Arial"/>
                <a:ea typeface="Arial"/>
                <a:cs typeface="Arial"/>
              </a:rPr>
              <a:t>RQ3</a:t>
            </a:r>
          </a:p>
        </p:txBody>
      </p:sp>
      <p:sp>
        <p:nvSpPr>
          <p:cNvPr id="451" name="RQ3-topic">
            <a:extLst>
              <a:ext uri="{FF2B5EF4-FFF2-40B4-BE49-F238E27FC236}">
                <a16:creationId xmlns:a16="http://schemas.microsoft.com/office/drawing/2014/main" id="{0A711B0A-EA3C-4AE9-B3DA-083A6B725E9E}"/>
              </a:ext>
            </a:extLst>
          </p:cNvPr>
          <p:cNvSpPr>
            <a:spLocks noGrp="1"/>
          </p:cNvSpPr>
          <p:nvPr/>
        </p:nvSpPr>
        <p:spPr>
          <a:xfrm>
            <a:off x="21488400" y="32413575"/>
            <a:ext cx="8001000" cy="419100"/>
          </a:xfrm>
          <a:prstGeom prst="rect">
            <a:avLst/>
          </a:prstGeom>
          <a:noFill/>
          <a:ln w="0">
            <a:noFill/>
            <a:prstDash val="solid"/>
          </a:ln>
        </p:spPr>
        <p:txBody>
          <a:bodyPr/>
          <a:lstStyle/>
          <a:p>
            <a:pPr>
              <a:buNone/>
              <a:defRPr sz="2175" b="1">
                <a:solidFill>
                  <a:srgbClr val="28235C"/>
                </a:solidFill>
                <a:latin typeface="Arial"/>
                <a:ea typeface="Arial"/>
                <a:cs typeface="Arial"/>
              </a:defRPr>
            </a:pPr>
            <a:r>
              <a:rPr sz="2400"/>
              <a:t>Do gaze patterns differ by dog ownership or gender?</a:t>
            </a:r>
          </a:p>
        </p:txBody>
      </p:sp>
      <p:sp>
        <p:nvSpPr>
          <p:cNvPr id="452" name="RQ3-finding-label">
            <a:extLst>
              <a:ext uri="{FF2B5EF4-FFF2-40B4-BE49-F238E27FC236}">
                <a16:creationId xmlns:a16="http://schemas.microsoft.com/office/drawing/2014/main" id="{F44BD97E-46BC-4CC0-A8A6-BFEEF6477361}"/>
              </a:ext>
            </a:extLst>
          </p:cNvPr>
          <p:cNvSpPr>
            <a:spLocks noGrp="1"/>
          </p:cNvSpPr>
          <p:nvPr/>
        </p:nvSpPr>
        <p:spPr>
          <a:xfrm>
            <a:off x="20459700" y="33080325"/>
            <a:ext cx="1524000" cy="266700"/>
          </a:xfrm>
          <a:prstGeom prst="rect">
            <a:avLst/>
          </a:prstGeom>
          <a:noFill/>
          <a:ln w="0">
            <a:noFill/>
            <a:prstDash val="solid"/>
          </a:ln>
        </p:spPr>
        <p:txBody>
          <a:bodyPr/>
          <a:lstStyle/>
          <a:p>
            <a:pPr>
              <a:buNone/>
              <a:defRPr sz="1650" b="1">
                <a:solidFill>
                  <a:srgbClr val="F27C38"/>
                </a:solidFill>
                <a:latin typeface="Arial"/>
                <a:ea typeface="Arial"/>
                <a:cs typeface="Arial"/>
              </a:defRPr>
            </a:pPr>
            <a:r>
              <a:rPr b="1">
                <a:solidFill>
                  <a:srgbClr val="F27C38"/>
                </a:solidFill>
                <a:latin typeface="Arial"/>
                <a:ea typeface="Arial"/>
                <a:cs typeface="Arial"/>
              </a:rPr>
              <a:t>Finding</a:t>
            </a:r>
          </a:p>
        </p:txBody>
      </p:sp>
      <p:sp>
        <p:nvSpPr>
          <p:cNvPr id="453" name="RQ3-finding">
            <a:extLst>
              <a:ext uri="{FF2B5EF4-FFF2-40B4-BE49-F238E27FC236}">
                <a16:creationId xmlns:a16="http://schemas.microsoft.com/office/drawing/2014/main" id="{A13B23CB-9CA3-471E-8A7A-622A62FD24BD}"/>
              </a:ext>
            </a:extLst>
          </p:cNvPr>
          <p:cNvSpPr>
            <a:spLocks noGrp="1"/>
          </p:cNvSpPr>
          <p:nvPr/>
        </p:nvSpPr>
        <p:spPr>
          <a:xfrm>
            <a:off x="20459700" y="33366075"/>
            <a:ext cx="9067800" cy="695325"/>
          </a:xfrm>
          <a:prstGeom prst="rect">
            <a:avLst/>
          </a:prstGeom>
          <a:noFill/>
          <a:ln w="0">
            <a:noFill/>
            <a:prstDash val="solid"/>
          </a:ln>
        </p:spPr>
        <p:txBody>
          <a:bodyPr/>
          <a:lstStyle/>
          <a:p>
            <a:pPr>
              <a:buNone/>
              <a:defRPr sz="1800">
                <a:solidFill>
                  <a:srgbClr val="121426"/>
                </a:solidFill>
                <a:latin typeface="Arial"/>
                <a:ea typeface="Arial"/>
                <a:cs typeface="Arial"/>
              </a:defRPr>
            </a:pPr>
            <a:r>
              <a:rPr sz="2000">
                <a:solidFill>
                  <a:srgbClr val="121426"/>
                </a:solidFill>
                <a:latin typeface="Arial"/>
                <a:ea typeface="Arial"/>
                <a:cs typeface="Arial"/>
              </a:rPr>
              <a:t>Dog owners and non-owners showed similar gaze transitions; gender comparison remained exploratory because the sample was imbalanced.</a:t>
            </a:r>
          </a:p>
        </p:txBody>
      </p:sp>
      <p:sp>
        <p:nvSpPr>
          <p:cNvPr id="454" name="RQ4-card">
            <a:extLst>
              <a:ext uri="{FF2B5EF4-FFF2-40B4-BE49-F238E27FC236}">
                <a16:creationId xmlns:a16="http://schemas.microsoft.com/office/drawing/2014/main" id="{910847B4-251B-4ECD-9902-9025D5DBEEF4}"/>
              </a:ext>
            </a:extLst>
          </p:cNvPr>
          <p:cNvSpPr>
            <a:spLocks noGrp="1"/>
          </p:cNvSpPr>
          <p:nvPr/>
        </p:nvSpPr>
        <p:spPr>
          <a:xfrm>
            <a:off x="533400" y="34547175"/>
            <a:ext cx="9525000" cy="2047875"/>
          </a:xfrm>
          <a:prstGeom prst="roundRect">
            <a:avLst>
              <a:gd name="adj" fmla="val 2791"/>
            </a:avLst>
          </a:prstGeom>
          <a:solidFill>
            <a:srgbClr val="FFFFFF"/>
          </a:solidFill>
          <a:ln w="19050">
            <a:solidFill>
              <a:srgbClr val="9BB6D3"/>
            </a:solidFill>
            <a:prstDash val="solid"/>
          </a:ln>
        </p:spPr>
        <p:txBody>
          <a:bodyPr/>
          <a:lstStyle/>
          <a:p>
            <a:pPr marL="0" indent="0" algn="l">
              <a:buNone/>
            </a:pPr>
            <a:endParaRPr sz="2000"/>
          </a:p>
        </p:txBody>
      </p:sp>
      <p:sp>
        <p:nvSpPr>
          <p:cNvPr id="455" name="RQ4-accent">
            <a:extLst>
              <a:ext uri="{FF2B5EF4-FFF2-40B4-BE49-F238E27FC236}">
                <a16:creationId xmlns:a16="http://schemas.microsoft.com/office/drawing/2014/main" id="{62216582-2C6E-4218-9955-8156533BB639}"/>
              </a:ext>
            </a:extLst>
          </p:cNvPr>
          <p:cNvSpPr>
            <a:spLocks noGrp="1"/>
          </p:cNvSpPr>
          <p:nvPr/>
        </p:nvSpPr>
        <p:spPr>
          <a:xfrm>
            <a:off x="533400" y="34547175"/>
            <a:ext cx="9525000" cy="114300"/>
          </a:xfrm>
          <a:prstGeom prst="rect">
            <a:avLst/>
          </a:prstGeom>
          <a:solidFill>
            <a:srgbClr val="62A744"/>
          </a:solidFill>
          <a:ln w="0">
            <a:solidFill>
              <a:srgbClr val="62A744"/>
            </a:solidFill>
            <a:prstDash val="solid"/>
          </a:ln>
        </p:spPr>
        <p:txBody>
          <a:bodyPr/>
          <a:lstStyle/>
          <a:p>
            <a:endParaRPr sz="2000"/>
          </a:p>
        </p:txBody>
      </p:sp>
      <p:sp>
        <p:nvSpPr>
          <p:cNvPr id="456" name="RQ4-badge">
            <a:extLst>
              <a:ext uri="{FF2B5EF4-FFF2-40B4-BE49-F238E27FC236}">
                <a16:creationId xmlns:a16="http://schemas.microsoft.com/office/drawing/2014/main" id="{CDB8C949-D8A0-435A-B742-CFC9D9426ED6}"/>
              </a:ext>
            </a:extLst>
          </p:cNvPr>
          <p:cNvSpPr>
            <a:spLocks noGrp="1"/>
          </p:cNvSpPr>
          <p:nvPr/>
        </p:nvSpPr>
        <p:spPr>
          <a:xfrm>
            <a:off x="742950" y="34832925"/>
            <a:ext cx="876300" cy="533400"/>
          </a:xfrm>
          <a:prstGeom prst="roundRect">
            <a:avLst>
              <a:gd name="adj" fmla="val 10714"/>
            </a:avLst>
          </a:prstGeom>
          <a:solidFill>
            <a:srgbClr val="62A744"/>
          </a:solidFill>
          <a:ln w="0">
            <a:solidFill>
              <a:srgbClr val="62A744"/>
            </a:solidFill>
            <a:prstDash val="solid"/>
          </a:ln>
        </p:spPr>
        <p:txBody>
          <a:bodyPr/>
          <a:lstStyle/>
          <a:p>
            <a:endParaRPr sz="2000"/>
          </a:p>
        </p:txBody>
      </p:sp>
      <p:sp>
        <p:nvSpPr>
          <p:cNvPr id="457" name="RQ4-badge-text">
            <a:extLst>
              <a:ext uri="{FF2B5EF4-FFF2-40B4-BE49-F238E27FC236}">
                <a16:creationId xmlns:a16="http://schemas.microsoft.com/office/drawing/2014/main" id="{6249FCC6-1972-47D3-9577-8914A1D61332}"/>
              </a:ext>
            </a:extLst>
          </p:cNvPr>
          <p:cNvSpPr>
            <a:spLocks noGrp="1"/>
          </p:cNvSpPr>
          <p:nvPr/>
        </p:nvSpPr>
        <p:spPr>
          <a:xfrm>
            <a:off x="742950" y="34918650"/>
            <a:ext cx="876300" cy="323850"/>
          </a:xfrm>
          <a:prstGeom prst="rect">
            <a:avLst/>
          </a:prstGeom>
          <a:noFill/>
          <a:ln w="0">
            <a:noFill/>
            <a:prstDash val="solid"/>
          </a:ln>
        </p:spPr>
        <p:txBody>
          <a:bodyPr/>
          <a:lstStyle/>
          <a:p>
            <a:pPr algn="ctr">
              <a:buNone/>
              <a:defRPr sz="2025" b="1">
                <a:solidFill>
                  <a:srgbClr val="FFFFFF"/>
                </a:solidFill>
                <a:latin typeface="Arial"/>
                <a:ea typeface="Arial"/>
                <a:cs typeface="Arial"/>
              </a:defRPr>
            </a:pPr>
            <a:r>
              <a:rPr sz="2400" b="1">
                <a:solidFill>
                  <a:srgbClr val="FFFFFF"/>
                </a:solidFill>
                <a:latin typeface="Arial"/>
                <a:ea typeface="Arial"/>
                <a:cs typeface="Arial"/>
              </a:rPr>
              <a:t>RQ4</a:t>
            </a:r>
          </a:p>
        </p:txBody>
      </p:sp>
      <p:sp>
        <p:nvSpPr>
          <p:cNvPr id="458" name="RQ4-topic">
            <a:extLst>
              <a:ext uri="{FF2B5EF4-FFF2-40B4-BE49-F238E27FC236}">
                <a16:creationId xmlns:a16="http://schemas.microsoft.com/office/drawing/2014/main" id="{F84B1B6B-4E86-4CE0-AB73-5F23D9535188}"/>
              </a:ext>
            </a:extLst>
          </p:cNvPr>
          <p:cNvSpPr>
            <a:spLocks noGrp="1"/>
          </p:cNvSpPr>
          <p:nvPr/>
        </p:nvSpPr>
        <p:spPr>
          <a:xfrm>
            <a:off x="1790700" y="34813875"/>
            <a:ext cx="8001000" cy="419100"/>
          </a:xfrm>
          <a:prstGeom prst="rect">
            <a:avLst/>
          </a:prstGeom>
          <a:noFill/>
          <a:ln w="0">
            <a:noFill/>
            <a:prstDash val="solid"/>
          </a:ln>
        </p:spPr>
        <p:txBody>
          <a:bodyPr/>
          <a:lstStyle/>
          <a:p>
            <a:pPr>
              <a:buNone/>
              <a:defRPr sz="2175" b="1">
                <a:solidFill>
                  <a:srgbClr val="28235C"/>
                </a:solidFill>
                <a:latin typeface="Arial"/>
                <a:ea typeface="Arial"/>
                <a:cs typeface="Arial"/>
              </a:defRPr>
            </a:pPr>
            <a:r>
              <a:rPr sz="2400"/>
              <a:t>Is recognition accuracy related to gaze distribution across AOIs?</a:t>
            </a:r>
          </a:p>
        </p:txBody>
      </p:sp>
      <p:sp>
        <p:nvSpPr>
          <p:cNvPr id="459" name="RQ4-finding-label">
            <a:extLst>
              <a:ext uri="{FF2B5EF4-FFF2-40B4-BE49-F238E27FC236}">
                <a16:creationId xmlns:a16="http://schemas.microsoft.com/office/drawing/2014/main" id="{882ECF21-7955-4F41-9FE3-7551BA220786}"/>
              </a:ext>
            </a:extLst>
          </p:cNvPr>
          <p:cNvSpPr>
            <a:spLocks noGrp="1"/>
          </p:cNvSpPr>
          <p:nvPr/>
        </p:nvSpPr>
        <p:spPr>
          <a:xfrm>
            <a:off x="762000" y="35480625"/>
            <a:ext cx="1524000" cy="266700"/>
          </a:xfrm>
          <a:prstGeom prst="rect">
            <a:avLst/>
          </a:prstGeom>
          <a:noFill/>
          <a:ln w="0">
            <a:noFill/>
            <a:prstDash val="solid"/>
          </a:ln>
        </p:spPr>
        <p:txBody>
          <a:bodyPr/>
          <a:lstStyle/>
          <a:p>
            <a:pPr>
              <a:buNone/>
              <a:defRPr sz="1650" b="1">
                <a:solidFill>
                  <a:srgbClr val="62A744"/>
                </a:solidFill>
                <a:latin typeface="Arial"/>
                <a:ea typeface="Arial"/>
                <a:cs typeface="Arial"/>
              </a:defRPr>
            </a:pPr>
            <a:r>
              <a:rPr b="1">
                <a:solidFill>
                  <a:srgbClr val="62A744"/>
                </a:solidFill>
                <a:latin typeface="Arial"/>
                <a:ea typeface="Arial"/>
                <a:cs typeface="Arial"/>
              </a:rPr>
              <a:t>Finding</a:t>
            </a:r>
          </a:p>
        </p:txBody>
      </p:sp>
      <p:sp>
        <p:nvSpPr>
          <p:cNvPr id="460" name="RQ4-finding">
            <a:extLst>
              <a:ext uri="{FF2B5EF4-FFF2-40B4-BE49-F238E27FC236}">
                <a16:creationId xmlns:a16="http://schemas.microsoft.com/office/drawing/2014/main" id="{096E95D5-353D-4FCB-B4FA-6739CCAA40BC}"/>
              </a:ext>
            </a:extLst>
          </p:cNvPr>
          <p:cNvSpPr>
            <a:spLocks noGrp="1"/>
          </p:cNvSpPr>
          <p:nvPr/>
        </p:nvSpPr>
        <p:spPr>
          <a:xfrm>
            <a:off x="762000" y="35766375"/>
            <a:ext cx="9067800" cy="695325"/>
          </a:xfrm>
          <a:prstGeom prst="rect">
            <a:avLst/>
          </a:prstGeom>
          <a:noFill/>
          <a:ln w="0">
            <a:noFill/>
            <a:prstDash val="solid"/>
          </a:ln>
        </p:spPr>
        <p:txBody>
          <a:bodyPr/>
          <a:lstStyle/>
          <a:p>
            <a:pPr>
              <a:buNone/>
              <a:defRPr sz="1800">
                <a:solidFill>
                  <a:srgbClr val="121426"/>
                </a:solidFill>
                <a:latin typeface="Arial"/>
                <a:ea typeface="Arial"/>
                <a:cs typeface="Arial"/>
              </a:defRPr>
            </a:pPr>
            <a:r>
              <a:rPr sz="2000">
                <a:solidFill>
                  <a:srgbClr val="121426"/>
                </a:solidFill>
                <a:latin typeface="Arial"/>
                <a:ea typeface="Arial"/>
                <a:cs typeface="Arial"/>
              </a:rPr>
              <a:t>Correct situation recognition was not strongly linked to one fixed AOI. Useful cues changed by video and situation.</a:t>
            </a:r>
          </a:p>
        </p:txBody>
      </p:sp>
      <p:sp>
        <p:nvSpPr>
          <p:cNvPr id="461" name="RQ5-card">
            <a:extLst>
              <a:ext uri="{FF2B5EF4-FFF2-40B4-BE49-F238E27FC236}">
                <a16:creationId xmlns:a16="http://schemas.microsoft.com/office/drawing/2014/main" id="{D735E7D4-44E8-44E2-BC98-E12F33EE421B}"/>
              </a:ext>
            </a:extLst>
          </p:cNvPr>
          <p:cNvSpPr>
            <a:spLocks noGrp="1"/>
          </p:cNvSpPr>
          <p:nvPr/>
        </p:nvSpPr>
        <p:spPr>
          <a:xfrm>
            <a:off x="10382250" y="34547175"/>
            <a:ext cx="9525000" cy="2047875"/>
          </a:xfrm>
          <a:prstGeom prst="roundRect">
            <a:avLst>
              <a:gd name="adj" fmla="val 2791"/>
            </a:avLst>
          </a:prstGeom>
          <a:solidFill>
            <a:srgbClr val="FFFFFF"/>
          </a:solidFill>
          <a:ln w="19050">
            <a:solidFill>
              <a:srgbClr val="9BB6D3"/>
            </a:solidFill>
            <a:prstDash val="solid"/>
          </a:ln>
        </p:spPr>
        <p:txBody>
          <a:bodyPr/>
          <a:lstStyle/>
          <a:p>
            <a:pPr marL="0" indent="0" algn="l">
              <a:buNone/>
            </a:pPr>
            <a:endParaRPr sz="2000"/>
          </a:p>
        </p:txBody>
      </p:sp>
      <p:sp>
        <p:nvSpPr>
          <p:cNvPr id="462" name="RQ5-accent">
            <a:extLst>
              <a:ext uri="{FF2B5EF4-FFF2-40B4-BE49-F238E27FC236}">
                <a16:creationId xmlns:a16="http://schemas.microsoft.com/office/drawing/2014/main" id="{E006C4D8-2A55-451A-9713-799BA6F90C86}"/>
              </a:ext>
            </a:extLst>
          </p:cNvPr>
          <p:cNvSpPr>
            <a:spLocks noGrp="1"/>
          </p:cNvSpPr>
          <p:nvPr/>
        </p:nvSpPr>
        <p:spPr>
          <a:xfrm>
            <a:off x="10382250" y="34547175"/>
            <a:ext cx="9525000" cy="114300"/>
          </a:xfrm>
          <a:prstGeom prst="rect">
            <a:avLst/>
          </a:prstGeom>
          <a:solidFill>
            <a:srgbClr val="6E5AA8"/>
          </a:solidFill>
          <a:ln w="0">
            <a:solidFill>
              <a:srgbClr val="6E5AA8"/>
            </a:solidFill>
            <a:prstDash val="solid"/>
          </a:ln>
        </p:spPr>
        <p:txBody>
          <a:bodyPr/>
          <a:lstStyle/>
          <a:p>
            <a:endParaRPr sz="2000"/>
          </a:p>
        </p:txBody>
      </p:sp>
      <p:sp>
        <p:nvSpPr>
          <p:cNvPr id="463" name="RQ5-badge">
            <a:extLst>
              <a:ext uri="{FF2B5EF4-FFF2-40B4-BE49-F238E27FC236}">
                <a16:creationId xmlns:a16="http://schemas.microsoft.com/office/drawing/2014/main" id="{555DF252-A0AE-4925-9534-3D4E71A88930}"/>
              </a:ext>
            </a:extLst>
          </p:cNvPr>
          <p:cNvSpPr>
            <a:spLocks noGrp="1"/>
          </p:cNvSpPr>
          <p:nvPr/>
        </p:nvSpPr>
        <p:spPr>
          <a:xfrm>
            <a:off x="10591800" y="34832925"/>
            <a:ext cx="876300" cy="533400"/>
          </a:xfrm>
          <a:prstGeom prst="roundRect">
            <a:avLst>
              <a:gd name="adj" fmla="val 10714"/>
            </a:avLst>
          </a:prstGeom>
          <a:solidFill>
            <a:srgbClr val="6E5AA8"/>
          </a:solidFill>
          <a:ln w="0">
            <a:solidFill>
              <a:srgbClr val="6E5AA8"/>
            </a:solidFill>
            <a:prstDash val="solid"/>
          </a:ln>
        </p:spPr>
        <p:txBody>
          <a:bodyPr/>
          <a:lstStyle/>
          <a:p>
            <a:endParaRPr sz="2000"/>
          </a:p>
        </p:txBody>
      </p:sp>
      <p:sp>
        <p:nvSpPr>
          <p:cNvPr id="464" name="RQ5-badge-text">
            <a:extLst>
              <a:ext uri="{FF2B5EF4-FFF2-40B4-BE49-F238E27FC236}">
                <a16:creationId xmlns:a16="http://schemas.microsoft.com/office/drawing/2014/main" id="{BB1BA28B-2CC9-4C0A-A3C6-CB874F4507C8}"/>
              </a:ext>
            </a:extLst>
          </p:cNvPr>
          <p:cNvSpPr>
            <a:spLocks noGrp="1"/>
          </p:cNvSpPr>
          <p:nvPr/>
        </p:nvSpPr>
        <p:spPr>
          <a:xfrm>
            <a:off x="10591800" y="34918650"/>
            <a:ext cx="876300" cy="323850"/>
          </a:xfrm>
          <a:prstGeom prst="rect">
            <a:avLst/>
          </a:prstGeom>
          <a:noFill/>
          <a:ln w="0">
            <a:noFill/>
            <a:prstDash val="solid"/>
          </a:ln>
        </p:spPr>
        <p:txBody>
          <a:bodyPr/>
          <a:lstStyle/>
          <a:p>
            <a:pPr algn="ctr">
              <a:buNone/>
              <a:defRPr sz="2025" b="1">
                <a:solidFill>
                  <a:srgbClr val="FFFFFF"/>
                </a:solidFill>
                <a:latin typeface="Arial"/>
                <a:ea typeface="Arial"/>
                <a:cs typeface="Arial"/>
              </a:defRPr>
            </a:pPr>
            <a:r>
              <a:rPr sz="2400" b="1">
                <a:solidFill>
                  <a:srgbClr val="FFFFFF"/>
                </a:solidFill>
                <a:latin typeface="Arial"/>
                <a:ea typeface="Arial"/>
                <a:cs typeface="Arial"/>
              </a:rPr>
              <a:t>RQ5</a:t>
            </a:r>
          </a:p>
        </p:txBody>
      </p:sp>
      <p:sp>
        <p:nvSpPr>
          <p:cNvPr id="465" name="RQ5-topic">
            <a:extLst>
              <a:ext uri="{FF2B5EF4-FFF2-40B4-BE49-F238E27FC236}">
                <a16:creationId xmlns:a16="http://schemas.microsoft.com/office/drawing/2014/main" id="{242338E0-6099-48A4-9473-1CF7647F44BC}"/>
              </a:ext>
            </a:extLst>
          </p:cNvPr>
          <p:cNvSpPr>
            <a:spLocks noGrp="1"/>
          </p:cNvSpPr>
          <p:nvPr/>
        </p:nvSpPr>
        <p:spPr>
          <a:xfrm>
            <a:off x="11639550" y="34813875"/>
            <a:ext cx="8001000" cy="419100"/>
          </a:xfrm>
          <a:prstGeom prst="rect">
            <a:avLst/>
          </a:prstGeom>
          <a:noFill/>
          <a:ln w="0">
            <a:noFill/>
            <a:prstDash val="solid"/>
          </a:ln>
        </p:spPr>
        <p:txBody>
          <a:bodyPr/>
          <a:lstStyle/>
          <a:p>
            <a:pPr>
              <a:buNone/>
              <a:defRPr sz="2175" b="1">
                <a:solidFill>
                  <a:srgbClr val="28235C"/>
                </a:solidFill>
                <a:latin typeface="Arial"/>
                <a:ea typeface="Arial"/>
                <a:cs typeface="Arial"/>
              </a:defRPr>
            </a:pPr>
            <a:r>
              <a:rPr sz="2400"/>
              <a:t>How do dog type and situation affect emotional perception?</a:t>
            </a:r>
          </a:p>
        </p:txBody>
      </p:sp>
      <p:sp>
        <p:nvSpPr>
          <p:cNvPr id="466" name="RQ5-finding-label">
            <a:extLst>
              <a:ext uri="{FF2B5EF4-FFF2-40B4-BE49-F238E27FC236}">
                <a16:creationId xmlns:a16="http://schemas.microsoft.com/office/drawing/2014/main" id="{79186D8F-EE4F-4645-A315-794B70391002}"/>
              </a:ext>
            </a:extLst>
          </p:cNvPr>
          <p:cNvSpPr>
            <a:spLocks noGrp="1"/>
          </p:cNvSpPr>
          <p:nvPr/>
        </p:nvSpPr>
        <p:spPr>
          <a:xfrm>
            <a:off x="10610850" y="35480625"/>
            <a:ext cx="1524000" cy="266700"/>
          </a:xfrm>
          <a:prstGeom prst="rect">
            <a:avLst/>
          </a:prstGeom>
          <a:noFill/>
          <a:ln w="0">
            <a:noFill/>
            <a:prstDash val="solid"/>
          </a:ln>
        </p:spPr>
        <p:txBody>
          <a:bodyPr/>
          <a:lstStyle/>
          <a:p>
            <a:pPr>
              <a:buNone/>
              <a:defRPr sz="1650" b="1">
                <a:solidFill>
                  <a:srgbClr val="6E5AA8"/>
                </a:solidFill>
                <a:latin typeface="Arial"/>
                <a:ea typeface="Arial"/>
                <a:cs typeface="Arial"/>
              </a:defRPr>
            </a:pPr>
            <a:r>
              <a:rPr b="1">
                <a:solidFill>
                  <a:srgbClr val="6E5AA8"/>
                </a:solidFill>
                <a:latin typeface="Arial"/>
                <a:ea typeface="Arial"/>
                <a:cs typeface="Arial"/>
              </a:rPr>
              <a:t>Finding</a:t>
            </a:r>
          </a:p>
        </p:txBody>
      </p:sp>
      <p:sp>
        <p:nvSpPr>
          <p:cNvPr id="467" name="RQ5-finding">
            <a:extLst>
              <a:ext uri="{FF2B5EF4-FFF2-40B4-BE49-F238E27FC236}">
                <a16:creationId xmlns:a16="http://schemas.microsoft.com/office/drawing/2014/main" id="{0B955113-5CB3-4C8F-B204-F9E4568D122C}"/>
              </a:ext>
            </a:extLst>
          </p:cNvPr>
          <p:cNvSpPr>
            <a:spLocks noGrp="1"/>
          </p:cNvSpPr>
          <p:nvPr/>
        </p:nvSpPr>
        <p:spPr>
          <a:xfrm>
            <a:off x="10610850" y="35766375"/>
            <a:ext cx="9067800" cy="695325"/>
          </a:xfrm>
          <a:prstGeom prst="rect">
            <a:avLst/>
          </a:prstGeom>
          <a:noFill/>
          <a:ln w="0">
            <a:noFill/>
            <a:prstDash val="solid"/>
          </a:ln>
        </p:spPr>
        <p:txBody>
          <a:bodyPr/>
          <a:lstStyle/>
          <a:p>
            <a:pPr>
              <a:buNone/>
              <a:defRPr sz="1800">
                <a:solidFill>
                  <a:srgbClr val="121426"/>
                </a:solidFill>
                <a:latin typeface="Arial"/>
                <a:ea typeface="Arial"/>
                <a:cs typeface="Arial"/>
              </a:defRPr>
            </a:pPr>
            <a:r>
              <a:rPr sz="2000">
                <a:solidFill>
                  <a:srgbClr val="121426"/>
                </a:solidFill>
                <a:latin typeface="Arial"/>
                <a:ea typeface="Arial"/>
                <a:cs typeface="Arial"/>
              </a:rPr>
              <a:t>Perceived emotion depended on the combination of dog type, situation, movement and video-specific visual cues.</a:t>
            </a:r>
          </a:p>
        </p:txBody>
      </p:sp>
      <p:sp>
        <p:nvSpPr>
          <p:cNvPr id="468" name="RQ6-card">
            <a:extLst>
              <a:ext uri="{FF2B5EF4-FFF2-40B4-BE49-F238E27FC236}">
                <a16:creationId xmlns:a16="http://schemas.microsoft.com/office/drawing/2014/main" id="{C184FA9A-B421-4360-BBBC-4E0FDA1ABD7D}"/>
              </a:ext>
            </a:extLst>
          </p:cNvPr>
          <p:cNvSpPr>
            <a:spLocks noGrp="1"/>
          </p:cNvSpPr>
          <p:nvPr/>
        </p:nvSpPr>
        <p:spPr>
          <a:xfrm>
            <a:off x="20231100" y="34547175"/>
            <a:ext cx="9525000" cy="2047875"/>
          </a:xfrm>
          <a:prstGeom prst="roundRect">
            <a:avLst>
              <a:gd name="adj" fmla="val 2791"/>
            </a:avLst>
          </a:prstGeom>
          <a:solidFill>
            <a:srgbClr val="FFFFFF"/>
          </a:solidFill>
          <a:ln w="19050">
            <a:solidFill>
              <a:srgbClr val="9BB6D3"/>
            </a:solidFill>
            <a:prstDash val="solid"/>
          </a:ln>
        </p:spPr>
        <p:txBody>
          <a:bodyPr/>
          <a:lstStyle/>
          <a:p>
            <a:pPr marL="0" indent="0" algn="l">
              <a:buNone/>
            </a:pPr>
            <a:endParaRPr sz="2000"/>
          </a:p>
        </p:txBody>
      </p:sp>
      <p:sp>
        <p:nvSpPr>
          <p:cNvPr id="469" name="RQ6-accent">
            <a:extLst>
              <a:ext uri="{FF2B5EF4-FFF2-40B4-BE49-F238E27FC236}">
                <a16:creationId xmlns:a16="http://schemas.microsoft.com/office/drawing/2014/main" id="{D1D0973D-6A5B-4DC3-8034-7E7747DA42A3}"/>
              </a:ext>
            </a:extLst>
          </p:cNvPr>
          <p:cNvSpPr>
            <a:spLocks noGrp="1"/>
          </p:cNvSpPr>
          <p:nvPr/>
        </p:nvSpPr>
        <p:spPr>
          <a:xfrm>
            <a:off x="20231100" y="34547175"/>
            <a:ext cx="9525000" cy="114300"/>
          </a:xfrm>
          <a:prstGeom prst="rect">
            <a:avLst/>
          </a:prstGeom>
          <a:solidFill>
            <a:srgbClr val="D84D4D"/>
          </a:solidFill>
          <a:ln w="0">
            <a:solidFill>
              <a:srgbClr val="D84D4D"/>
            </a:solidFill>
            <a:prstDash val="solid"/>
          </a:ln>
        </p:spPr>
        <p:txBody>
          <a:bodyPr/>
          <a:lstStyle/>
          <a:p>
            <a:endParaRPr sz="2000"/>
          </a:p>
        </p:txBody>
      </p:sp>
      <p:sp>
        <p:nvSpPr>
          <p:cNvPr id="470" name="RQ6-badge">
            <a:extLst>
              <a:ext uri="{FF2B5EF4-FFF2-40B4-BE49-F238E27FC236}">
                <a16:creationId xmlns:a16="http://schemas.microsoft.com/office/drawing/2014/main" id="{7479CEE5-6821-4971-99B4-20E0E7EAAB08}"/>
              </a:ext>
            </a:extLst>
          </p:cNvPr>
          <p:cNvSpPr>
            <a:spLocks noGrp="1"/>
          </p:cNvSpPr>
          <p:nvPr/>
        </p:nvSpPr>
        <p:spPr>
          <a:xfrm>
            <a:off x="20440650" y="34832925"/>
            <a:ext cx="876300" cy="533400"/>
          </a:xfrm>
          <a:prstGeom prst="roundRect">
            <a:avLst>
              <a:gd name="adj" fmla="val 10714"/>
            </a:avLst>
          </a:prstGeom>
          <a:solidFill>
            <a:srgbClr val="D84D4D"/>
          </a:solidFill>
          <a:ln w="0">
            <a:solidFill>
              <a:srgbClr val="D84D4D"/>
            </a:solidFill>
            <a:prstDash val="solid"/>
          </a:ln>
        </p:spPr>
        <p:txBody>
          <a:bodyPr/>
          <a:lstStyle/>
          <a:p>
            <a:endParaRPr sz="2000"/>
          </a:p>
        </p:txBody>
      </p:sp>
      <p:sp>
        <p:nvSpPr>
          <p:cNvPr id="471" name="RQ6-badge-text">
            <a:extLst>
              <a:ext uri="{FF2B5EF4-FFF2-40B4-BE49-F238E27FC236}">
                <a16:creationId xmlns:a16="http://schemas.microsoft.com/office/drawing/2014/main" id="{F2EAEDCA-74A9-4A93-A694-431F538C0F07}"/>
              </a:ext>
            </a:extLst>
          </p:cNvPr>
          <p:cNvSpPr>
            <a:spLocks noGrp="1"/>
          </p:cNvSpPr>
          <p:nvPr/>
        </p:nvSpPr>
        <p:spPr>
          <a:xfrm>
            <a:off x="20440650" y="34918650"/>
            <a:ext cx="876300" cy="323850"/>
          </a:xfrm>
          <a:prstGeom prst="rect">
            <a:avLst/>
          </a:prstGeom>
          <a:noFill/>
          <a:ln w="0">
            <a:noFill/>
            <a:prstDash val="solid"/>
          </a:ln>
        </p:spPr>
        <p:txBody>
          <a:bodyPr/>
          <a:lstStyle/>
          <a:p>
            <a:pPr algn="ctr">
              <a:buNone/>
              <a:defRPr sz="2025" b="1">
                <a:solidFill>
                  <a:srgbClr val="FFFFFF"/>
                </a:solidFill>
                <a:latin typeface="Arial"/>
                <a:ea typeface="Arial"/>
                <a:cs typeface="Arial"/>
              </a:defRPr>
            </a:pPr>
            <a:r>
              <a:rPr sz="2400" b="1">
                <a:solidFill>
                  <a:srgbClr val="FFFFFF"/>
                </a:solidFill>
                <a:latin typeface="Arial"/>
                <a:ea typeface="Arial"/>
                <a:cs typeface="Arial"/>
              </a:rPr>
              <a:t>RQ6</a:t>
            </a:r>
          </a:p>
        </p:txBody>
      </p:sp>
      <p:sp>
        <p:nvSpPr>
          <p:cNvPr id="472" name="RQ6-topic">
            <a:extLst>
              <a:ext uri="{FF2B5EF4-FFF2-40B4-BE49-F238E27FC236}">
                <a16:creationId xmlns:a16="http://schemas.microsoft.com/office/drawing/2014/main" id="{787FE7AC-413A-4457-AE76-8B697E54B30E}"/>
              </a:ext>
            </a:extLst>
          </p:cNvPr>
          <p:cNvSpPr>
            <a:spLocks noGrp="1"/>
          </p:cNvSpPr>
          <p:nvPr/>
        </p:nvSpPr>
        <p:spPr>
          <a:xfrm>
            <a:off x="21488400" y="34813875"/>
            <a:ext cx="8001000" cy="419100"/>
          </a:xfrm>
          <a:prstGeom prst="rect">
            <a:avLst/>
          </a:prstGeom>
          <a:noFill/>
          <a:ln w="0">
            <a:noFill/>
            <a:prstDash val="solid"/>
          </a:ln>
        </p:spPr>
        <p:txBody>
          <a:bodyPr/>
          <a:lstStyle/>
          <a:p>
            <a:pPr>
              <a:buNone/>
              <a:defRPr sz="2175" b="1">
                <a:solidFill>
                  <a:srgbClr val="28235C"/>
                </a:solidFill>
                <a:latin typeface="Arial"/>
                <a:ea typeface="Arial"/>
                <a:cs typeface="Arial"/>
              </a:defRPr>
            </a:pPr>
            <a:r>
              <a:rPr sz="2400"/>
              <a:t>Do self-reported visual cues match actual gaze behavior?</a:t>
            </a:r>
          </a:p>
        </p:txBody>
      </p:sp>
      <p:sp>
        <p:nvSpPr>
          <p:cNvPr id="473" name="RQ6-finding-label">
            <a:extLst>
              <a:ext uri="{FF2B5EF4-FFF2-40B4-BE49-F238E27FC236}">
                <a16:creationId xmlns:a16="http://schemas.microsoft.com/office/drawing/2014/main" id="{7C9284F5-5E4E-4B75-A7CD-DD673786D7C5}"/>
              </a:ext>
            </a:extLst>
          </p:cNvPr>
          <p:cNvSpPr>
            <a:spLocks noGrp="1"/>
          </p:cNvSpPr>
          <p:nvPr/>
        </p:nvSpPr>
        <p:spPr>
          <a:xfrm>
            <a:off x="20459700" y="35480625"/>
            <a:ext cx="1524000" cy="266700"/>
          </a:xfrm>
          <a:prstGeom prst="rect">
            <a:avLst/>
          </a:prstGeom>
          <a:noFill/>
          <a:ln w="0">
            <a:noFill/>
            <a:prstDash val="solid"/>
          </a:ln>
        </p:spPr>
        <p:txBody>
          <a:bodyPr/>
          <a:lstStyle/>
          <a:p>
            <a:pPr>
              <a:buNone/>
              <a:defRPr sz="1650" b="1">
                <a:solidFill>
                  <a:srgbClr val="D84D4D"/>
                </a:solidFill>
                <a:latin typeface="Arial"/>
                <a:ea typeface="Arial"/>
                <a:cs typeface="Arial"/>
              </a:defRPr>
            </a:pPr>
            <a:r>
              <a:rPr b="1">
                <a:solidFill>
                  <a:srgbClr val="D84D4D"/>
                </a:solidFill>
                <a:latin typeface="Arial"/>
                <a:ea typeface="Arial"/>
                <a:cs typeface="Arial"/>
              </a:rPr>
              <a:t>Finding</a:t>
            </a:r>
          </a:p>
        </p:txBody>
      </p:sp>
      <p:sp>
        <p:nvSpPr>
          <p:cNvPr id="474" name="RQ6-finding">
            <a:extLst>
              <a:ext uri="{FF2B5EF4-FFF2-40B4-BE49-F238E27FC236}">
                <a16:creationId xmlns:a16="http://schemas.microsoft.com/office/drawing/2014/main" id="{649606B8-A1D5-4003-8EF3-436565219E0A}"/>
              </a:ext>
            </a:extLst>
          </p:cNvPr>
          <p:cNvSpPr>
            <a:spLocks noGrp="1"/>
          </p:cNvSpPr>
          <p:nvPr/>
        </p:nvSpPr>
        <p:spPr>
          <a:xfrm>
            <a:off x="20459700" y="35766375"/>
            <a:ext cx="9067800" cy="695325"/>
          </a:xfrm>
          <a:prstGeom prst="rect">
            <a:avLst/>
          </a:prstGeom>
          <a:noFill/>
          <a:ln w="0">
            <a:noFill/>
            <a:prstDash val="solid"/>
          </a:ln>
        </p:spPr>
        <p:txBody>
          <a:bodyPr/>
          <a:lstStyle/>
          <a:p>
            <a:pPr>
              <a:buNone/>
              <a:defRPr sz="1800">
                <a:solidFill>
                  <a:srgbClr val="121426"/>
                </a:solidFill>
                <a:latin typeface="Arial"/>
                <a:ea typeface="Arial"/>
                <a:cs typeface="Arial"/>
              </a:defRPr>
            </a:pPr>
            <a:r>
              <a:rPr sz="2000">
                <a:solidFill>
                  <a:srgbClr val="121426"/>
                </a:solidFill>
                <a:latin typeface="Arial"/>
                <a:ea typeface="Arial"/>
                <a:cs typeface="Arial"/>
              </a:rPr>
              <a:t>Self-reported informative cues did not fully match gaze behavior: participants reported body cues, but fixations stayed mostly on facial regions.</a:t>
            </a:r>
          </a:p>
        </p:txBody>
      </p:sp>
      <p:sp>
        <p:nvSpPr>
          <p:cNvPr id="485" name="rq-challenges-mask">
            <a:extLst>
              <a:ext uri="{FF2B5EF4-FFF2-40B4-BE49-F238E27FC236}">
                <a16:creationId xmlns:a16="http://schemas.microsoft.com/office/drawing/2014/main" id="{0BFF012C-FBEB-4FD2-B6CA-2C175E8D1D82}"/>
              </a:ext>
            </a:extLst>
          </p:cNvPr>
          <p:cNvSpPr>
            <a:spLocks noGrp="1"/>
          </p:cNvSpPr>
          <p:nvPr/>
        </p:nvSpPr>
        <p:spPr>
          <a:xfrm>
            <a:off x="57150" y="30784800"/>
            <a:ext cx="30289500" cy="7543800"/>
          </a:xfrm>
          <a:prstGeom prst="rect">
            <a:avLst/>
          </a:prstGeom>
          <a:solidFill>
            <a:srgbClr val="EAF3FB"/>
          </a:solidFill>
          <a:ln w="0">
            <a:solidFill>
              <a:srgbClr val="EAF3FB"/>
            </a:solidFill>
            <a:prstDash val="solid"/>
          </a:ln>
        </p:spPr>
        <p:txBody>
          <a:bodyPr/>
          <a:lstStyle/>
          <a:p>
            <a:pPr marL="0" indent="0" algn="l">
              <a:buNone/>
            </a:pPr>
            <a:endParaRPr sz="2000"/>
          </a:p>
        </p:txBody>
      </p:sp>
      <p:sp>
        <p:nvSpPr>
          <p:cNvPr id="486" name="rq-challenges-section-box">
            <a:extLst>
              <a:ext uri="{FF2B5EF4-FFF2-40B4-BE49-F238E27FC236}">
                <a16:creationId xmlns:a16="http://schemas.microsoft.com/office/drawing/2014/main" id="{5A851B8C-F65D-4258-8D8D-D8ED28F0370C}"/>
              </a:ext>
            </a:extLst>
          </p:cNvPr>
          <p:cNvSpPr>
            <a:spLocks noGrp="1"/>
          </p:cNvSpPr>
          <p:nvPr/>
        </p:nvSpPr>
        <p:spPr>
          <a:xfrm>
            <a:off x="152400" y="30813375"/>
            <a:ext cx="30175200" cy="7524750"/>
          </a:xfrm>
          <a:prstGeom prst="roundRect">
            <a:avLst>
              <a:gd name="adj" fmla="val 759"/>
            </a:avLst>
          </a:prstGeom>
          <a:solidFill>
            <a:srgbClr val="EAF3FB"/>
          </a:solidFill>
          <a:ln w="28575">
            <a:solidFill>
              <a:srgbClr val="28235C"/>
            </a:solidFill>
            <a:prstDash val="solid"/>
          </a:ln>
        </p:spPr>
        <p:txBody>
          <a:bodyPr/>
          <a:lstStyle/>
          <a:p>
            <a:pPr marL="0" indent="0" algn="l">
              <a:buNone/>
            </a:pPr>
            <a:endParaRPr sz="2000"/>
          </a:p>
        </p:txBody>
      </p:sp>
      <p:sp>
        <p:nvSpPr>
          <p:cNvPr id="487" name="rq-challenges-title">
            <a:extLst>
              <a:ext uri="{FF2B5EF4-FFF2-40B4-BE49-F238E27FC236}">
                <a16:creationId xmlns:a16="http://schemas.microsoft.com/office/drawing/2014/main" id="{6A4334B0-FB36-4996-9644-A0E232B71696}"/>
              </a:ext>
            </a:extLst>
          </p:cNvPr>
          <p:cNvSpPr>
            <a:spLocks noGrp="1"/>
          </p:cNvSpPr>
          <p:nvPr/>
        </p:nvSpPr>
        <p:spPr>
          <a:xfrm>
            <a:off x="419100" y="31022925"/>
            <a:ext cx="29641800" cy="590550"/>
          </a:xfrm>
          <a:prstGeom prst="rect">
            <a:avLst/>
          </a:prstGeom>
          <a:noFill/>
          <a:ln w="0">
            <a:noFill/>
            <a:prstDash val="solid"/>
          </a:ln>
        </p:spPr>
        <p:txBody>
          <a:bodyPr/>
          <a:lstStyle/>
          <a:p>
            <a:pPr>
              <a:buNone/>
              <a:defRPr sz="3450" b="1">
                <a:solidFill>
                  <a:srgbClr val="28235C"/>
                </a:solidFill>
                <a:latin typeface="Arial"/>
                <a:ea typeface="Arial"/>
                <a:cs typeface="Arial"/>
              </a:defRPr>
            </a:pPr>
            <a:r>
              <a:rPr sz="3600" b="1">
                <a:solidFill>
                  <a:srgbClr val="28235C"/>
                </a:solidFill>
                <a:latin typeface="Arial"/>
                <a:ea typeface="Arial"/>
                <a:cs typeface="Arial"/>
              </a:rPr>
              <a:t>RESEARCH QUESTIONS, FINDINGS &amp; CHALLENGES</a:t>
            </a:r>
          </a:p>
        </p:txBody>
      </p:sp>
      <p:sp>
        <p:nvSpPr>
          <p:cNvPr id="488" name="rq-challenges-subtitle">
            <a:extLst>
              <a:ext uri="{FF2B5EF4-FFF2-40B4-BE49-F238E27FC236}">
                <a16:creationId xmlns:a16="http://schemas.microsoft.com/office/drawing/2014/main" id="{013A6BD7-D419-4A1E-9204-0DE44178A247}"/>
              </a:ext>
            </a:extLst>
          </p:cNvPr>
          <p:cNvSpPr>
            <a:spLocks noGrp="1"/>
          </p:cNvSpPr>
          <p:nvPr/>
        </p:nvSpPr>
        <p:spPr>
          <a:xfrm>
            <a:off x="533400" y="31603950"/>
            <a:ext cx="28575000" cy="361950"/>
          </a:xfrm>
          <a:prstGeom prst="rect">
            <a:avLst/>
          </a:prstGeom>
          <a:noFill/>
          <a:ln w="0">
            <a:noFill/>
            <a:prstDash val="solid"/>
          </a:ln>
        </p:spPr>
        <p:txBody>
          <a:bodyPr/>
          <a:lstStyle/>
          <a:p>
            <a:pPr>
              <a:buNone/>
              <a:defRPr sz="1950">
                <a:solidFill>
                  <a:srgbClr val="405372"/>
                </a:solidFill>
                <a:latin typeface="Arial"/>
                <a:ea typeface="Arial"/>
                <a:cs typeface="Arial"/>
              </a:defRPr>
            </a:pPr>
            <a:r>
              <a:rPr sz="2000">
                <a:solidFill>
                  <a:srgbClr val="405372"/>
                </a:solidFill>
                <a:latin typeface="Arial"/>
                <a:ea typeface="Arial"/>
                <a:cs typeface="Arial"/>
              </a:rPr>
              <a:t>Section 5 answers the research questions; the challenge panel highlights limitations that affected interpretation.</a:t>
            </a:r>
          </a:p>
        </p:txBody>
      </p:sp>
      <p:sp>
        <p:nvSpPr>
          <p:cNvPr id="489" name="RQ1-row">
            <a:extLst>
              <a:ext uri="{FF2B5EF4-FFF2-40B4-BE49-F238E27FC236}">
                <a16:creationId xmlns:a16="http://schemas.microsoft.com/office/drawing/2014/main" id="{3C172D4C-21C3-4005-8588-DE0CD64D2D8C}"/>
              </a:ext>
            </a:extLst>
          </p:cNvPr>
          <p:cNvSpPr>
            <a:spLocks noGrp="1"/>
          </p:cNvSpPr>
          <p:nvPr/>
        </p:nvSpPr>
        <p:spPr>
          <a:xfrm>
            <a:off x="533400" y="32137350"/>
            <a:ext cx="7543800" cy="1352550"/>
          </a:xfrm>
          <a:prstGeom prst="roundRect">
            <a:avLst>
              <a:gd name="adj" fmla="val 4225"/>
            </a:avLst>
          </a:prstGeom>
          <a:solidFill>
            <a:srgbClr val="FFFFFF"/>
          </a:solidFill>
          <a:ln w="19050">
            <a:solidFill>
              <a:srgbClr val="9BB6D3"/>
            </a:solidFill>
            <a:prstDash val="solid"/>
          </a:ln>
        </p:spPr>
        <p:txBody>
          <a:bodyPr/>
          <a:lstStyle/>
          <a:p>
            <a:endParaRPr sz="2000"/>
          </a:p>
        </p:txBody>
      </p:sp>
      <p:sp>
        <p:nvSpPr>
          <p:cNvPr id="490" name="RQ1-accent">
            <a:extLst>
              <a:ext uri="{FF2B5EF4-FFF2-40B4-BE49-F238E27FC236}">
                <a16:creationId xmlns:a16="http://schemas.microsoft.com/office/drawing/2014/main" id="{F136F1BD-BA8F-4233-82A5-317881067A6F}"/>
              </a:ext>
            </a:extLst>
          </p:cNvPr>
          <p:cNvSpPr>
            <a:spLocks noGrp="1"/>
          </p:cNvSpPr>
          <p:nvPr/>
        </p:nvSpPr>
        <p:spPr>
          <a:xfrm>
            <a:off x="533400" y="32137350"/>
            <a:ext cx="114300" cy="1352550"/>
          </a:xfrm>
          <a:prstGeom prst="rect">
            <a:avLst/>
          </a:prstGeom>
          <a:solidFill>
            <a:srgbClr val="14A098"/>
          </a:solidFill>
          <a:ln w="0">
            <a:solidFill>
              <a:srgbClr val="14A098"/>
            </a:solidFill>
            <a:prstDash val="solid"/>
          </a:ln>
        </p:spPr>
        <p:txBody>
          <a:bodyPr/>
          <a:lstStyle/>
          <a:p>
            <a:endParaRPr sz="2000"/>
          </a:p>
        </p:txBody>
      </p:sp>
      <p:sp>
        <p:nvSpPr>
          <p:cNvPr id="491" name="RQ1-badge">
            <a:extLst>
              <a:ext uri="{FF2B5EF4-FFF2-40B4-BE49-F238E27FC236}">
                <a16:creationId xmlns:a16="http://schemas.microsoft.com/office/drawing/2014/main" id="{A68CDD3E-34D1-47C3-820C-E0C40882E16A}"/>
              </a:ext>
            </a:extLst>
          </p:cNvPr>
          <p:cNvSpPr>
            <a:spLocks noGrp="1"/>
          </p:cNvSpPr>
          <p:nvPr/>
        </p:nvSpPr>
        <p:spPr>
          <a:xfrm>
            <a:off x="781050" y="32346900"/>
            <a:ext cx="742950" cy="457200"/>
          </a:xfrm>
          <a:prstGeom prst="roundRect">
            <a:avLst>
              <a:gd name="adj" fmla="val 12500"/>
            </a:avLst>
          </a:prstGeom>
          <a:solidFill>
            <a:srgbClr val="14A098"/>
          </a:solidFill>
          <a:ln w="0">
            <a:solidFill>
              <a:srgbClr val="14A098"/>
            </a:solidFill>
            <a:prstDash val="solid"/>
          </a:ln>
        </p:spPr>
        <p:txBody>
          <a:bodyPr/>
          <a:lstStyle/>
          <a:p>
            <a:endParaRPr sz="2000"/>
          </a:p>
        </p:txBody>
      </p:sp>
      <p:sp>
        <p:nvSpPr>
          <p:cNvPr id="492" name="RQ1-badge-text">
            <a:extLst>
              <a:ext uri="{FF2B5EF4-FFF2-40B4-BE49-F238E27FC236}">
                <a16:creationId xmlns:a16="http://schemas.microsoft.com/office/drawing/2014/main" id="{B48A8D71-BC25-44B7-ABD4-17301DB24208}"/>
              </a:ext>
            </a:extLst>
          </p:cNvPr>
          <p:cNvSpPr>
            <a:spLocks noGrp="1"/>
          </p:cNvSpPr>
          <p:nvPr/>
        </p:nvSpPr>
        <p:spPr>
          <a:xfrm>
            <a:off x="781050" y="32423100"/>
            <a:ext cx="742950" cy="285750"/>
          </a:xfrm>
          <a:prstGeom prst="rect">
            <a:avLst/>
          </a:prstGeom>
          <a:noFill/>
          <a:ln w="0">
            <a:noFill/>
            <a:prstDash val="solid"/>
          </a:ln>
        </p:spPr>
        <p:txBody>
          <a:bodyPr/>
          <a:lstStyle/>
          <a:p>
            <a:pPr algn="ctr">
              <a:buNone/>
              <a:defRPr sz="1800" b="1">
                <a:solidFill>
                  <a:srgbClr val="FFFFFF"/>
                </a:solidFill>
                <a:latin typeface="Arial"/>
                <a:ea typeface="Arial"/>
                <a:cs typeface="Arial"/>
              </a:defRPr>
            </a:pPr>
            <a:r>
              <a:rPr sz="2000" b="1">
                <a:solidFill>
                  <a:srgbClr val="FFFFFF"/>
                </a:solidFill>
                <a:latin typeface="Arial"/>
                <a:ea typeface="Arial"/>
                <a:cs typeface="Arial"/>
              </a:rPr>
              <a:t>RQ1</a:t>
            </a:r>
          </a:p>
        </p:txBody>
      </p:sp>
      <p:sp>
        <p:nvSpPr>
          <p:cNvPr id="493" name="RQ1-topic">
            <a:extLst>
              <a:ext uri="{FF2B5EF4-FFF2-40B4-BE49-F238E27FC236}">
                <a16:creationId xmlns:a16="http://schemas.microsoft.com/office/drawing/2014/main" id="{C30F5BA9-FA97-4BAB-B138-E11D745BD09E}"/>
              </a:ext>
            </a:extLst>
          </p:cNvPr>
          <p:cNvSpPr>
            <a:spLocks noGrp="1"/>
          </p:cNvSpPr>
          <p:nvPr/>
        </p:nvSpPr>
        <p:spPr>
          <a:xfrm>
            <a:off x="1714500" y="32327850"/>
            <a:ext cx="6115050" cy="323850"/>
          </a:xfrm>
          <a:prstGeom prst="rect">
            <a:avLst/>
          </a:prstGeom>
          <a:noFill/>
          <a:ln w="0">
            <a:noFill/>
            <a:prstDash val="solid"/>
          </a:ln>
        </p:spPr>
        <p:txBody>
          <a:bodyPr/>
          <a:lstStyle/>
          <a:p>
            <a:pPr>
              <a:buNone/>
              <a:defRPr sz="1875" b="1">
                <a:solidFill>
                  <a:srgbClr val="28235C"/>
                </a:solidFill>
                <a:latin typeface="Arial"/>
                <a:ea typeface="Arial"/>
                <a:cs typeface="Arial"/>
              </a:defRPr>
            </a:pPr>
            <a:r>
              <a:rPr sz="2000" b="1">
                <a:solidFill>
                  <a:srgbClr val="28235C"/>
                </a:solidFill>
                <a:latin typeface="Arial"/>
                <a:ea typeface="Arial"/>
                <a:cs typeface="Arial"/>
              </a:rPr>
              <a:t>Visual Attention</a:t>
            </a:r>
          </a:p>
        </p:txBody>
      </p:sp>
      <p:sp>
        <p:nvSpPr>
          <p:cNvPr id="494" name="RQ1-finding">
            <a:extLst>
              <a:ext uri="{FF2B5EF4-FFF2-40B4-BE49-F238E27FC236}">
                <a16:creationId xmlns:a16="http://schemas.microsoft.com/office/drawing/2014/main" id="{8D5451EF-F4DF-4C57-B11D-424F5E7EF8AB}"/>
              </a:ext>
            </a:extLst>
          </p:cNvPr>
          <p:cNvSpPr>
            <a:spLocks noGrp="1"/>
          </p:cNvSpPr>
          <p:nvPr/>
        </p:nvSpPr>
        <p:spPr>
          <a:xfrm>
            <a:off x="1714500" y="32708850"/>
            <a:ext cx="6115050" cy="590550"/>
          </a:xfrm>
          <a:prstGeom prst="rect">
            <a:avLst/>
          </a:prstGeom>
          <a:noFill/>
          <a:ln w="0">
            <a:noFill/>
            <a:prstDash val="solid"/>
          </a:ln>
        </p:spPr>
        <p:txBody>
          <a:bodyPr/>
          <a:lstStyle/>
          <a:p>
            <a:pPr>
              <a:buNone/>
              <a:defRPr sz="1575">
                <a:solidFill>
                  <a:srgbClr val="121426"/>
                </a:solidFill>
                <a:latin typeface="Arial"/>
                <a:ea typeface="Arial"/>
                <a:cs typeface="Arial"/>
              </a:defRPr>
            </a:pPr>
            <a:r>
              <a:rPr sz="1600" dirty="0" err="1">
                <a:solidFill>
                  <a:srgbClr val="121426"/>
                </a:solidFill>
                <a:latin typeface="Arial"/>
                <a:ea typeface="Arial"/>
                <a:cs typeface="Arial"/>
              </a:rPr>
              <a:t>Face_TOP</a:t>
            </a:r>
            <a:r>
              <a:rPr sz="1600" dirty="0">
                <a:solidFill>
                  <a:srgbClr val="121426"/>
                </a:solidFill>
                <a:latin typeface="Arial"/>
                <a:ea typeface="Arial"/>
                <a:cs typeface="Arial"/>
              </a:rPr>
              <a:t> received the greatest attention; </a:t>
            </a:r>
            <a:r>
              <a:rPr sz="1600" dirty="0" err="1">
                <a:solidFill>
                  <a:srgbClr val="121426"/>
                </a:solidFill>
                <a:latin typeface="Arial"/>
                <a:ea typeface="Arial"/>
                <a:cs typeface="Arial"/>
              </a:rPr>
              <a:t>Face_BOTTOM</a:t>
            </a:r>
            <a:r>
              <a:rPr sz="1600" dirty="0">
                <a:solidFill>
                  <a:srgbClr val="121426"/>
                </a:solidFill>
                <a:latin typeface="Arial"/>
                <a:ea typeface="Arial"/>
                <a:cs typeface="Arial"/>
              </a:rPr>
              <a:t> and Torso followed, while Tail and Legs were much lower.</a:t>
            </a:r>
          </a:p>
        </p:txBody>
      </p:sp>
      <p:sp>
        <p:nvSpPr>
          <p:cNvPr id="495" name="RQ2-row">
            <a:extLst>
              <a:ext uri="{FF2B5EF4-FFF2-40B4-BE49-F238E27FC236}">
                <a16:creationId xmlns:a16="http://schemas.microsoft.com/office/drawing/2014/main" id="{D63E1A0B-DAAB-475F-9398-8C47C67C33B5}"/>
              </a:ext>
            </a:extLst>
          </p:cNvPr>
          <p:cNvSpPr>
            <a:spLocks noGrp="1"/>
          </p:cNvSpPr>
          <p:nvPr/>
        </p:nvSpPr>
        <p:spPr>
          <a:xfrm>
            <a:off x="533400" y="33699450"/>
            <a:ext cx="7543800" cy="1352550"/>
          </a:xfrm>
          <a:prstGeom prst="roundRect">
            <a:avLst>
              <a:gd name="adj" fmla="val 4225"/>
            </a:avLst>
          </a:prstGeom>
          <a:solidFill>
            <a:srgbClr val="FFFFFF"/>
          </a:solidFill>
          <a:ln w="19050">
            <a:solidFill>
              <a:srgbClr val="9BB6D3"/>
            </a:solidFill>
            <a:prstDash val="solid"/>
          </a:ln>
        </p:spPr>
        <p:txBody>
          <a:bodyPr/>
          <a:lstStyle/>
          <a:p>
            <a:endParaRPr sz="2000"/>
          </a:p>
        </p:txBody>
      </p:sp>
      <p:sp>
        <p:nvSpPr>
          <p:cNvPr id="496" name="RQ2-accent">
            <a:extLst>
              <a:ext uri="{FF2B5EF4-FFF2-40B4-BE49-F238E27FC236}">
                <a16:creationId xmlns:a16="http://schemas.microsoft.com/office/drawing/2014/main" id="{CAE8EC0C-2FDC-484B-8E90-A05F81C0BAE0}"/>
              </a:ext>
            </a:extLst>
          </p:cNvPr>
          <p:cNvSpPr>
            <a:spLocks noGrp="1"/>
          </p:cNvSpPr>
          <p:nvPr/>
        </p:nvSpPr>
        <p:spPr>
          <a:xfrm>
            <a:off x="533400" y="33699450"/>
            <a:ext cx="114300" cy="1352550"/>
          </a:xfrm>
          <a:prstGeom prst="rect">
            <a:avLst/>
          </a:prstGeom>
          <a:solidFill>
            <a:srgbClr val="3975A8"/>
          </a:solidFill>
          <a:ln w="0">
            <a:solidFill>
              <a:srgbClr val="3975A8"/>
            </a:solidFill>
            <a:prstDash val="solid"/>
          </a:ln>
        </p:spPr>
        <p:txBody>
          <a:bodyPr/>
          <a:lstStyle/>
          <a:p>
            <a:endParaRPr sz="2000"/>
          </a:p>
        </p:txBody>
      </p:sp>
      <p:sp>
        <p:nvSpPr>
          <p:cNvPr id="497" name="RQ2-badge">
            <a:extLst>
              <a:ext uri="{FF2B5EF4-FFF2-40B4-BE49-F238E27FC236}">
                <a16:creationId xmlns:a16="http://schemas.microsoft.com/office/drawing/2014/main" id="{F697246B-F92C-4B54-9B52-94E5B5CAE8FC}"/>
              </a:ext>
            </a:extLst>
          </p:cNvPr>
          <p:cNvSpPr>
            <a:spLocks noGrp="1"/>
          </p:cNvSpPr>
          <p:nvPr/>
        </p:nvSpPr>
        <p:spPr>
          <a:xfrm>
            <a:off x="781050" y="33909000"/>
            <a:ext cx="742950" cy="457200"/>
          </a:xfrm>
          <a:prstGeom prst="roundRect">
            <a:avLst>
              <a:gd name="adj" fmla="val 12500"/>
            </a:avLst>
          </a:prstGeom>
          <a:solidFill>
            <a:srgbClr val="3975A8"/>
          </a:solidFill>
          <a:ln w="0">
            <a:solidFill>
              <a:srgbClr val="3975A8"/>
            </a:solidFill>
            <a:prstDash val="solid"/>
          </a:ln>
        </p:spPr>
        <p:txBody>
          <a:bodyPr/>
          <a:lstStyle/>
          <a:p>
            <a:endParaRPr sz="2000"/>
          </a:p>
        </p:txBody>
      </p:sp>
      <p:sp>
        <p:nvSpPr>
          <p:cNvPr id="498" name="RQ2-badge-text">
            <a:extLst>
              <a:ext uri="{FF2B5EF4-FFF2-40B4-BE49-F238E27FC236}">
                <a16:creationId xmlns:a16="http://schemas.microsoft.com/office/drawing/2014/main" id="{77F4F668-203D-44C1-967A-2861288087DA}"/>
              </a:ext>
            </a:extLst>
          </p:cNvPr>
          <p:cNvSpPr>
            <a:spLocks noGrp="1"/>
          </p:cNvSpPr>
          <p:nvPr/>
        </p:nvSpPr>
        <p:spPr>
          <a:xfrm>
            <a:off x="781050" y="33985200"/>
            <a:ext cx="742950" cy="285750"/>
          </a:xfrm>
          <a:prstGeom prst="rect">
            <a:avLst/>
          </a:prstGeom>
          <a:noFill/>
          <a:ln w="0">
            <a:noFill/>
            <a:prstDash val="solid"/>
          </a:ln>
        </p:spPr>
        <p:txBody>
          <a:bodyPr/>
          <a:lstStyle/>
          <a:p>
            <a:pPr algn="ctr">
              <a:buNone/>
              <a:defRPr sz="1800" b="1">
                <a:solidFill>
                  <a:srgbClr val="FFFFFF"/>
                </a:solidFill>
                <a:latin typeface="Arial"/>
                <a:ea typeface="Arial"/>
                <a:cs typeface="Arial"/>
              </a:defRPr>
            </a:pPr>
            <a:r>
              <a:rPr sz="2000" b="1">
                <a:solidFill>
                  <a:srgbClr val="FFFFFF"/>
                </a:solidFill>
                <a:latin typeface="Arial"/>
                <a:ea typeface="Arial"/>
                <a:cs typeface="Arial"/>
              </a:rPr>
              <a:t>RQ2</a:t>
            </a:r>
          </a:p>
        </p:txBody>
      </p:sp>
      <p:sp>
        <p:nvSpPr>
          <p:cNvPr id="499" name="RQ2-topic">
            <a:extLst>
              <a:ext uri="{FF2B5EF4-FFF2-40B4-BE49-F238E27FC236}">
                <a16:creationId xmlns:a16="http://schemas.microsoft.com/office/drawing/2014/main" id="{059B625D-E5D4-4FDF-9B2E-75DAE5306FFC}"/>
              </a:ext>
            </a:extLst>
          </p:cNvPr>
          <p:cNvSpPr>
            <a:spLocks noGrp="1"/>
          </p:cNvSpPr>
          <p:nvPr/>
        </p:nvSpPr>
        <p:spPr>
          <a:xfrm>
            <a:off x="1714500" y="33889950"/>
            <a:ext cx="6115050" cy="323850"/>
          </a:xfrm>
          <a:prstGeom prst="rect">
            <a:avLst/>
          </a:prstGeom>
          <a:noFill/>
          <a:ln w="0">
            <a:noFill/>
            <a:prstDash val="solid"/>
          </a:ln>
        </p:spPr>
        <p:txBody>
          <a:bodyPr/>
          <a:lstStyle/>
          <a:p>
            <a:pPr>
              <a:buNone/>
              <a:defRPr sz="1875" b="1">
                <a:solidFill>
                  <a:srgbClr val="28235C"/>
                </a:solidFill>
                <a:latin typeface="Arial"/>
                <a:ea typeface="Arial"/>
                <a:cs typeface="Arial"/>
              </a:defRPr>
            </a:pPr>
            <a:r>
              <a:rPr sz="2000" b="1">
                <a:solidFill>
                  <a:srgbClr val="28235C"/>
                </a:solidFill>
                <a:latin typeface="Arial"/>
                <a:ea typeface="Arial"/>
                <a:cs typeface="Arial"/>
              </a:rPr>
              <a:t>Scanpaths</a:t>
            </a:r>
          </a:p>
        </p:txBody>
      </p:sp>
      <p:sp>
        <p:nvSpPr>
          <p:cNvPr id="500" name="RQ2-finding">
            <a:extLst>
              <a:ext uri="{FF2B5EF4-FFF2-40B4-BE49-F238E27FC236}">
                <a16:creationId xmlns:a16="http://schemas.microsoft.com/office/drawing/2014/main" id="{F6C5CC70-02EC-4FA5-968A-C021D058B173}"/>
              </a:ext>
            </a:extLst>
          </p:cNvPr>
          <p:cNvSpPr>
            <a:spLocks noGrp="1"/>
          </p:cNvSpPr>
          <p:nvPr/>
        </p:nvSpPr>
        <p:spPr>
          <a:xfrm>
            <a:off x="1714500" y="34270950"/>
            <a:ext cx="6115050" cy="590550"/>
          </a:xfrm>
          <a:prstGeom prst="rect">
            <a:avLst/>
          </a:prstGeom>
          <a:noFill/>
          <a:ln w="0">
            <a:noFill/>
            <a:prstDash val="solid"/>
          </a:ln>
        </p:spPr>
        <p:txBody>
          <a:bodyPr/>
          <a:lstStyle/>
          <a:p>
            <a:pPr>
              <a:buNone/>
              <a:defRPr sz="1575">
                <a:solidFill>
                  <a:srgbClr val="121426"/>
                </a:solidFill>
                <a:latin typeface="Arial"/>
                <a:ea typeface="Arial"/>
                <a:cs typeface="Arial"/>
              </a:defRPr>
            </a:pPr>
            <a:r>
              <a:rPr sz="1600">
                <a:solidFill>
                  <a:srgbClr val="121426"/>
                </a:solidFill>
                <a:latin typeface="Arial"/>
                <a:ea typeface="Arial"/>
                <a:cs typeface="Arial"/>
              </a:rPr>
              <a:t>Similarity varied by video and depended on movement, situation and cue clarity more than dog type alone.</a:t>
            </a:r>
          </a:p>
        </p:txBody>
      </p:sp>
      <p:sp>
        <p:nvSpPr>
          <p:cNvPr id="501" name="RQ3-row">
            <a:extLst>
              <a:ext uri="{FF2B5EF4-FFF2-40B4-BE49-F238E27FC236}">
                <a16:creationId xmlns:a16="http://schemas.microsoft.com/office/drawing/2014/main" id="{BD0A74E7-E8C8-4CCE-A4E8-B9BBE22EEB6A}"/>
              </a:ext>
            </a:extLst>
          </p:cNvPr>
          <p:cNvSpPr>
            <a:spLocks noGrp="1"/>
          </p:cNvSpPr>
          <p:nvPr/>
        </p:nvSpPr>
        <p:spPr>
          <a:xfrm>
            <a:off x="533400" y="35261550"/>
            <a:ext cx="7543800" cy="1352550"/>
          </a:xfrm>
          <a:prstGeom prst="roundRect">
            <a:avLst>
              <a:gd name="adj" fmla="val 4225"/>
            </a:avLst>
          </a:prstGeom>
          <a:solidFill>
            <a:srgbClr val="FFFFFF"/>
          </a:solidFill>
          <a:ln w="19050">
            <a:solidFill>
              <a:srgbClr val="9BB6D3"/>
            </a:solidFill>
            <a:prstDash val="solid"/>
          </a:ln>
        </p:spPr>
        <p:txBody>
          <a:bodyPr/>
          <a:lstStyle/>
          <a:p>
            <a:endParaRPr sz="2000"/>
          </a:p>
        </p:txBody>
      </p:sp>
      <p:sp>
        <p:nvSpPr>
          <p:cNvPr id="502" name="RQ3-accent">
            <a:extLst>
              <a:ext uri="{FF2B5EF4-FFF2-40B4-BE49-F238E27FC236}">
                <a16:creationId xmlns:a16="http://schemas.microsoft.com/office/drawing/2014/main" id="{7CB8F1A7-C822-4DF3-B78E-928650786D32}"/>
              </a:ext>
            </a:extLst>
          </p:cNvPr>
          <p:cNvSpPr>
            <a:spLocks noGrp="1"/>
          </p:cNvSpPr>
          <p:nvPr/>
        </p:nvSpPr>
        <p:spPr>
          <a:xfrm>
            <a:off x="533400" y="35261550"/>
            <a:ext cx="114300" cy="1352550"/>
          </a:xfrm>
          <a:prstGeom prst="rect">
            <a:avLst/>
          </a:prstGeom>
          <a:solidFill>
            <a:srgbClr val="F27C38"/>
          </a:solidFill>
          <a:ln w="0">
            <a:solidFill>
              <a:srgbClr val="F27C38"/>
            </a:solidFill>
            <a:prstDash val="solid"/>
          </a:ln>
        </p:spPr>
        <p:txBody>
          <a:bodyPr/>
          <a:lstStyle/>
          <a:p>
            <a:endParaRPr sz="2000"/>
          </a:p>
        </p:txBody>
      </p:sp>
      <p:sp>
        <p:nvSpPr>
          <p:cNvPr id="503" name="RQ3-badge">
            <a:extLst>
              <a:ext uri="{FF2B5EF4-FFF2-40B4-BE49-F238E27FC236}">
                <a16:creationId xmlns:a16="http://schemas.microsoft.com/office/drawing/2014/main" id="{67DAE702-330C-4874-AB0B-E037B87D120C}"/>
              </a:ext>
            </a:extLst>
          </p:cNvPr>
          <p:cNvSpPr>
            <a:spLocks noGrp="1"/>
          </p:cNvSpPr>
          <p:nvPr/>
        </p:nvSpPr>
        <p:spPr>
          <a:xfrm>
            <a:off x="781050" y="35471100"/>
            <a:ext cx="742950" cy="457200"/>
          </a:xfrm>
          <a:prstGeom prst="roundRect">
            <a:avLst>
              <a:gd name="adj" fmla="val 12500"/>
            </a:avLst>
          </a:prstGeom>
          <a:solidFill>
            <a:srgbClr val="F27C38"/>
          </a:solidFill>
          <a:ln w="0">
            <a:solidFill>
              <a:srgbClr val="F27C38"/>
            </a:solidFill>
            <a:prstDash val="solid"/>
          </a:ln>
        </p:spPr>
        <p:txBody>
          <a:bodyPr/>
          <a:lstStyle/>
          <a:p>
            <a:endParaRPr sz="2000"/>
          </a:p>
        </p:txBody>
      </p:sp>
      <p:sp>
        <p:nvSpPr>
          <p:cNvPr id="504" name="RQ3-badge-text">
            <a:extLst>
              <a:ext uri="{FF2B5EF4-FFF2-40B4-BE49-F238E27FC236}">
                <a16:creationId xmlns:a16="http://schemas.microsoft.com/office/drawing/2014/main" id="{AD4E4B69-1D5F-4F9D-AA77-5C61CA12EEEF}"/>
              </a:ext>
            </a:extLst>
          </p:cNvPr>
          <p:cNvSpPr>
            <a:spLocks noGrp="1"/>
          </p:cNvSpPr>
          <p:nvPr/>
        </p:nvSpPr>
        <p:spPr>
          <a:xfrm>
            <a:off x="781050" y="35547300"/>
            <a:ext cx="742950" cy="285750"/>
          </a:xfrm>
          <a:prstGeom prst="rect">
            <a:avLst/>
          </a:prstGeom>
          <a:noFill/>
          <a:ln w="0">
            <a:noFill/>
            <a:prstDash val="solid"/>
          </a:ln>
        </p:spPr>
        <p:txBody>
          <a:bodyPr/>
          <a:lstStyle/>
          <a:p>
            <a:pPr algn="ctr">
              <a:buNone/>
              <a:defRPr sz="1800" b="1">
                <a:solidFill>
                  <a:srgbClr val="FFFFFF"/>
                </a:solidFill>
                <a:latin typeface="Arial"/>
                <a:ea typeface="Arial"/>
                <a:cs typeface="Arial"/>
              </a:defRPr>
            </a:pPr>
            <a:r>
              <a:rPr sz="2000" b="1">
                <a:solidFill>
                  <a:srgbClr val="FFFFFF"/>
                </a:solidFill>
                <a:latin typeface="Arial"/>
                <a:ea typeface="Arial"/>
                <a:cs typeface="Arial"/>
              </a:rPr>
              <a:t>RQ3</a:t>
            </a:r>
          </a:p>
        </p:txBody>
      </p:sp>
      <p:sp>
        <p:nvSpPr>
          <p:cNvPr id="505" name="RQ3-topic">
            <a:extLst>
              <a:ext uri="{FF2B5EF4-FFF2-40B4-BE49-F238E27FC236}">
                <a16:creationId xmlns:a16="http://schemas.microsoft.com/office/drawing/2014/main" id="{44D9E490-049F-4A5D-85F2-87D3163DECF7}"/>
              </a:ext>
            </a:extLst>
          </p:cNvPr>
          <p:cNvSpPr>
            <a:spLocks noGrp="1"/>
          </p:cNvSpPr>
          <p:nvPr/>
        </p:nvSpPr>
        <p:spPr>
          <a:xfrm>
            <a:off x="1714500" y="35452050"/>
            <a:ext cx="6115050" cy="323850"/>
          </a:xfrm>
          <a:prstGeom prst="rect">
            <a:avLst/>
          </a:prstGeom>
          <a:noFill/>
          <a:ln w="0">
            <a:noFill/>
            <a:prstDash val="solid"/>
          </a:ln>
        </p:spPr>
        <p:txBody>
          <a:bodyPr/>
          <a:lstStyle/>
          <a:p>
            <a:pPr>
              <a:buNone/>
              <a:defRPr sz="1875" b="1">
                <a:solidFill>
                  <a:srgbClr val="28235C"/>
                </a:solidFill>
                <a:latin typeface="Arial"/>
                <a:ea typeface="Arial"/>
                <a:cs typeface="Arial"/>
              </a:defRPr>
            </a:pPr>
            <a:r>
              <a:rPr sz="2000" b="1">
                <a:solidFill>
                  <a:srgbClr val="28235C"/>
                </a:solidFill>
                <a:latin typeface="Arial"/>
                <a:ea typeface="Arial"/>
                <a:cs typeface="Arial"/>
              </a:rPr>
              <a:t>Participant Groups</a:t>
            </a:r>
          </a:p>
        </p:txBody>
      </p:sp>
      <p:sp>
        <p:nvSpPr>
          <p:cNvPr id="506" name="RQ3-finding">
            <a:extLst>
              <a:ext uri="{FF2B5EF4-FFF2-40B4-BE49-F238E27FC236}">
                <a16:creationId xmlns:a16="http://schemas.microsoft.com/office/drawing/2014/main" id="{BEB7CAF4-B54E-4B14-9636-C3841B458D0A}"/>
              </a:ext>
            </a:extLst>
          </p:cNvPr>
          <p:cNvSpPr>
            <a:spLocks noGrp="1"/>
          </p:cNvSpPr>
          <p:nvPr/>
        </p:nvSpPr>
        <p:spPr>
          <a:xfrm>
            <a:off x="1714500" y="35833050"/>
            <a:ext cx="6115050" cy="590550"/>
          </a:xfrm>
          <a:prstGeom prst="rect">
            <a:avLst/>
          </a:prstGeom>
          <a:noFill/>
          <a:ln w="0">
            <a:noFill/>
            <a:prstDash val="solid"/>
          </a:ln>
        </p:spPr>
        <p:txBody>
          <a:bodyPr/>
          <a:lstStyle/>
          <a:p>
            <a:pPr>
              <a:buNone/>
              <a:defRPr sz="1575">
                <a:solidFill>
                  <a:srgbClr val="121426"/>
                </a:solidFill>
                <a:latin typeface="Arial"/>
                <a:ea typeface="Arial"/>
                <a:cs typeface="Arial"/>
              </a:defRPr>
            </a:pPr>
            <a:r>
              <a:rPr sz="1600">
                <a:solidFill>
                  <a:srgbClr val="121426"/>
                </a:solidFill>
                <a:latin typeface="Arial"/>
                <a:ea typeface="Arial"/>
                <a:cs typeface="Arial"/>
              </a:rPr>
              <a:t>Dog ownership showed no clear difference; gender comparison was limited by the imbalanced sample.</a:t>
            </a:r>
          </a:p>
        </p:txBody>
      </p:sp>
      <p:sp>
        <p:nvSpPr>
          <p:cNvPr id="507" name="RQ4-row">
            <a:extLst>
              <a:ext uri="{FF2B5EF4-FFF2-40B4-BE49-F238E27FC236}">
                <a16:creationId xmlns:a16="http://schemas.microsoft.com/office/drawing/2014/main" id="{366F43D8-B2FF-482C-A09C-7DBF61BEDD0A}"/>
              </a:ext>
            </a:extLst>
          </p:cNvPr>
          <p:cNvSpPr>
            <a:spLocks noGrp="1"/>
          </p:cNvSpPr>
          <p:nvPr/>
        </p:nvSpPr>
        <p:spPr>
          <a:xfrm>
            <a:off x="8477250" y="32137350"/>
            <a:ext cx="7543800" cy="1352550"/>
          </a:xfrm>
          <a:prstGeom prst="roundRect">
            <a:avLst>
              <a:gd name="adj" fmla="val 4225"/>
            </a:avLst>
          </a:prstGeom>
          <a:solidFill>
            <a:srgbClr val="FFFFFF"/>
          </a:solidFill>
          <a:ln w="19050">
            <a:solidFill>
              <a:srgbClr val="9BB6D3"/>
            </a:solidFill>
            <a:prstDash val="solid"/>
          </a:ln>
        </p:spPr>
        <p:txBody>
          <a:bodyPr/>
          <a:lstStyle/>
          <a:p>
            <a:endParaRPr sz="2000"/>
          </a:p>
        </p:txBody>
      </p:sp>
      <p:sp>
        <p:nvSpPr>
          <p:cNvPr id="508" name="RQ4-accent">
            <a:extLst>
              <a:ext uri="{FF2B5EF4-FFF2-40B4-BE49-F238E27FC236}">
                <a16:creationId xmlns:a16="http://schemas.microsoft.com/office/drawing/2014/main" id="{D357C68D-1855-4FBF-AA92-A74E32482EE6}"/>
              </a:ext>
            </a:extLst>
          </p:cNvPr>
          <p:cNvSpPr>
            <a:spLocks noGrp="1"/>
          </p:cNvSpPr>
          <p:nvPr/>
        </p:nvSpPr>
        <p:spPr>
          <a:xfrm>
            <a:off x="8477250" y="32137350"/>
            <a:ext cx="114300" cy="1352550"/>
          </a:xfrm>
          <a:prstGeom prst="rect">
            <a:avLst/>
          </a:prstGeom>
          <a:solidFill>
            <a:srgbClr val="62A744"/>
          </a:solidFill>
          <a:ln w="0">
            <a:solidFill>
              <a:srgbClr val="62A744"/>
            </a:solidFill>
            <a:prstDash val="solid"/>
          </a:ln>
        </p:spPr>
        <p:txBody>
          <a:bodyPr/>
          <a:lstStyle/>
          <a:p>
            <a:endParaRPr sz="2000"/>
          </a:p>
        </p:txBody>
      </p:sp>
      <p:sp>
        <p:nvSpPr>
          <p:cNvPr id="509" name="RQ4-badge">
            <a:extLst>
              <a:ext uri="{FF2B5EF4-FFF2-40B4-BE49-F238E27FC236}">
                <a16:creationId xmlns:a16="http://schemas.microsoft.com/office/drawing/2014/main" id="{93F23CA8-49A2-47CB-B952-BABAC37B25AD}"/>
              </a:ext>
            </a:extLst>
          </p:cNvPr>
          <p:cNvSpPr>
            <a:spLocks noGrp="1"/>
          </p:cNvSpPr>
          <p:nvPr/>
        </p:nvSpPr>
        <p:spPr>
          <a:xfrm>
            <a:off x="8724900" y="32346900"/>
            <a:ext cx="742950" cy="457200"/>
          </a:xfrm>
          <a:prstGeom prst="roundRect">
            <a:avLst>
              <a:gd name="adj" fmla="val 12500"/>
            </a:avLst>
          </a:prstGeom>
          <a:solidFill>
            <a:srgbClr val="62A744"/>
          </a:solidFill>
          <a:ln w="0">
            <a:solidFill>
              <a:srgbClr val="62A744"/>
            </a:solidFill>
            <a:prstDash val="solid"/>
          </a:ln>
        </p:spPr>
        <p:txBody>
          <a:bodyPr/>
          <a:lstStyle/>
          <a:p>
            <a:endParaRPr sz="2000"/>
          </a:p>
        </p:txBody>
      </p:sp>
      <p:sp>
        <p:nvSpPr>
          <p:cNvPr id="510" name="RQ4-badge-text">
            <a:extLst>
              <a:ext uri="{FF2B5EF4-FFF2-40B4-BE49-F238E27FC236}">
                <a16:creationId xmlns:a16="http://schemas.microsoft.com/office/drawing/2014/main" id="{48F7A364-AFBC-4FEC-BE72-918B80914704}"/>
              </a:ext>
            </a:extLst>
          </p:cNvPr>
          <p:cNvSpPr>
            <a:spLocks noGrp="1"/>
          </p:cNvSpPr>
          <p:nvPr/>
        </p:nvSpPr>
        <p:spPr>
          <a:xfrm>
            <a:off x="8724900" y="32423100"/>
            <a:ext cx="742950" cy="285750"/>
          </a:xfrm>
          <a:prstGeom prst="rect">
            <a:avLst/>
          </a:prstGeom>
          <a:noFill/>
          <a:ln w="0">
            <a:noFill/>
            <a:prstDash val="solid"/>
          </a:ln>
        </p:spPr>
        <p:txBody>
          <a:bodyPr/>
          <a:lstStyle/>
          <a:p>
            <a:pPr algn="ctr">
              <a:buNone/>
              <a:defRPr sz="1800" b="1">
                <a:solidFill>
                  <a:srgbClr val="FFFFFF"/>
                </a:solidFill>
                <a:latin typeface="Arial"/>
                <a:ea typeface="Arial"/>
                <a:cs typeface="Arial"/>
              </a:defRPr>
            </a:pPr>
            <a:r>
              <a:rPr sz="2000" b="1">
                <a:solidFill>
                  <a:srgbClr val="FFFFFF"/>
                </a:solidFill>
                <a:latin typeface="Arial"/>
                <a:ea typeface="Arial"/>
                <a:cs typeface="Arial"/>
              </a:rPr>
              <a:t>RQ4</a:t>
            </a:r>
          </a:p>
        </p:txBody>
      </p:sp>
      <p:sp>
        <p:nvSpPr>
          <p:cNvPr id="511" name="RQ4-topic">
            <a:extLst>
              <a:ext uri="{FF2B5EF4-FFF2-40B4-BE49-F238E27FC236}">
                <a16:creationId xmlns:a16="http://schemas.microsoft.com/office/drawing/2014/main" id="{43887636-3966-4810-AE2D-AFB76D9E75D0}"/>
              </a:ext>
            </a:extLst>
          </p:cNvPr>
          <p:cNvSpPr>
            <a:spLocks noGrp="1"/>
          </p:cNvSpPr>
          <p:nvPr/>
        </p:nvSpPr>
        <p:spPr>
          <a:xfrm>
            <a:off x="9658350" y="32327850"/>
            <a:ext cx="6115050" cy="323850"/>
          </a:xfrm>
          <a:prstGeom prst="rect">
            <a:avLst/>
          </a:prstGeom>
          <a:noFill/>
          <a:ln w="0">
            <a:noFill/>
            <a:prstDash val="solid"/>
          </a:ln>
        </p:spPr>
        <p:txBody>
          <a:bodyPr/>
          <a:lstStyle/>
          <a:p>
            <a:pPr>
              <a:buNone/>
              <a:defRPr sz="1875" b="1">
                <a:solidFill>
                  <a:srgbClr val="28235C"/>
                </a:solidFill>
                <a:latin typeface="Arial"/>
                <a:ea typeface="Arial"/>
                <a:cs typeface="Arial"/>
              </a:defRPr>
            </a:pPr>
            <a:r>
              <a:rPr sz="2000" b="1">
                <a:solidFill>
                  <a:srgbClr val="28235C"/>
                </a:solidFill>
                <a:latin typeface="Arial"/>
                <a:ea typeface="Arial"/>
                <a:cs typeface="Arial"/>
              </a:rPr>
              <a:t>Recognition Accuracy</a:t>
            </a:r>
          </a:p>
        </p:txBody>
      </p:sp>
      <p:sp>
        <p:nvSpPr>
          <p:cNvPr id="512" name="RQ4-finding">
            <a:extLst>
              <a:ext uri="{FF2B5EF4-FFF2-40B4-BE49-F238E27FC236}">
                <a16:creationId xmlns:a16="http://schemas.microsoft.com/office/drawing/2014/main" id="{3940FC80-9B70-4DED-8A3F-AC02F3540A35}"/>
              </a:ext>
            </a:extLst>
          </p:cNvPr>
          <p:cNvSpPr>
            <a:spLocks noGrp="1"/>
          </p:cNvSpPr>
          <p:nvPr/>
        </p:nvSpPr>
        <p:spPr>
          <a:xfrm>
            <a:off x="9658350" y="32708850"/>
            <a:ext cx="6115050" cy="590550"/>
          </a:xfrm>
          <a:prstGeom prst="rect">
            <a:avLst/>
          </a:prstGeom>
          <a:noFill/>
          <a:ln w="0">
            <a:noFill/>
            <a:prstDash val="solid"/>
          </a:ln>
        </p:spPr>
        <p:txBody>
          <a:bodyPr/>
          <a:lstStyle/>
          <a:p>
            <a:pPr>
              <a:buNone/>
              <a:defRPr sz="1575">
                <a:solidFill>
                  <a:srgbClr val="121426"/>
                </a:solidFill>
                <a:latin typeface="Arial"/>
                <a:ea typeface="Arial"/>
                <a:cs typeface="Arial"/>
              </a:defRPr>
            </a:pPr>
            <a:r>
              <a:rPr sz="1600">
                <a:solidFill>
                  <a:srgbClr val="121426"/>
                </a:solidFill>
                <a:latin typeface="Arial"/>
                <a:ea typeface="Arial"/>
                <a:cs typeface="Arial"/>
              </a:rPr>
              <a:t>Correct recognition was not strongly linked to one fixed AOI; useful cues changed by video.</a:t>
            </a:r>
          </a:p>
        </p:txBody>
      </p:sp>
      <p:sp>
        <p:nvSpPr>
          <p:cNvPr id="513" name="RQ5-row">
            <a:extLst>
              <a:ext uri="{FF2B5EF4-FFF2-40B4-BE49-F238E27FC236}">
                <a16:creationId xmlns:a16="http://schemas.microsoft.com/office/drawing/2014/main" id="{ACADA21D-381E-4307-9534-252126E4F09F}"/>
              </a:ext>
            </a:extLst>
          </p:cNvPr>
          <p:cNvSpPr>
            <a:spLocks noGrp="1"/>
          </p:cNvSpPr>
          <p:nvPr/>
        </p:nvSpPr>
        <p:spPr>
          <a:xfrm>
            <a:off x="8477250" y="33699450"/>
            <a:ext cx="7543800" cy="1352550"/>
          </a:xfrm>
          <a:prstGeom prst="roundRect">
            <a:avLst>
              <a:gd name="adj" fmla="val 4225"/>
            </a:avLst>
          </a:prstGeom>
          <a:solidFill>
            <a:srgbClr val="FFFFFF"/>
          </a:solidFill>
          <a:ln w="19050">
            <a:solidFill>
              <a:srgbClr val="9BB6D3"/>
            </a:solidFill>
            <a:prstDash val="solid"/>
          </a:ln>
        </p:spPr>
        <p:txBody>
          <a:bodyPr/>
          <a:lstStyle/>
          <a:p>
            <a:endParaRPr sz="2000"/>
          </a:p>
        </p:txBody>
      </p:sp>
      <p:sp>
        <p:nvSpPr>
          <p:cNvPr id="514" name="RQ5-accent">
            <a:extLst>
              <a:ext uri="{FF2B5EF4-FFF2-40B4-BE49-F238E27FC236}">
                <a16:creationId xmlns:a16="http://schemas.microsoft.com/office/drawing/2014/main" id="{09F4F018-B893-4490-A3A7-FAC1C39058A1}"/>
              </a:ext>
            </a:extLst>
          </p:cNvPr>
          <p:cNvSpPr>
            <a:spLocks noGrp="1"/>
          </p:cNvSpPr>
          <p:nvPr/>
        </p:nvSpPr>
        <p:spPr>
          <a:xfrm>
            <a:off x="8477250" y="33699450"/>
            <a:ext cx="114300" cy="1352550"/>
          </a:xfrm>
          <a:prstGeom prst="rect">
            <a:avLst/>
          </a:prstGeom>
          <a:solidFill>
            <a:srgbClr val="6E5AA8"/>
          </a:solidFill>
          <a:ln w="0">
            <a:solidFill>
              <a:srgbClr val="6E5AA8"/>
            </a:solidFill>
            <a:prstDash val="solid"/>
          </a:ln>
        </p:spPr>
        <p:txBody>
          <a:bodyPr/>
          <a:lstStyle/>
          <a:p>
            <a:endParaRPr sz="2000"/>
          </a:p>
        </p:txBody>
      </p:sp>
      <p:sp>
        <p:nvSpPr>
          <p:cNvPr id="515" name="RQ5-badge">
            <a:extLst>
              <a:ext uri="{FF2B5EF4-FFF2-40B4-BE49-F238E27FC236}">
                <a16:creationId xmlns:a16="http://schemas.microsoft.com/office/drawing/2014/main" id="{62303F3E-E1CB-40FE-B01D-45FA2E91170D}"/>
              </a:ext>
            </a:extLst>
          </p:cNvPr>
          <p:cNvSpPr>
            <a:spLocks noGrp="1"/>
          </p:cNvSpPr>
          <p:nvPr/>
        </p:nvSpPr>
        <p:spPr>
          <a:xfrm>
            <a:off x="8724900" y="33909000"/>
            <a:ext cx="742950" cy="457200"/>
          </a:xfrm>
          <a:prstGeom prst="roundRect">
            <a:avLst>
              <a:gd name="adj" fmla="val 12500"/>
            </a:avLst>
          </a:prstGeom>
          <a:solidFill>
            <a:srgbClr val="6E5AA8"/>
          </a:solidFill>
          <a:ln w="0">
            <a:solidFill>
              <a:srgbClr val="6E5AA8"/>
            </a:solidFill>
            <a:prstDash val="solid"/>
          </a:ln>
        </p:spPr>
        <p:txBody>
          <a:bodyPr/>
          <a:lstStyle/>
          <a:p>
            <a:endParaRPr sz="2000"/>
          </a:p>
        </p:txBody>
      </p:sp>
      <p:sp>
        <p:nvSpPr>
          <p:cNvPr id="516" name="RQ5-badge-text">
            <a:extLst>
              <a:ext uri="{FF2B5EF4-FFF2-40B4-BE49-F238E27FC236}">
                <a16:creationId xmlns:a16="http://schemas.microsoft.com/office/drawing/2014/main" id="{3BD6F726-531C-4058-9ADA-741383C36856}"/>
              </a:ext>
            </a:extLst>
          </p:cNvPr>
          <p:cNvSpPr>
            <a:spLocks noGrp="1"/>
          </p:cNvSpPr>
          <p:nvPr/>
        </p:nvSpPr>
        <p:spPr>
          <a:xfrm>
            <a:off x="8724900" y="33985200"/>
            <a:ext cx="742950" cy="285750"/>
          </a:xfrm>
          <a:prstGeom prst="rect">
            <a:avLst/>
          </a:prstGeom>
          <a:noFill/>
          <a:ln w="0">
            <a:noFill/>
            <a:prstDash val="solid"/>
          </a:ln>
        </p:spPr>
        <p:txBody>
          <a:bodyPr/>
          <a:lstStyle/>
          <a:p>
            <a:pPr algn="ctr">
              <a:buNone/>
              <a:defRPr sz="1800" b="1">
                <a:solidFill>
                  <a:srgbClr val="FFFFFF"/>
                </a:solidFill>
                <a:latin typeface="Arial"/>
                <a:ea typeface="Arial"/>
                <a:cs typeface="Arial"/>
              </a:defRPr>
            </a:pPr>
            <a:r>
              <a:rPr sz="2000" b="1">
                <a:solidFill>
                  <a:srgbClr val="FFFFFF"/>
                </a:solidFill>
                <a:latin typeface="Arial"/>
                <a:ea typeface="Arial"/>
                <a:cs typeface="Arial"/>
              </a:rPr>
              <a:t>RQ5</a:t>
            </a:r>
          </a:p>
        </p:txBody>
      </p:sp>
      <p:sp>
        <p:nvSpPr>
          <p:cNvPr id="517" name="RQ5-topic">
            <a:extLst>
              <a:ext uri="{FF2B5EF4-FFF2-40B4-BE49-F238E27FC236}">
                <a16:creationId xmlns:a16="http://schemas.microsoft.com/office/drawing/2014/main" id="{699798E6-94CB-44A6-BCD1-B8C04128AE17}"/>
              </a:ext>
            </a:extLst>
          </p:cNvPr>
          <p:cNvSpPr>
            <a:spLocks noGrp="1"/>
          </p:cNvSpPr>
          <p:nvPr/>
        </p:nvSpPr>
        <p:spPr>
          <a:xfrm>
            <a:off x="9658350" y="33889950"/>
            <a:ext cx="6115050" cy="323850"/>
          </a:xfrm>
          <a:prstGeom prst="rect">
            <a:avLst/>
          </a:prstGeom>
          <a:noFill/>
          <a:ln w="0">
            <a:noFill/>
            <a:prstDash val="solid"/>
          </a:ln>
        </p:spPr>
        <p:txBody>
          <a:bodyPr/>
          <a:lstStyle/>
          <a:p>
            <a:pPr>
              <a:buNone/>
              <a:defRPr sz="1875" b="1">
                <a:solidFill>
                  <a:srgbClr val="28235C"/>
                </a:solidFill>
                <a:latin typeface="Arial"/>
                <a:ea typeface="Arial"/>
                <a:cs typeface="Arial"/>
              </a:defRPr>
            </a:pPr>
            <a:r>
              <a:rPr sz="2000" b="1">
                <a:solidFill>
                  <a:srgbClr val="28235C"/>
                </a:solidFill>
                <a:latin typeface="Arial"/>
                <a:ea typeface="Arial"/>
                <a:cs typeface="Arial"/>
              </a:rPr>
              <a:t>Emotion Perception</a:t>
            </a:r>
          </a:p>
        </p:txBody>
      </p:sp>
      <p:sp>
        <p:nvSpPr>
          <p:cNvPr id="518" name="RQ5-finding">
            <a:extLst>
              <a:ext uri="{FF2B5EF4-FFF2-40B4-BE49-F238E27FC236}">
                <a16:creationId xmlns:a16="http://schemas.microsoft.com/office/drawing/2014/main" id="{3CC4A31C-97E1-47A5-AA86-E6DCE5F9C377}"/>
              </a:ext>
            </a:extLst>
          </p:cNvPr>
          <p:cNvSpPr>
            <a:spLocks noGrp="1"/>
          </p:cNvSpPr>
          <p:nvPr/>
        </p:nvSpPr>
        <p:spPr>
          <a:xfrm>
            <a:off x="9658350" y="34270950"/>
            <a:ext cx="6115050" cy="590550"/>
          </a:xfrm>
          <a:prstGeom prst="rect">
            <a:avLst/>
          </a:prstGeom>
          <a:noFill/>
          <a:ln w="0">
            <a:noFill/>
            <a:prstDash val="solid"/>
          </a:ln>
        </p:spPr>
        <p:txBody>
          <a:bodyPr/>
          <a:lstStyle/>
          <a:p>
            <a:pPr>
              <a:buNone/>
              <a:defRPr sz="1575">
                <a:solidFill>
                  <a:srgbClr val="121426"/>
                </a:solidFill>
                <a:latin typeface="Arial"/>
                <a:ea typeface="Arial"/>
                <a:cs typeface="Arial"/>
              </a:defRPr>
            </a:pPr>
            <a:r>
              <a:rPr sz="1600">
                <a:solidFill>
                  <a:srgbClr val="121426"/>
                </a:solidFill>
                <a:latin typeface="Arial"/>
                <a:ea typeface="Arial"/>
                <a:cs typeface="Arial"/>
              </a:rPr>
              <a:t>Emotion ratings depended on the combination of dog type, situation, movement and visual context.</a:t>
            </a:r>
          </a:p>
        </p:txBody>
      </p:sp>
      <p:sp>
        <p:nvSpPr>
          <p:cNvPr id="519" name="RQ6-row">
            <a:extLst>
              <a:ext uri="{FF2B5EF4-FFF2-40B4-BE49-F238E27FC236}">
                <a16:creationId xmlns:a16="http://schemas.microsoft.com/office/drawing/2014/main" id="{1B232692-51F0-4C9B-9765-CFA6618664FF}"/>
              </a:ext>
            </a:extLst>
          </p:cNvPr>
          <p:cNvSpPr>
            <a:spLocks noGrp="1"/>
          </p:cNvSpPr>
          <p:nvPr/>
        </p:nvSpPr>
        <p:spPr>
          <a:xfrm>
            <a:off x="8477250" y="35261550"/>
            <a:ext cx="7543800" cy="1352550"/>
          </a:xfrm>
          <a:prstGeom prst="roundRect">
            <a:avLst>
              <a:gd name="adj" fmla="val 4225"/>
            </a:avLst>
          </a:prstGeom>
          <a:solidFill>
            <a:srgbClr val="FFFFFF"/>
          </a:solidFill>
          <a:ln w="19050">
            <a:solidFill>
              <a:srgbClr val="9BB6D3"/>
            </a:solidFill>
            <a:prstDash val="solid"/>
          </a:ln>
        </p:spPr>
        <p:txBody>
          <a:bodyPr/>
          <a:lstStyle/>
          <a:p>
            <a:endParaRPr sz="2000"/>
          </a:p>
        </p:txBody>
      </p:sp>
      <p:sp>
        <p:nvSpPr>
          <p:cNvPr id="520" name="RQ6-accent">
            <a:extLst>
              <a:ext uri="{FF2B5EF4-FFF2-40B4-BE49-F238E27FC236}">
                <a16:creationId xmlns:a16="http://schemas.microsoft.com/office/drawing/2014/main" id="{4C648A3F-872F-4A23-93A2-F038BD8CD643}"/>
              </a:ext>
            </a:extLst>
          </p:cNvPr>
          <p:cNvSpPr>
            <a:spLocks noGrp="1"/>
          </p:cNvSpPr>
          <p:nvPr/>
        </p:nvSpPr>
        <p:spPr>
          <a:xfrm>
            <a:off x="8477250" y="35261550"/>
            <a:ext cx="114300" cy="1352550"/>
          </a:xfrm>
          <a:prstGeom prst="rect">
            <a:avLst/>
          </a:prstGeom>
          <a:solidFill>
            <a:srgbClr val="D84D4D"/>
          </a:solidFill>
          <a:ln w="0">
            <a:solidFill>
              <a:srgbClr val="D84D4D"/>
            </a:solidFill>
            <a:prstDash val="solid"/>
          </a:ln>
        </p:spPr>
        <p:txBody>
          <a:bodyPr/>
          <a:lstStyle/>
          <a:p>
            <a:endParaRPr sz="2000"/>
          </a:p>
        </p:txBody>
      </p:sp>
      <p:sp>
        <p:nvSpPr>
          <p:cNvPr id="521" name="RQ6-badge">
            <a:extLst>
              <a:ext uri="{FF2B5EF4-FFF2-40B4-BE49-F238E27FC236}">
                <a16:creationId xmlns:a16="http://schemas.microsoft.com/office/drawing/2014/main" id="{BF50CFB7-B2B0-480F-841A-CAF2771FB2A4}"/>
              </a:ext>
            </a:extLst>
          </p:cNvPr>
          <p:cNvSpPr>
            <a:spLocks noGrp="1"/>
          </p:cNvSpPr>
          <p:nvPr/>
        </p:nvSpPr>
        <p:spPr>
          <a:xfrm>
            <a:off x="8724900" y="35471100"/>
            <a:ext cx="742950" cy="457200"/>
          </a:xfrm>
          <a:prstGeom prst="roundRect">
            <a:avLst>
              <a:gd name="adj" fmla="val 12500"/>
            </a:avLst>
          </a:prstGeom>
          <a:solidFill>
            <a:srgbClr val="D84D4D"/>
          </a:solidFill>
          <a:ln w="0">
            <a:solidFill>
              <a:srgbClr val="D84D4D"/>
            </a:solidFill>
            <a:prstDash val="solid"/>
          </a:ln>
        </p:spPr>
        <p:txBody>
          <a:bodyPr/>
          <a:lstStyle/>
          <a:p>
            <a:endParaRPr sz="2000"/>
          </a:p>
        </p:txBody>
      </p:sp>
      <p:sp>
        <p:nvSpPr>
          <p:cNvPr id="522" name="RQ6-badge-text">
            <a:extLst>
              <a:ext uri="{FF2B5EF4-FFF2-40B4-BE49-F238E27FC236}">
                <a16:creationId xmlns:a16="http://schemas.microsoft.com/office/drawing/2014/main" id="{1745995D-C183-40E5-9A1A-2AB93718225F}"/>
              </a:ext>
            </a:extLst>
          </p:cNvPr>
          <p:cNvSpPr>
            <a:spLocks noGrp="1"/>
          </p:cNvSpPr>
          <p:nvPr/>
        </p:nvSpPr>
        <p:spPr>
          <a:xfrm>
            <a:off x="8724900" y="35547300"/>
            <a:ext cx="742950" cy="285750"/>
          </a:xfrm>
          <a:prstGeom prst="rect">
            <a:avLst/>
          </a:prstGeom>
          <a:noFill/>
          <a:ln w="0">
            <a:noFill/>
            <a:prstDash val="solid"/>
          </a:ln>
        </p:spPr>
        <p:txBody>
          <a:bodyPr/>
          <a:lstStyle/>
          <a:p>
            <a:pPr algn="ctr">
              <a:buNone/>
              <a:defRPr sz="1800" b="1">
                <a:solidFill>
                  <a:srgbClr val="FFFFFF"/>
                </a:solidFill>
                <a:latin typeface="Arial"/>
                <a:ea typeface="Arial"/>
                <a:cs typeface="Arial"/>
              </a:defRPr>
            </a:pPr>
            <a:r>
              <a:rPr sz="2000" b="1">
                <a:solidFill>
                  <a:srgbClr val="FFFFFF"/>
                </a:solidFill>
                <a:latin typeface="Arial"/>
                <a:ea typeface="Arial"/>
                <a:cs typeface="Arial"/>
              </a:rPr>
              <a:t>RQ6</a:t>
            </a:r>
          </a:p>
        </p:txBody>
      </p:sp>
      <p:sp>
        <p:nvSpPr>
          <p:cNvPr id="523" name="RQ6-topic">
            <a:extLst>
              <a:ext uri="{FF2B5EF4-FFF2-40B4-BE49-F238E27FC236}">
                <a16:creationId xmlns:a16="http://schemas.microsoft.com/office/drawing/2014/main" id="{AD6C4961-98B9-42EC-AFCF-9225D4059F21}"/>
              </a:ext>
            </a:extLst>
          </p:cNvPr>
          <p:cNvSpPr>
            <a:spLocks noGrp="1"/>
          </p:cNvSpPr>
          <p:nvPr/>
        </p:nvSpPr>
        <p:spPr>
          <a:xfrm>
            <a:off x="9658350" y="35452050"/>
            <a:ext cx="6115050" cy="323850"/>
          </a:xfrm>
          <a:prstGeom prst="rect">
            <a:avLst/>
          </a:prstGeom>
          <a:noFill/>
          <a:ln w="0">
            <a:noFill/>
            <a:prstDash val="solid"/>
          </a:ln>
        </p:spPr>
        <p:txBody>
          <a:bodyPr/>
          <a:lstStyle/>
          <a:p>
            <a:pPr>
              <a:buNone/>
              <a:defRPr sz="1875" b="1">
                <a:solidFill>
                  <a:srgbClr val="28235C"/>
                </a:solidFill>
                <a:latin typeface="Arial"/>
                <a:ea typeface="Arial"/>
                <a:cs typeface="Arial"/>
              </a:defRPr>
            </a:pPr>
            <a:r>
              <a:rPr sz="2000" b="1">
                <a:solidFill>
                  <a:srgbClr val="28235C"/>
                </a:solidFill>
                <a:latin typeface="Arial"/>
                <a:ea typeface="Arial"/>
                <a:cs typeface="Arial"/>
              </a:rPr>
              <a:t>Reported vs. Actual Cues</a:t>
            </a:r>
          </a:p>
        </p:txBody>
      </p:sp>
      <p:sp>
        <p:nvSpPr>
          <p:cNvPr id="524" name="RQ6-finding">
            <a:extLst>
              <a:ext uri="{FF2B5EF4-FFF2-40B4-BE49-F238E27FC236}">
                <a16:creationId xmlns:a16="http://schemas.microsoft.com/office/drawing/2014/main" id="{60F98C99-4BBF-4C45-A310-4EB6B0FD95C4}"/>
              </a:ext>
            </a:extLst>
          </p:cNvPr>
          <p:cNvSpPr>
            <a:spLocks noGrp="1"/>
          </p:cNvSpPr>
          <p:nvPr/>
        </p:nvSpPr>
        <p:spPr>
          <a:xfrm>
            <a:off x="9658350" y="35833050"/>
            <a:ext cx="6115050" cy="590550"/>
          </a:xfrm>
          <a:prstGeom prst="rect">
            <a:avLst/>
          </a:prstGeom>
          <a:noFill/>
          <a:ln w="0">
            <a:noFill/>
            <a:prstDash val="solid"/>
          </a:ln>
        </p:spPr>
        <p:txBody>
          <a:bodyPr/>
          <a:lstStyle/>
          <a:p>
            <a:pPr>
              <a:buNone/>
              <a:defRPr sz="1575">
                <a:solidFill>
                  <a:srgbClr val="121426"/>
                </a:solidFill>
                <a:latin typeface="Arial"/>
                <a:ea typeface="Arial"/>
                <a:cs typeface="Arial"/>
              </a:defRPr>
            </a:pPr>
            <a:r>
              <a:rPr sz="1600">
                <a:solidFill>
                  <a:srgbClr val="121426"/>
                </a:solidFill>
                <a:latin typeface="Arial"/>
                <a:ea typeface="Arial"/>
                <a:cs typeface="Arial"/>
              </a:rPr>
              <a:t>Reported informative cues did not fully match gaze behavior; fixations stayed mostly on facial regions.</a:t>
            </a:r>
          </a:p>
        </p:txBody>
      </p:sp>
      <p:sp>
        <p:nvSpPr>
          <p:cNvPr id="525" name="challenges-panel">
            <a:extLst>
              <a:ext uri="{FF2B5EF4-FFF2-40B4-BE49-F238E27FC236}">
                <a16:creationId xmlns:a16="http://schemas.microsoft.com/office/drawing/2014/main" id="{9DA0CFF0-ACAB-4FF2-946B-9586CA838F14}"/>
              </a:ext>
            </a:extLst>
          </p:cNvPr>
          <p:cNvSpPr>
            <a:spLocks noGrp="1"/>
          </p:cNvSpPr>
          <p:nvPr/>
        </p:nvSpPr>
        <p:spPr>
          <a:xfrm>
            <a:off x="16611600" y="32137350"/>
            <a:ext cx="13239750" cy="4495800"/>
          </a:xfrm>
          <a:prstGeom prst="roundRect">
            <a:avLst>
              <a:gd name="adj" fmla="val 1271"/>
            </a:avLst>
          </a:prstGeom>
          <a:solidFill>
            <a:srgbClr val="FFFFFF"/>
          </a:solidFill>
          <a:ln w="19050">
            <a:solidFill>
              <a:srgbClr val="9BB6D3"/>
            </a:solidFill>
            <a:prstDash val="solid"/>
          </a:ln>
        </p:spPr>
        <p:txBody>
          <a:bodyPr/>
          <a:lstStyle/>
          <a:p>
            <a:endParaRPr sz="2000"/>
          </a:p>
        </p:txBody>
      </p:sp>
      <p:sp>
        <p:nvSpPr>
          <p:cNvPr id="526" name="challenges-panel-accent">
            <a:extLst>
              <a:ext uri="{FF2B5EF4-FFF2-40B4-BE49-F238E27FC236}">
                <a16:creationId xmlns:a16="http://schemas.microsoft.com/office/drawing/2014/main" id="{DBC98459-C92F-4191-9F01-AB40C6D029BC}"/>
              </a:ext>
            </a:extLst>
          </p:cNvPr>
          <p:cNvSpPr>
            <a:spLocks noGrp="1"/>
          </p:cNvSpPr>
          <p:nvPr/>
        </p:nvSpPr>
        <p:spPr>
          <a:xfrm>
            <a:off x="16611600" y="32137350"/>
            <a:ext cx="13239750" cy="133350"/>
          </a:xfrm>
          <a:prstGeom prst="rect">
            <a:avLst/>
          </a:prstGeom>
          <a:solidFill>
            <a:srgbClr val="28235C"/>
          </a:solidFill>
          <a:ln w="0">
            <a:solidFill>
              <a:srgbClr val="28235C"/>
            </a:solidFill>
            <a:prstDash val="solid"/>
          </a:ln>
        </p:spPr>
        <p:txBody>
          <a:bodyPr/>
          <a:lstStyle/>
          <a:p>
            <a:endParaRPr sz="2000"/>
          </a:p>
        </p:txBody>
      </p:sp>
      <p:sp>
        <p:nvSpPr>
          <p:cNvPr id="527" name="challenges-panel-title">
            <a:extLst>
              <a:ext uri="{FF2B5EF4-FFF2-40B4-BE49-F238E27FC236}">
                <a16:creationId xmlns:a16="http://schemas.microsoft.com/office/drawing/2014/main" id="{1A35F3FB-87FB-4568-96FD-1CFE3065D003}"/>
              </a:ext>
            </a:extLst>
          </p:cNvPr>
          <p:cNvSpPr>
            <a:spLocks noGrp="1"/>
          </p:cNvSpPr>
          <p:nvPr/>
        </p:nvSpPr>
        <p:spPr>
          <a:xfrm>
            <a:off x="16878300" y="32480250"/>
            <a:ext cx="12668250" cy="400050"/>
          </a:xfrm>
          <a:prstGeom prst="rect">
            <a:avLst/>
          </a:prstGeom>
          <a:noFill/>
          <a:ln w="0">
            <a:noFill/>
            <a:prstDash val="solid"/>
          </a:ln>
        </p:spPr>
        <p:txBody>
          <a:bodyPr/>
          <a:lstStyle/>
          <a:p>
            <a:pPr algn="ctr">
              <a:buNone/>
              <a:defRPr sz="2550" b="1">
                <a:solidFill>
                  <a:srgbClr val="28235C"/>
                </a:solidFill>
                <a:latin typeface="Arial"/>
                <a:ea typeface="Arial"/>
                <a:cs typeface="Arial"/>
              </a:defRPr>
            </a:pPr>
            <a:r>
              <a:rPr sz="2800" b="1">
                <a:solidFill>
                  <a:srgbClr val="28235C"/>
                </a:solidFill>
                <a:latin typeface="Arial"/>
                <a:ea typeface="Arial"/>
                <a:cs typeface="Arial"/>
              </a:rPr>
              <a:t>Challenges Affecting Interpretation</a:t>
            </a:r>
          </a:p>
        </p:txBody>
      </p:sp>
      <p:sp>
        <p:nvSpPr>
          <p:cNvPr id="528" name="challenge-calibration-box">
            <a:extLst>
              <a:ext uri="{FF2B5EF4-FFF2-40B4-BE49-F238E27FC236}">
                <a16:creationId xmlns:a16="http://schemas.microsoft.com/office/drawing/2014/main" id="{70CC03F8-69D9-44E3-A7AD-82555B92F349}"/>
              </a:ext>
            </a:extLst>
          </p:cNvPr>
          <p:cNvSpPr>
            <a:spLocks noGrp="1"/>
          </p:cNvSpPr>
          <p:nvPr/>
        </p:nvSpPr>
        <p:spPr>
          <a:xfrm>
            <a:off x="16954500" y="33099375"/>
            <a:ext cx="6096000" cy="1066800"/>
          </a:xfrm>
          <a:prstGeom prst="roundRect">
            <a:avLst>
              <a:gd name="adj" fmla="val 5357"/>
            </a:avLst>
          </a:prstGeom>
          <a:solidFill>
            <a:srgbClr val="FFFFFF"/>
          </a:solidFill>
          <a:ln w="19050">
            <a:solidFill>
              <a:srgbClr val="9BB6D3"/>
            </a:solidFill>
            <a:prstDash val="solid"/>
          </a:ln>
        </p:spPr>
        <p:txBody>
          <a:bodyPr/>
          <a:lstStyle/>
          <a:p>
            <a:endParaRPr sz="2000"/>
          </a:p>
        </p:txBody>
      </p:sp>
      <p:sp>
        <p:nvSpPr>
          <p:cNvPr id="529" name="challenge-calibration-accent">
            <a:extLst>
              <a:ext uri="{FF2B5EF4-FFF2-40B4-BE49-F238E27FC236}">
                <a16:creationId xmlns:a16="http://schemas.microsoft.com/office/drawing/2014/main" id="{5E29D864-4885-4D1E-B51E-E0A0E2E57D6B}"/>
              </a:ext>
            </a:extLst>
          </p:cNvPr>
          <p:cNvSpPr>
            <a:spLocks noGrp="1"/>
          </p:cNvSpPr>
          <p:nvPr/>
        </p:nvSpPr>
        <p:spPr>
          <a:xfrm>
            <a:off x="16954500" y="33099375"/>
            <a:ext cx="6096000" cy="95250"/>
          </a:xfrm>
          <a:prstGeom prst="rect">
            <a:avLst/>
          </a:prstGeom>
          <a:solidFill>
            <a:srgbClr val="14A098"/>
          </a:solidFill>
          <a:ln w="0">
            <a:solidFill>
              <a:srgbClr val="14A098"/>
            </a:solidFill>
            <a:prstDash val="solid"/>
          </a:ln>
        </p:spPr>
        <p:txBody>
          <a:bodyPr/>
          <a:lstStyle/>
          <a:p>
            <a:endParaRPr sz="2000"/>
          </a:p>
        </p:txBody>
      </p:sp>
      <p:sp>
        <p:nvSpPr>
          <p:cNvPr id="530" name="challenge-calibration-title">
            <a:extLst>
              <a:ext uri="{FF2B5EF4-FFF2-40B4-BE49-F238E27FC236}">
                <a16:creationId xmlns:a16="http://schemas.microsoft.com/office/drawing/2014/main" id="{0F63539D-AE76-44A9-B00C-6D0568434A89}"/>
              </a:ext>
            </a:extLst>
          </p:cNvPr>
          <p:cNvSpPr>
            <a:spLocks noGrp="1"/>
          </p:cNvSpPr>
          <p:nvPr/>
        </p:nvSpPr>
        <p:spPr>
          <a:xfrm>
            <a:off x="17164050" y="33347025"/>
            <a:ext cx="5676900" cy="285750"/>
          </a:xfrm>
          <a:prstGeom prst="rect">
            <a:avLst/>
          </a:prstGeom>
          <a:noFill/>
          <a:ln w="0">
            <a:noFill/>
            <a:prstDash val="solid"/>
          </a:ln>
        </p:spPr>
        <p:txBody>
          <a:bodyPr/>
          <a:lstStyle/>
          <a:p>
            <a:pPr>
              <a:buNone/>
              <a:defRPr sz="1875" b="1">
                <a:solidFill>
                  <a:srgbClr val="28235C"/>
                </a:solidFill>
                <a:latin typeface="Arial"/>
                <a:ea typeface="Arial"/>
                <a:cs typeface="Arial"/>
              </a:defRPr>
            </a:pPr>
            <a:r>
              <a:rPr sz="2000" b="1">
                <a:solidFill>
                  <a:srgbClr val="28235C"/>
                </a:solidFill>
                <a:latin typeface="Arial"/>
                <a:ea typeface="Arial"/>
                <a:cs typeface="Arial"/>
              </a:rPr>
              <a:t>Calibration Quality</a:t>
            </a:r>
          </a:p>
        </p:txBody>
      </p:sp>
      <p:sp>
        <p:nvSpPr>
          <p:cNvPr id="531" name="challenge-calibration-body">
            <a:extLst>
              <a:ext uri="{FF2B5EF4-FFF2-40B4-BE49-F238E27FC236}">
                <a16:creationId xmlns:a16="http://schemas.microsoft.com/office/drawing/2014/main" id="{58CC05CF-3A21-495E-9604-0FEE08D7BA88}"/>
              </a:ext>
            </a:extLst>
          </p:cNvPr>
          <p:cNvSpPr>
            <a:spLocks noGrp="1"/>
          </p:cNvSpPr>
          <p:nvPr/>
        </p:nvSpPr>
        <p:spPr>
          <a:xfrm>
            <a:off x="17164050" y="33689925"/>
            <a:ext cx="5676900" cy="361950"/>
          </a:xfrm>
          <a:prstGeom prst="rect">
            <a:avLst/>
          </a:prstGeom>
          <a:noFill/>
          <a:ln w="0">
            <a:noFill/>
            <a:prstDash val="solid"/>
          </a:ln>
        </p:spPr>
        <p:txBody>
          <a:bodyPr/>
          <a:lstStyle/>
          <a:p>
            <a:pPr>
              <a:buNone/>
              <a:defRPr sz="1575">
                <a:solidFill>
                  <a:srgbClr val="405372"/>
                </a:solidFill>
                <a:latin typeface="Arial"/>
                <a:ea typeface="Arial"/>
                <a:cs typeface="Arial"/>
              </a:defRPr>
            </a:pPr>
            <a:r>
              <a:rPr sz="1600">
                <a:solidFill>
                  <a:srgbClr val="405372"/>
                </a:solidFill>
                <a:latin typeface="Arial"/>
                <a:ea typeface="Arial"/>
                <a:cs typeface="Arial"/>
              </a:rPr>
              <a:t>Lighting, blinking, head movement and glasses affected tracking reliability.</a:t>
            </a:r>
          </a:p>
        </p:txBody>
      </p:sp>
      <p:sp>
        <p:nvSpPr>
          <p:cNvPr id="532" name="challenge-video-box">
            <a:extLst>
              <a:ext uri="{FF2B5EF4-FFF2-40B4-BE49-F238E27FC236}">
                <a16:creationId xmlns:a16="http://schemas.microsoft.com/office/drawing/2014/main" id="{3DF73075-8CA8-4569-B709-A49E606D2851}"/>
              </a:ext>
            </a:extLst>
          </p:cNvPr>
          <p:cNvSpPr>
            <a:spLocks noGrp="1"/>
          </p:cNvSpPr>
          <p:nvPr/>
        </p:nvSpPr>
        <p:spPr>
          <a:xfrm>
            <a:off x="23412450" y="33099375"/>
            <a:ext cx="6096000" cy="1066800"/>
          </a:xfrm>
          <a:prstGeom prst="roundRect">
            <a:avLst>
              <a:gd name="adj" fmla="val 5357"/>
            </a:avLst>
          </a:prstGeom>
          <a:solidFill>
            <a:srgbClr val="FFFFFF"/>
          </a:solidFill>
          <a:ln w="19050">
            <a:solidFill>
              <a:srgbClr val="9BB6D3"/>
            </a:solidFill>
            <a:prstDash val="solid"/>
          </a:ln>
        </p:spPr>
        <p:txBody>
          <a:bodyPr/>
          <a:lstStyle/>
          <a:p>
            <a:endParaRPr sz="2000"/>
          </a:p>
        </p:txBody>
      </p:sp>
      <p:sp>
        <p:nvSpPr>
          <p:cNvPr id="533" name="challenge-video-accent">
            <a:extLst>
              <a:ext uri="{FF2B5EF4-FFF2-40B4-BE49-F238E27FC236}">
                <a16:creationId xmlns:a16="http://schemas.microsoft.com/office/drawing/2014/main" id="{B0B07E32-842C-4501-86B5-0984544D0543}"/>
              </a:ext>
            </a:extLst>
          </p:cNvPr>
          <p:cNvSpPr>
            <a:spLocks noGrp="1"/>
          </p:cNvSpPr>
          <p:nvPr/>
        </p:nvSpPr>
        <p:spPr>
          <a:xfrm>
            <a:off x="23412450" y="33099375"/>
            <a:ext cx="6096000" cy="95250"/>
          </a:xfrm>
          <a:prstGeom prst="rect">
            <a:avLst/>
          </a:prstGeom>
          <a:solidFill>
            <a:srgbClr val="3975A8"/>
          </a:solidFill>
          <a:ln w="0">
            <a:solidFill>
              <a:srgbClr val="3975A8"/>
            </a:solidFill>
            <a:prstDash val="solid"/>
          </a:ln>
        </p:spPr>
        <p:txBody>
          <a:bodyPr/>
          <a:lstStyle/>
          <a:p>
            <a:endParaRPr sz="2000"/>
          </a:p>
        </p:txBody>
      </p:sp>
      <p:sp>
        <p:nvSpPr>
          <p:cNvPr id="534" name="challenge-video-title">
            <a:extLst>
              <a:ext uri="{FF2B5EF4-FFF2-40B4-BE49-F238E27FC236}">
                <a16:creationId xmlns:a16="http://schemas.microsoft.com/office/drawing/2014/main" id="{0961CD44-8339-46EB-8D85-69B39FB2FF99}"/>
              </a:ext>
            </a:extLst>
          </p:cNvPr>
          <p:cNvSpPr>
            <a:spLocks noGrp="1"/>
          </p:cNvSpPr>
          <p:nvPr/>
        </p:nvSpPr>
        <p:spPr>
          <a:xfrm>
            <a:off x="23622000" y="33347025"/>
            <a:ext cx="5676900" cy="285750"/>
          </a:xfrm>
          <a:prstGeom prst="rect">
            <a:avLst/>
          </a:prstGeom>
          <a:noFill/>
          <a:ln w="0">
            <a:noFill/>
            <a:prstDash val="solid"/>
          </a:ln>
        </p:spPr>
        <p:txBody>
          <a:bodyPr/>
          <a:lstStyle/>
          <a:p>
            <a:pPr>
              <a:buNone/>
              <a:defRPr sz="1875" b="1">
                <a:solidFill>
                  <a:srgbClr val="28235C"/>
                </a:solidFill>
                <a:latin typeface="Arial"/>
                <a:ea typeface="Arial"/>
                <a:cs typeface="Arial"/>
              </a:defRPr>
            </a:pPr>
            <a:r>
              <a:rPr sz="2000" b="1">
                <a:solidFill>
                  <a:srgbClr val="28235C"/>
                </a:solidFill>
                <a:latin typeface="Arial"/>
                <a:ea typeface="Arial"/>
                <a:cs typeface="Arial"/>
              </a:rPr>
              <a:t>Video Variability</a:t>
            </a:r>
          </a:p>
        </p:txBody>
      </p:sp>
      <p:sp>
        <p:nvSpPr>
          <p:cNvPr id="535" name="challenge-video-body">
            <a:extLst>
              <a:ext uri="{FF2B5EF4-FFF2-40B4-BE49-F238E27FC236}">
                <a16:creationId xmlns:a16="http://schemas.microsoft.com/office/drawing/2014/main" id="{45438182-EA0A-4512-9B46-08F9FE8D002D}"/>
              </a:ext>
            </a:extLst>
          </p:cNvPr>
          <p:cNvSpPr>
            <a:spLocks noGrp="1"/>
          </p:cNvSpPr>
          <p:nvPr/>
        </p:nvSpPr>
        <p:spPr>
          <a:xfrm>
            <a:off x="23622000" y="33689925"/>
            <a:ext cx="5676900" cy="361950"/>
          </a:xfrm>
          <a:prstGeom prst="rect">
            <a:avLst/>
          </a:prstGeom>
          <a:noFill/>
          <a:ln w="0">
            <a:noFill/>
            <a:prstDash val="solid"/>
          </a:ln>
        </p:spPr>
        <p:txBody>
          <a:bodyPr/>
          <a:lstStyle/>
          <a:p>
            <a:pPr>
              <a:buNone/>
              <a:defRPr sz="1575">
                <a:solidFill>
                  <a:srgbClr val="405372"/>
                </a:solidFill>
                <a:latin typeface="Arial"/>
                <a:ea typeface="Arial"/>
                <a:cs typeface="Arial"/>
              </a:defRPr>
            </a:pPr>
            <a:r>
              <a:rPr sz="1600">
                <a:solidFill>
                  <a:srgbClr val="405372"/>
                </a:solidFill>
                <a:latin typeface="Arial"/>
                <a:ea typeface="Arial"/>
                <a:cs typeface="Arial"/>
              </a:rPr>
              <a:t>Movement, camera angle and AOI visibility changed how clear each situation was.</a:t>
            </a:r>
          </a:p>
        </p:txBody>
      </p:sp>
      <p:sp>
        <p:nvSpPr>
          <p:cNvPr id="536" name="challenge-sample-box">
            <a:extLst>
              <a:ext uri="{FF2B5EF4-FFF2-40B4-BE49-F238E27FC236}">
                <a16:creationId xmlns:a16="http://schemas.microsoft.com/office/drawing/2014/main" id="{3F82EEE9-AD76-41AC-91A6-5E9C0597DBDF}"/>
              </a:ext>
            </a:extLst>
          </p:cNvPr>
          <p:cNvSpPr>
            <a:spLocks noGrp="1"/>
          </p:cNvSpPr>
          <p:nvPr/>
        </p:nvSpPr>
        <p:spPr>
          <a:xfrm>
            <a:off x="16954500" y="34385250"/>
            <a:ext cx="6096000" cy="1066800"/>
          </a:xfrm>
          <a:prstGeom prst="roundRect">
            <a:avLst>
              <a:gd name="adj" fmla="val 5357"/>
            </a:avLst>
          </a:prstGeom>
          <a:solidFill>
            <a:srgbClr val="FFFFFF"/>
          </a:solidFill>
          <a:ln w="19050">
            <a:solidFill>
              <a:srgbClr val="9BB6D3"/>
            </a:solidFill>
            <a:prstDash val="solid"/>
          </a:ln>
        </p:spPr>
        <p:txBody>
          <a:bodyPr/>
          <a:lstStyle/>
          <a:p>
            <a:endParaRPr sz="2000"/>
          </a:p>
        </p:txBody>
      </p:sp>
      <p:sp>
        <p:nvSpPr>
          <p:cNvPr id="537" name="challenge-sample-accent">
            <a:extLst>
              <a:ext uri="{FF2B5EF4-FFF2-40B4-BE49-F238E27FC236}">
                <a16:creationId xmlns:a16="http://schemas.microsoft.com/office/drawing/2014/main" id="{8D75370A-1009-4435-BB17-999ADDBC97C3}"/>
              </a:ext>
            </a:extLst>
          </p:cNvPr>
          <p:cNvSpPr>
            <a:spLocks noGrp="1"/>
          </p:cNvSpPr>
          <p:nvPr/>
        </p:nvSpPr>
        <p:spPr>
          <a:xfrm>
            <a:off x="16954500" y="34385250"/>
            <a:ext cx="6096000" cy="95250"/>
          </a:xfrm>
          <a:prstGeom prst="rect">
            <a:avLst/>
          </a:prstGeom>
          <a:solidFill>
            <a:srgbClr val="F27C38"/>
          </a:solidFill>
          <a:ln w="0">
            <a:solidFill>
              <a:srgbClr val="F27C38"/>
            </a:solidFill>
            <a:prstDash val="solid"/>
          </a:ln>
        </p:spPr>
        <p:txBody>
          <a:bodyPr/>
          <a:lstStyle/>
          <a:p>
            <a:endParaRPr sz="2000"/>
          </a:p>
        </p:txBody>
      </p:sp>
      <p:sp>
        <p:nvSpPr>
          <p:cNvPr id="538" name="challenge-sample-title">
            <a:extLst>
              <a:ext uri="{FF2B5EF4-FFF2-40B4-BE49-F238E27FC236}">
                <a16:creationId xmlns:a16="http://schemas.microsoft.com/office/drawing/2014/main" id="{A0EE58E9-FFA0-44D7-8B0F-EF6738846738}"/>
              </a:ext>
            </a:extLst>
          </p:cNvPr>
          <p:cNvSpPr>
            <a:spLocks noGrp="1"/>
          </p:cNvSpPr>
          <p:nvPr/>
        </p:nvSpPr>
        <p:spPr>
          <a:xfrm>
            <a:off x="17164050" y="34632900"/>
            <a:ext cx="5676900" cy="285750"/>
          </a:xfrm>
          <a:prstGeom prst="rect">
            <a:avLst/>
          </a:prstGeom>
          <a:noFill/>
          <a:ln w="0">
            <a:noFill/>
            <a:prstDash val="solid"/>
          </a:ln>
        </p:spPr>
        <p:txBody>
          <a:bodyPr/>
          <a:lstStyle/>
          <a:p>
            <a:pPr>
              <a:buNone/>
              <a:defRPr sz="1875" b="1">
                <a:solidFill>
                  <a:srgbClr val="28235C"/>
                </a:solidFill>
                <a:latin typeface="Arial"/>
                <a:ea typeface="Arial"/>
                <a:cs typeface="Arial"/>
              </a:defRPr>
            </a:pPr>
            <a:r>
              <a:rPr sz="2000" b="1">
                <a:solidFill>
                  <a:srgbClr val="28235C"/>
                </a:solidFill>
                <a:latin typeface="Arial"/>
                <a:ea typeface="Arial"/>
                <a:cs typeface="Arial"/>
              </a:rPr>
              <a:t>Sample Limits</a:t>
            </a:r>
          </a:p>
        </p:txBody>
      </p:sp>
      <p:sp>
        <p:nvSpPr>
          <p:cNvPr id="539" name="challenge-sample-body">
            <a:extLst>
              <a:ext uri="{FF2B5EF4-FFF2-40B4-BE49-F238E27FC236}">
                <a16:creationId xmlns:a16="http://schemas.microsoft.com/office/drawing/2014/main" id="{93098067-AFD5-4305-BC8C-85405E3C9FD4}"/>
              </a:ext>
            </a:extLst>
          </p:cNvPr>
          <p:cNvSpPr>
            <a:spLocks noGrp="1"/>
          </p:cNvSpPr>
          <p:nvPr/>
        </p:nvSpPr>
        <p:spPr>
          <a:xfrm>
            <a:off x="17164050" y="34975800"/>
            <a:ext cx="5676900" cy="361950"/>
          </a:xfrm>
          <a:prstGeom prst="rect">
            <a:avLst/>
          </a:prstGeom>
          <a:noFill/>
          <a:ln w="0">
            <a:noFill/>
            <a:prstDash val="solid"/>
          </a:ln>
        </p:spPr>
        <p:txBody>
          <a:bodyPr/>
          <a:lstStyle/>
          <a:p>
            <a:pPr>
              <a:buNone/>
              <a:defRPr sz="1575">
                <a:solidFill>
                  <a:srgbClr val="405372"/>
                </a:solidFill>
                <a:latin typeface="Arial"/>
                <a:ea typeface="Arial"/>
                <a:cs typeface="Arial"/>
              </a:defRPr>
            </a:pPr>
            <a:r>
              <a:rPr sz="1600">
                <a:solidFill>
                  <a:srgbClr val="405372"/>
                </a:solidFill>
                <a:latin typeface="Arial"/>
                <a:ea typeface="Arial"/>
                <a:cs typeface="Arial"/>
              </a:rPr>
              <a:t>The study used 30 young adult participants and had an imbalanced gender split.</a:t>
            </a:r>
          </a:p>
        </p:txBody>
      </p:sp>
      <p:sp>
        <p:nvSpPr>
          <p:cNvPr id="540" name="challenge-stats-box">
            <a:extLst>
              <a:ext uri="{FF2B5EF4-FFF2-40B4-BE49-F238E27FC236}">
                <a16:creationId xmlns:a16="http://schemas.microsoft.com/office/drawing/2014/main" id="{DD038F8D-2FE3-463B-96D0-14908F2C6A44}"/>
              </a:ext>
            </a:extLst>
          </p:cNvPr>
          <p:cNvSpPr>
            <a:spLocks noGrp="1"/>
          </p:cNvSpPr>
          <p:nvPr/>
        </p:nvSpPr>
        <p:spPr>
          <a:xfrm>
            <a:off x="23412450" y="34385250"/>
            <a:ext cx="6096000" cy="1066800"/>
          </a:xfrm>
          <a:prstGeom prst="roundRect">
            <a:avLst>
              <a:gd name="adj" fmla="val 5357"/>
            </a:avLst>
          </a:prstGeom>
          <a:solidFill>
            <a:srgbClr val="FFFFFF"/>
          </a:solidFill>
          <a:ln w="19050">
            <a:solidFill>
              <a:srgbClr val="9BB6D3"/>
            </a:solidFill>
            <a:prstDash val="solid"/>
          </a:ln>
        </p:spPr>
        <p:txBody>
          <a:bodyPr/>
          <a:lstStyle/>
          <a:p>
            <a:endParaRPr sz="2000"/>
          </a:p>
        </p:txBody>
      </p:sp>
      <p:sp>
        <p:nvSpPr>
          <p:cNvPr id="541" name="challenge-stats-accent">
            <a:extLst>
              <a:ext uri="{FF2B5EF4-FFF2-40B4-BE49-F238E27FC236}">
                <a16:creationId xmlns:a16="http://schemas.microsoft.com/office/drawing/2014/main" id="{5AF93F7C-B454-42F4-A045-73EECBBA890F}"/>
              </a:ext>
            </a:extLst>
          </p:cNvPr>
          <p:cNvSpPr>
            <a:spLocks noGrp="1"/>
          </p:cNvSpPr>
          <p:nvPr/>
        </p:nvSpPr>
        <p:spPr>
          <a:xfrm>
            <a:off x="23412450" y="34385250"/>
            <a:ext cx="6096000" cy="95250"/>
          </a:xfrm>
          <a:prstGeom prst="rect">
            <a:avLst/>
          </a:prstGeom>
          <a:solidFill>
            <a:srgbClr val="D84D4D"/>
          </a:solidFill>
          <a:ln w="0">
            <a:solidFill>
              <a:srgbClr val="D84D4D"/>
            </a:solidFill>
            <a:prstDash val="solid"/>
          </a:ln>
        </p:spPr>
        <p:txBody>
          <a:bodyPr/>
          <a:lstStyle/>
          <a:p>
            <a:endParaRPr sz="2000"/>
          </a:p>
        </p:txBody>
      </p:sp>
      <p:sp>
        <p:nvSpPr>
          <p:cNvPr id="542" name="challenge-stats-title">
            <a:extLst>
              <a:ext uri="{FF2B5EF4-FFF2-40B4-BE49-F238E27FC236}">
                <a16:creationId xmlns:a16="http://schemas.microsoft.com/office/drawing/2014/main" id="{4BDB2748-FB34-40CF-9DC9-1A5A96AD69B8}"/>
              </a:ext>
            </a:extLst>
          </p:cNvPr>
          <p:cNvSpPr>
            <a:spLocks noGrp="1"/>
          </p:cNvSpPr>
          <p:nvPr/>
        </p:nvSpPr>
        <p:spPr>
          <a:xfrm>
            <a:off x="23622000" y="34632900"/>
            <a:ext cx="5676900" cy="285750"/>
          </a:xfrm>
          <a:prstGeom prst="rect">
            <a:avLst/>
          </a:prstGeom>
          <a:noFill/>
          <a:ln w="0">
            <a:noFill/>
            <a:prstDash val="solid"/>
          </a:ln>
        </p:spPr>
        <p:txBody>
          <a:bodyPr/>
          <a:lstStyle/>
          <a:p>
            <a:pPr>
              <a:buNone/>
              <a:defRPr sz="1875" b="1">
                <a:solidFill>
                  <a:srgbClr val="28235C"/>
                </a:solidFill>
                <a:latin typeface="Arial"/>
                <a:ea typeface="Arial"/>
                <a:cs typeface="Arial"/>
              </a:defRPr>
            </a:pPr>
            <a:r>
              <a:rPr sz="2000" b="1">
                <a:solidFill>
                  <a:srgbClr val="28235C"/>
                </a:solidFill>
                <a:latin typeface="Arial"/>
                <a:ea typeface="Arial"/>
                <a:cs typeface="Arial"/>
              </a:rPr>
              <a:t>Exploratory Analysis</a:t>
            </a:r>
          </a:p>
        </p:txBody>
      </p:sp>
      <p:sp>
        <p:nvSpPr>
          <p:cNvPr id="543" name="challenge-stats-body">
            <a:extLst>
              <a:ext uri="{FF2B5EF4-FFF2-40B4-BE49-F238E27FC236}">
                <a16:creationId xmlns:a16="http://schemas.microsoft.com/office/drawing/2014/main" id="{ABD2B967-B910-434A-9A4D-0C750CA0C11A}"/>
              </a:ext>
            </a:extLst>
          </p:cNvPr>
          <p:cNvSpPr>
            <a:spLocks noGrp="1"/>
          </p:cNvSpPr>
          <p:nvPr/>
        </p:nvSpPr>
        <p:spPr>
          <a:xfrm>
            <a:off x="23622000" y="34975800"/>
            <a:ext cx="5676900" cy="361950"/>
          </a:xfrm>
          <a:prstGeom prst="rect">
            <a:avLst/>
          </a:prstGeom>
          <a:noFill/>
          <a:ln w="0">
            <a:noFill/>
            <a:prstDash val="solid"/>
          </a:ln>
        </p:spPr>
        <p:txBody>
          <a:bodyPr/>
          <a:lstStyle/>
          <a:p>
            <a:pPr>
              <a:buNone/>
              <a:defRPr sz="1575">
                <a:solidFill>
                  <a:srgbClr val="405372"/>
                </a:solidFill>
                <a:latin typeface="Arial"/>
                <a:ea typeface="Arial"/>
                <a:cs typeface="Arial"/>
              </a:defRPr>
            </a:pPr>
            <a:r>
              <a:rPr sz="1600">
                <a:solidFill>
                  <a:srgbClr val="405372"/>
                </a:solidFill>
                <a:latin typeface="Arial"/>
                <a:ea typeface="Arial"/>
                <a:cs typeface="Arial"/>
              </a:rPr>
              <a:t>Findings are descriptive patterns, not statistically confirmed effects.</a:t>
            </a:r>
          </a:p>
        </p:txBody>
      </p:sp>
      <p:sp>
        <p:nvSpPr>
          <p:cNvPr id="544" name="challenge-panel-note">
            <a:extLst>
              <a:ext uri="{FF2B5EF4-FFF2-40B4-BE49-F238E27FC236}">
                <a16:creationId xmlns:a16="http://schemas.microsoft.com/office/drawing/2014/main" id="{0123CBB6-0524-4D4B-A23C-6A56C3C7925C}"/>
              </a:ext>
            </a:extLst>
          </p:cNvPr>
          <p:cNvSpPr>
            <a:spLocks noGrp="1"/>
          </p:cNvSpPr>
          <p:nvPr/>
        </p:nvSpPr>
        <p:spPr>
          <a:xfrm>
            <a:off x="17087850" y="35775900"/>
            <a:ext cx="12287250" cy="438150"/>
          </a:xfrm>
          <a:prstGeom prst="rect">
            <a:avLst/>
          </a:prstGeom>
          <a:noFill/>
          <a:ln w="0">
            <a:noFill/>
            <a:prstDash val="solid"/>
          </a:ln>
        </p:spPr>
        <p:txBody>
          <a:bodyPr/>
          <a:lstStyle/>
          <a:p>
            <a:pPr algn="ctr">
              <a:buNone/>
              <a:defRPr sz="1875" b="1">
                <a:solidFill>
                  <a:srgbClr val="28235C"/>
                </a:solidFill>
                <a:latin typeface="Arial"/>
                <a:ea typeface="Arial"/>
                <a:cs typeface="Arial"/>
              </a:defRPr>
            </a:pPr>
            <a:r>
              <a:rPr sz="2000" b="1">
                <a:solidFill>
                  <a:srgbClr val="28235C"/>
                </a:solidFill>
                <a:latin typeface="Arial"/>
                <a:ea typeface="Arial"/>
                <a:cs typeface="Arial"/>
              </a:rPr>
              <a:t>These constraints explain why the findings are presented as observed patterns rather than universal claims.</a:t>
            </a:r>
          </a:p>
        </p:txBody>
      </p:sp>
      <p:sp>
        <p:nvSpPr>
          <p:cNvPr id="545" name="rq-challenges-takeaway">
            <a:extLst>
              <a:ext uri="{FF2B5EF4-FFF2-40B4-BE49-F238E27FC236}">
                <a16:creationId xmlns:a16="http://schemas.microsoft.com/office/drawing/2014/main" id="{57AF95C2-E4AB-4A5C-83F1-AF43DB1754F3}"/>
              </a:ext>
            </a:extLst>
          </p:cNvPr>
          <p:cNvSpPr>
            <a:spLocks noGrp="1"/>
          </p:cNvSpPr>
          <p:nvPr/>
        </p:nvSpPr>
        <p:spPr>
          <a:xfrm>
            <a:off x="762000" y="37033200"/>
            <a:ext cx="28956000" cy="609600"/>
          </a:xfrm>
          <a:prstGeom prst="rect">
            <a:avLst/>
          </a:prstGeom>
          <a:noFill/>
          <a:ln w="0">
            <a:noFill/>
            <a:prstDash val="solid"/>
          </a:ln>
        </p:spPr>
        <p:txBody>
          <a:bodyPr/>
          <a:lstStyle/>
          <a:p>
            <a:pPr algn="ctr">
              <a:buNone/>
              <a:defRPr sz="2175" b="1">
                <a:solidFill>
                  <a:srgbClr val="28235C"/>
                </a:solidFill>
                <a:latin typeface="Arial"/>
                <a:ea typeface="Arial"/>
                <a:cs typeface="Arial"/>
              </a:defRPr>
            </a:pPr>
            <a:r>
              <a:rPr sz="2400" b="1">
                <a:solidFill>
                  <a:srgbClr val="28235C"/>
                </a:solidFill>
                <a:latin typeface="Arial"/>
                <a:ea typeface="Arial"/>
                <a:cs typeface="Arial"/>
              </a:rPr>
              <a:t>Overall: gaze focused mainly on facial regions, but interpretation changed with context, visibility, movement and uncertainty.</a:t>
            </a:r>
          </a:p>
        </p:txBody>
      </p:sp>
      <p:sp>
        <p:nvSpPr>
          <p:cNvPr id="556" name="rq-section-mask">
            <a:extLst>
              <a:ext uri="{FF2B5EF4-FFF2-40B4-BE49-F238E27FC236}">
                <a16:creationId xmlns:a16="http://schemas.microsoft.com/office/drawing/2014/main" id="{3789C72D-29FE-4F5F-BD1B-ED91B34828D5}"/>
              </a:ext>
            </a:extLst>
          </p:cNvPr>
          <p:cNvSpPr>
            <a:spLocks noGrp="1"/>
          </p:cNvSpPr>
          <p:nvPr/>
        </p:nvSpPr>
        <p:spPr>
          <a:xfrm>
            <a:off x="57150" y="30784800"/>
            <a:ext cx="30289500" cy="7543800"/>
          </a:xfrm>
          <a:prstGeom prst="rect">
            <a:avLst/>
          </a:prstGeom>
          <a:solidFill>
            <a:srgbClr val="EAF3FB"/>
          </a:solidFill>
          <a:ln w="0">
            <a:solidFill>
              <a:srgbClr val="EAF3FB"/>
            </a:solidFill>
            <a:prstDash val="solid"/>
          </a:ln>
        </p:spPr>
        <p:txBody>
          <a:bodyPr/>
          <a:lstStyle/>
          <a:p>
            <a:pPr marL="0" indent="0" algn="l">
              <a:buNone/>
            </a:pPr>
            <a:endParaRPr sz="2000"/>
          </a:p>
        </p:txBody>
      </p:sp>
      <p:sp>
        <p:nvSpPr>
          <p:cNvPr id="557" name="rq-section-box">
            <a:extLst>
              <a:ext uri="{FF2B5EF4-FFF2-40B4-BE49-F238E27FC236}">
                <a16:creationId xmlns:a16="http://schemas.microsoft.com/office/drawing/2014/main" id="{ABD4B988-690E-4F20-8459-03D0786B3247}"/>
              </a:ext>
            </a:extLst>
          </p:cNvPr>
          <p:cNvSpPr>
            <a:spLocks noGrp="1"/>
          </p:cNvSpPr>
          <p:nvPr/>
        </p:nvSpPr>
        <p:spPr>
          <a:xfrm>
            <a:off x="152400" y="30813375"/>
            <a:ext cx="30175200" cy="7524750"/>
          </a:xfrm>
          <a:prstGeom prst="roundRect">
            <a:avLst>
              <a:gd name="adj" fmla="val 759"/>
            </a:avLst>
          </a:prstGeom>
          <a:solidFill>
            <a:srgbClr val="EAF3FB"/>
          </a:solidFill>
          <a:ln w="28575">
            <a:solidFill>
              <a:srgbClr val="28235C"/>
            </a:solidFill>
            <a:prstDash val="solid"/>
          </a:ln>
        </p:spPr>
        <p:txBody>
          <a:bodyPr/>
          <a:lstStyle/>
          <a:p>
            <a:pPr marL="0" indent="0" algn="l" defTabSz="914400" rtl="0">
              <a:buNone/>
            </a:pPr>
            <a:endParaRPr sz="2000"/>
          </a:p>
        </p:txBody>
      </p:sp>
      <p:sp>
        <p:nvSpPr>
          <p:cNvPr id="558" name="rq-section-title">
            <a:extLst>
              <a:ext uri="{FF2B5EF4-FFF2-40B4-BE49-F238E27FC236}">
                <a16:creationId xmlns:a16="http://schemas.microsoft.com/office/drawing/2014/main" id="{A65156D3-F98B-40D0-A98A-1420D2086FBC}"/>
              </a:ext>
            </a:extLst>
          </p:cNvPr>
          <p:cNvSpPr>
            <a:spLocks noGrp="1"/>
          </p:cNvSpPr>
          <p:nvPr/>
        </p:nvSpPr>
        <p:spPr>
          <a:xfrm>
            <a:off x="419100" y="31022925"/>
            <a:ext cx="29641800" cy="590550"/>
          </a:xfrm>
          <a:prstGeom prst="rect">
            <a:avLst/>
          </a:prstGeom>
          <a:noFill/>
          <a:ln w="0">
            <a:noFill/>
            <a:prstDash val="solid"/>
          </a:ln>
        </p:spPr>
        <p:txBody>
          <a:bodyPr/>
          <a:lstStyle/>
          <a:p>
            <a:pPr>
              <a:buNone/>
              <a:defRPr sz="3450" b="1">
                <a:solidFill>
                  <a:srgbClr val="28235C"/>
                </a:solidFill>
                <a:latin typeface="Arial"/>
                <a:ea typeface="Arial"/>
                <a:cs typeface="Arial"/>
              </a:defRPr>
            </a:pPr>
            <a:r>
              <a:rPr sz="3600" b="1">
                <a:solidFill>
                  <a:srgbClr val="28235C"/>
                </a:solidFill>
                <a:latin typeface="Arial"/>
                <a:ea typeface="Arial"/>
                <a:cs typeface="Arial"/>
              </a:rPr>
              <a:t>RESEARCH QUESTIONS &amp; FINDINGS</a:t>
            </a:r>
          </a:p>
        </p:txBody>
      </p:sp>
      <p:sp>
        <p:nvSpPr>
          <p:cNvPr id="560" name="RQ1-card">
            <a:extLst>
              <a:ext uri="{FF2B5EF4-FFF2-40B4-BE49-F238E27FC236}">
                <a16:creationId xmlns:a16="http://schemas.microsoft.com/office/drawing/2014/main" id="{B80D6290-8FCB-440E-BB39-75B4D4BAE383}"/>
              </a:ext>
            </a:extLst>
          </p:cNvPr>
          <p:cNvSpPr>
            <a:spLocks noGrp="1"/>
          </p:cNvSpPr>
          <p:nvPr/>
        </p:nvSpPr>
        <p:spPr>
          <a:xfrm>
            <a:off x="533400" y="32146874"/>
            <a:ext cx="9525000" cy="2563200"/>
          </a:xfrm>
          <a:prstGeom prst="roundRect">
            <a:avLst>
              <a:gd name="adj" fmla="val 2791"/>
            </a:avLst>
          </a:prstGeom>
          <a:solidFill>
            <a:srgbClr val="FFFFFF"/>
          </a:solidFill>
          <a:ln w="19050">
            <a:solidFill>
              <a:srgbClr val="9BB6D3"/>
            </a:solidFill>
            <a:prstDash val="solid"/>
          </a:ln>
        </p:spPr>
        <p:txBody>
          <a:bodyPr/>
          <a:lstStyle/>
          <a:p>
            <a:pPr marL="0" indent="0" algn="l" defTabSz="914400" rtl="0"/>
            <a:endParaRPr sz="2000"/>
          </a:p>
        </p:txBody>
      </p:sp>
      <p:sp>
        <p:nvSpPr>
          <p:cNvPr id="561" name="RQ1-accent">
            <a:extLst>
              <a:ext uri="{FF2B5EF4-FFF2-40B4-BE49-F238E27FC236}">
                <a16:creationId xmlns:a16="http://schemas.microsoft.com/office/drawing/2014/main" id="{C63AF5DD-CD44-4F83-B34E-39195FD60C78}"/>
              </a:ext>
            </a:extLst>
          </p:cNvPr>
          <p:cNvSpPr>
            <a:spLocks noGrp="1"/>
          </p:cNvSpPr>
          <p:nvPr/>
        </p:nvSpPr>
        <p:spPr>
          <a:xfrm>
            <a:off x="533400" y="32146875"/>
            <a:ext cx="9525000" cy="114300"/>
          </a:xfrm>
          <a:prstGeom prst="rect">
            <a:avLst/>
          </a:prstGeom>
          <a:solidFill>
            <a:srgbClr val="14A098"/>
          </a:solidFill>
          <a:ln w="0">
            <a:solidFill>
              <a:srgbClr val="14A098"/>
            </a:solidFill>
            <a:prstDash val="solid"/>
          </a:ln>
        </p:spPr>
        <p:txBody>
          <a:bodyPr/>
          <a:lstStyle/>
          <a:p>
            <a:endParaRPr sz="2000"/>
          </a:p>
        </p:txBody>
      </p:sp>
      <p:sp>
        <p:nvSpPr>
          <p:cNvPr id="562" name="RQ1-badge">
            <a:extLst>
              <a:ext uri="{FF2B5EF4-FFF2-40B4-BE49-F238E27FC236}">
                <a16:creationId xmlns:a16="http://schemas.microsoft.com/office/drawing/2014/main" id="{68ACCDF1-3A7C-4E40-8D15-E0CF7649CEAC}"/>
              </a:ext>
            </a:extLst>
          </p:cNvPr>
          <p:cNvSpPr>
            <a:spLocks noGrp="1"/>
          </p:cNvSpPr>
          <p:nvPr/>
        </p:nvSpPr>
        <p:spPr>
          <a:xfrm>
            <a:off x="742950" y="32432625"/>
            <a:ext cx="876300" cy="533400"/>
          </a:xfrm>
          <a:prstGeom prst="roundRect">
            <a:avLst>
              <a:gd name="adj" fmla="val 10714"/>
            </a:avLst>
          </a:prstGeom>
          <a:solidFill>
            <a:srgbClr val="14A098"/>
          </a:solidFill>
          <a:ln w="0">
            <a:solidFill>
              <a:srgbClr val="14A098"/>
            </a:solidFill>
            <a:prstDash val="solid"/>
          </a:ln>
        </p:spPr>
        <p:txBody>
          <a:bodyPr/>
          <a:lstStyle/>
          <a:p>
            <a:endParaRPr sz="2000"/>
          </a:p>
        </p:txBody>
      </p:sp>
      <p:sp>
        <p:nvSpPr>
          <p:cNvPr id="563" name="RQ1-badge-text">
            <a:extLst>
              <a:ext uri="{FF2B5EF4-FFF2-40B4-BE49-F238E27FC236}">
                <a16:creationId xmlns:a16="http://schemas.microsoft.com/office/drawing/2014/main" id="{63B3A490-DD59-44A6-9514-CF8CBF5440A0}"/>
              </a:ext>
            </a:extLst>
          </p:cNvPr>
          <p:cNvSpPr>
            <a:spLocks noGrp="1"/>
          </p:cNvSpPr>
          <p:nvPr/>
        </p:nvSpPr>
        <p:spPr>
          <a:xfrm>
            <a:off x="742950" y="32518350"/>
            <a:ext cx="876300" cy="323850"/>
          </a:xfrm>
          <a:prstGeom prst="rect">
            <a:avLst/>
          </a:prstGeom>
          <a:noFill/>
          <a:ln w="0">
            <a:noFill/>
            <a:prstDash val="solid"/>
          </a:ln>
        </p:spPr>
        <p:txBody>
          <a:bodyPr/>
          <a:lstStyle/>
          <a:p>
            <a:pPr algn="ctr">
              <a:buNone/>
              <a:defRPr sz="2025" b="1">
                <a:solidFill>
                  <a:srgbClr val="FFFFFF"/>
                </a:solidFill>
                <a:latin typeface="Arial"/>
                <a:ea typeface="Arial"/>
                <a:cs typeface="Arial"/>
              </a:defRPr>
            </a:pPr>
            <a:r>
              <a:rPr sz="2400" b="1">
                <a:solidFill>
                  <a:srgbClr val="FFFFFF"/>
                </a:solidFill>
                <a:latin typeface="Arial"/>
                <a:ea typeface="Arial"/>
                <a:cs typeface="Arial"/>
              </a:rPr>
              <a:t>RQ1</a:t>
            </a:r>
          </a:p>
        </p:txBody>
      </p:sp>
      <p:sp>
        <p:nvSpPr>
          <p:cNvPr id="564" name="RQ1-topic">
            <a:extLst>
              <a:ext uri="{FF2B5EF4-FFF2-40B4-BE49-F238E27FC236}">
                <a16:creationId xmlns:a16="http://schemas.microsoft.com/office/drawing/2014/main" id="{A6021B4B-0876-4D07-892A-0D4849C1282A}"/>
              </a:ext>
            </a:extLst>
          </p:cNvPr>
          <p:cNvSpPr>
            <a:spLocks noGrp="1"/>
          </p:cNvSpPr>
          <p:nvPr/>
        </p:nvSpPr>
        <p:spPr>
          <a:xfrm>
            <a:off x="1790700" y="32413575"/>
            <a:ext cx="8001000" cy="419100"/>
          </a:xfrm>
          <a:prstGeom prst="rect">
            <a:avLst/>
          </a:prstGeom>
          <a:noFill/>
          <a:ln w="0">
            <a:noFill/>
            <a:prstDash val="solid"/>
          </a:ln>
        </p:spPr>
        <p:txBody>
          <a:bodyPr/>
          <a:lstStyle/>
          <a:p>
            <a:pPr>
              <a:buNone/>
              <a:defRPr sz="2175" b="1">
                <a:solidFill>
                  <a:srgbClr val="28235C"/>
                </a:solidFill>
                <a:latin typeface="Arial"/>
                <a:ea typeface="Arial"/>
                <a:cs typeface="Arial"/>
              </a:defRPr>
            </a:pPr>
            <a:r>
              <a:rPr lang="en-IL" sz="2400" dirty="0"/>
              <a:t>Which AOIs attract the most visual attention across dog types?</a:t>
            </a:r>
            <a:endParaRPr sz="2400" b="1" dirty="0">
              <a:solidFill>
                <a:srgbClr val="28235C"/>
              </a:solidFill>
              <a:latin typeface="Arial"/>
              <a:ea typeface="Arial"/>
              <a:cs typeface="Arial"/>
            </a:endParaRPr>
          </a:p>
        </p:txBody>
      </p:sp>
      <p:sp>
        <p:nvSpPr>
          <p:cNvPr id="565" name="RQ1-finding-label">
            <a:extLst>
              <a:ext uri="{FF2B5EF4-FFF2-40B4-BE49-F238E27FC236}">
                <a16:creationId xmlns:a16="http://schemas.microsoft.com/office/drawing/2014/main" id="{32BF2D5B-3BD8-4A51-88C5-58DF1CF9C797}"/>
              </a:ext>
            </a:extLst>
          </p:cNvPr>
          <p:cNvSpPr>
            <a:spLocks noGrp="1"/>
          </p:cNvSpPr>
          <p:nvPr/>
        </p:nvSpPr>
        <p:spPr>
          <a:xfrm>
            <a:off x="762000" y="33080325"/>
            <a:ext cx="1524000" cy="266700"/>
          </a:xfrm>
          <a:prstGeom prst="rect">
            <a:avLst/>
          </a:prstGeom>
          <a:noFill/>
          <a:ln w="0">
            <a:noFill/>
            <a:prstDash val="solid"/>
          </a:ln>
        </p:spPr>
        <p:txBody>
          <a:bodyPr/>
          <a:lstStyle/>
          <a:p>
            <a:pPr>
              <a:buNone/>
              <a:defRPr sz="1650" b="1">
                <a:solidFill>
                  <a:srgbClr val="14A098"/>
                </a:solidFill>
                <a:latin typeface="Arial"/>
                <a:ea typeface="Arial"/>
                <a:cs typeface="Arial"/>
              </a:defRPr>
            </a:pPr>
            <a:r>
              <a:rPr b="1">
                <a:solidFill>
                  <a:srgbClr val="14A098"/>
                </a:solidFill>
                <a:latin typeface="Arial"/>
                <a:ea typeface="Arial"/>
                <a:cs typeface="Arial"/>
              </a:rPr>
              <a:t>Finding</a:t>
            </a:r>
          </a:p>
        </p:txBody>
      </p:sp>
      <p:sp>
        <p:nvSpPr>
          <p:cNvPr id="566" name="RQ1-finding">
            <a:extLst>
              <a:ext uri="{FF2B5EF4-FFF2-40B4-BE49-F238E27FC236}">
                <a16:creationId xmlns:a16="http://schemas.microsoft.com/office/drawing/2014/main" id="{E978D3EE-54BB-4148-BFA9-F293860FF7F6}"/>
              </a:ext>
            </a:extLst>
          </p:cNvPr>
          <p:cNvSpPr>
            <a:spLocks noGrp="1"/>
          </p:cNvSpPr>
          <p:nvPr/>
        </p:nvSpPr>
        <p:spPr>
          <a:xfrm>
            <a:off x="762000" y="33366075"/>
            <a:ext cx="9067800" cy="695325"/>
          </a:xfrm>
          <a:prstGeom prst="rect">
            <a:avLst/>
          </a:prstGeom>
          <a:noFill/>
          <a:ln w="0">
            <a:noFill/>
            <a:prstDash val="solid"/>
          </a:ln>
        </p:spPr>
        <p:txBody>
          <a:bodyPr/>
          <a:lstStyle/>
          <a:p>
            <a:pPr>
              <a:buNone/>
              <a:defRPr sz="1800">
                <a:solidFill>
                  <a:srgbClr val="121426"/>
                </a:solidFill>
                <a:latin typeface="Arial"/>
                <a:ea typeface="Arial"/>
                <a:cs typeface="Arial"/>
              </a:defRPr>
            </a:pPr>
            <a:r>
              <a:rPr sz="2400" dirty="0">
                <a:solidFill>
                  <a:srgbClr val="121426"/>
                </a:solidFill>
                <a:latin typeface="Arial"/>
                <a:ea typeface="Arial"/>
                <a:cs typeface="Arial"/>
              </a:rPr>
              <a:t>Facial AOIs received the most attention, especially </a:t>
            </a:r>
            <a:r>
              <a:rPr lang="en-US" sz="2400" dirty="0">
                <a:solidFill>
                  <a:srgbClr val="121426"/>
                </a:solidFill>
                <a:latin typeface="Arial"/>
                <a:ea typeface="Arial"/>
                <a:cs typeface="Arial"/>
              </a:rPr>
              <a:t>the upper face</a:t>
            </a:r>
            <a:r>
              <a:rPr sz="2400" dirty="0">
                <a:solidFill>
                  <a:srgbClr val="121426"/>
                </a:solidFill>
                <a:latin typeface="Arial"/>
                <a:ea typeface="Arial"/>
                <a:cs typeface="Arial"/>
              </a:rPr>
              <a:t>; </a:t>
            </a:r>
            <a:r>
              <a:rPr lang="en-US" sz="2400" dirty="0">
                <a:solidFill>
                  <a:srgbClr val="121426"/>
                </a:solidFill>
                <a:latin typeface="Arial"/>
                <a:ea typeface="Arial"/>
                <a:cs typeface="Arial"/>
              </a:rPr>
              <a:t>the bottom face </a:t>
            </a:r>
            <a:r>
              <a:rPr sz="2400" dirty="0">
                <a:solidFill>
                  <a:srgbClr val="121426"/>
                </a:solidFill>
                <a:latin typeface="Arial"/>
                <a:ea typeface="Arial"/>
                <a:cs typeface="Arial"/>
              </a:rPr>
              <a:t>and Torso followed, while Tail and Legs were much lower.</a:t>
            </a:r>
          </a:p>
        </p:txBody>
      </p:sp>
      <p:sp>
        <p:nvSpPr>
          <p:cNvPr id="567" name="RQ2-card">
            <a:extLst>
              <a:ext uri="{FF2B5EF4-FFF2-40B4-BE49-F238E27FC236}">
                <a16:creationId xmlns:a16="http://schemas.microsoft.com/office/drawing/2014/main" id="{4AE0E530-ABF5-4285-B850-7890920B7B85}"/>
              </a:ext>
            </a:extLst>
          </p:cNvPr>
          <p:cNvSpPr>
            <a:spLocks noGrp="1"/>
          </p:cNvSpPr>
          <p:nvPr/>
        </p:nvSpPr>
        <p:spPr>
          <a:xfrm>
            <a:off x="10382250" y="32146874"/>
            <a:ext cx="9525000" cy="2563200"/>
          </a:xfrm>
          <a:prstGeom prst="roundRect">
            <a:avLst>
              <a:gd name="adj" fmla="val 2791"/>
            </a:avLst>
          </a:prstGeom>
          <a:solidFill>
            <a:srgbClr val="FFFFFF"/>
          </a:solidFill>
          <a:ln w="19050">
            <a:solidFill>
              <a:srgbClr val="9BB6D3"/>
            </a:solidFill>
            <a:prstDash val="solid"/>
          </a:ln>
        </p:spPr>
        <p:txBody>
          <a:bodyPr/>
          <a:lstStyle/>
          <a:p>
            <a:pPr marL="0" indent="0" algn="l" defTabSz="914400" rtl="0"/>
            <a:endParaRPr sz="2000"/>
          </a:p>
        </p:txBody>
      </p:sp>
      <p:sp>
        <p:nvSpPr>
          <p:cNvPr id="568" name="RQ2-accent">
            <a:extLst>
              <a:ext uri="{FF2B5EF4-FFF2-40B4-BE49-F238E27FC236}">
                <a16:creationId xmlns:a16="http://schemas.microsoft.com/office/drawing/2014/main" id="{297DD2B6-4F2E-4043-BF9D-61470B16C8AF}"/>
              </a:ext>
            </a:extLst>
          </p:cNvPr>
          <p:cNvSpPr>
            <a:spLocks noGrp="1"/>
          </p:cNvSpPr>
          <p:nvPr/>
        </p:nvSpPr>
        <p:spPr>
          <a:xfrm>
            <a:off x="10382250" y="32146875"/>
            <a:ext cx="9525000" cy="114300"/>
          </a:xfrm>
          <a:prstGeom prst="rect">
            <a:avLst/>
          </a:prstGeom>
          <a:solidFill>
            <a:srgbClr val="3975A8"/>
          </a:solidFill>
          <a:ln w="0">
            <a:solidFill>
              <a:srgbClr val="3975A8"/>
            </a:solidFill>
            <a:prstDash val="solid"/>
          </a:ln>
        </p:spPr>
        <p:txBody>
          <a:bodyPr/>
          <a:lstStyle/>
          <a:p>
            <a:endParaRPr sz="2000"/>
          </a:p>
        </p:txBody>
      </p:sp>
      <p:sp>
        <p:nvSpPr>
          <p:cNvPr id="569" name="RQ2-badge">
            <a:extLst>
              <a:ext uri="{FF2B5EF4-FFF2-40B4-BE49-F238E27FC236}">
                <a16:creationId xmlns:a16="http://schemas.microsoft.com/office/drawing/2014/main" id="{C9D4CA7C-C661-4E53-B178-786B566A7E57}"/>
              </a:ext>
            </a:extLst>
          </p:cNvPr>
          <p:cNvSpPr>
            <a:spLocks noGrp="1"/>
          </p:cNvSpPr>
          <p:nvPr/>
        </p:nvSpPr>
        <p:spPr>
          <a:xfrm>
            <a:off x="10591800" y="32432625"/>
            <a:ext cx="876300" cy="533400"/>
          </a:xfrm>
          <a:prstGeom prst="roundRect">
            <a:avLst>
              <a:gd name="adj" fmla="val 10714"/>
            </a:avLst>
          </a:prstGeom>
          <a:solidFill>
            <a:srgbClr val="3975A8"/>
          </a:solidFill>
          <a:ln w="0">
            <a:solidFill>
              <a:srgbClr val="3975A8"/>
            </a:solidFill>
            <a:prstDash val="solid"/>
          </a:ln>
        </p:spPr>
        <p:txBody>
          <a:bodyPr/>
          <a:lstStyle/>
          <a:p>
            <a:pPr marL="0" indent="0" algn="l" defTabSz="914400" rtl="0"/>
            <a:endParaRPr sz="2000"/>
          </a:p>
        </p:txBody>
      </p:sp>
      <p:sp>
        <p:nvSpPr>
          <p:cNvPr id="570" name="RQ2-badge-text">
            <a:extLst>
              <a:ext uri="{FF2B5EF4-FFF2-40B4-BE49-F238E27FC236}">
                <a16:creationId xmlns:a16="http://schemas.microsoft.com/office/drawing/2014/main" id="{F85C44A9-C5A8-478D-B145-81ED274C1750}"/>
              </a:ext>
            </a:extLst>
          </p:cNvPr>
          <p:cNvSpPr>
            <a:spLocks noGrp="1"/>
          </p:cNvSpPr>
          <p:nvPr/>
        </p:nvSpPr>
        <p:spPr>
          <a:xfrm>
            <a:off x="10591800" y="32518350"/>
            <a:ext cx="876300" cy="323850"/>
          </a:xfrm>
          <a:prstGeom prst="rect">
            <a:avLst/>
          </a:prstGeom>
          <a:noFill/>
          <a:ln w="0">
            <a:noFill/>
            <a:prstDash val="solid"/>
          </a:ln>
        </p:spPr>
        <p:txBody>
          <a:bodyPr/>
          <a:lstStyle/>
          <a:p>
            <a:pPr algn="ctr">
              <a:buNone/>
              <a:defRPr sz="2025" b="1">
                <a:solidFill>
                  <a:srgbClr val="FFFFFF"/>
                </a:solidFill>
                <a:latin typeface="Arial"/>
                <a:ea typeface="Arial"/>
                <a:cs typeface="Arial"/>
              </a:defRPr>
            </a:pPr>
            <a:r>
              <a:rPr sz="2400" b="1">
                <a:solidFill>
                  <a:srgbClr val="FFFFFF"/>
                </a:solidFill>
                <a:latin typeface="Arial"/>
                <a:ea typeface="Arial"/>
                <a:cs typeface="Arial"/>
              </a:rPr>
              <a:t>RQ2</a:t>
            </a:r>
          </a:p>
        </p:txBody>
      </p:sp>
      <p:sp>
        <p:nvSpPr>
          <p:cNvPr id="571" name="RQ2-topic">
            <a:extLst>
              <a:ext uri="{FF2B5EF4-FFF2-40B4-BE49-F238E27FC236}">
                <a16:creationId xmlns:a16="http://schemas.microsoft.com/office/drawing/2014/main" id="{E95A4D9E-28D1-403C-A245-804F622BC068}"/>
              </a:ext>
            </a:extLst>
          </p:cNvPr>
          <p:cNvSpPr>
            <a:spLocks noGrp="1"/>
          </p:cNvSpPr>
          <p:nvPr/>
        </p:nvSpPr>
        <p:spPr>
          <a:xfrm>
            <a:off x="11639550" y="32413575"/>
            <a:ext cx="8001000" cy="419100"/>
          </a:xfrm>
          <a:prstGeom prst="rect">
            <a:avLst/>
          </a:prstGeom>
          <a:noFill/>
          <a:ln w="0">
            <a:noFill/>
            <a:prstDash val="solid"/>
          </a:ln>
        </p:spPr>
        <p:txBody>
          <a:bodyPr/>
          <a:lstStyle/>
          <a:p>
            <a:pPr>
              <a:buNone/>
              <a:defRPr sz="2175" b="1">
                <a:solidFill>
                  <a:srgbClr val="28235C"/>
                </a:solidFill>
                <a:latin typeface="Arial"/>
                <a:ea typeface="Arial"/>
                <a:cs typeface="Arial"/>
              </a:defRPr>
            </a:pPr>
            <a:r>
              <a:rPr lang="en-IL" sz="2400" dirty="0"/>
              <a:t>How similar are participants’ gaze sequences across videos and situations?</a:t>
            </a:r>
            <a:endParaRPr sz="2400" b="1" dirty="0">
              <a:solidFill>
                <a:srgbClr val="28235C"/>
              </a:solidFill>
              <a:latin typeface="Arial"/>
              <a:ea typeface="Arial"/>
              <a:cs typeface="Arial"/>
            </a:endParaRPr>
          </a:p>
        </p:txBody>
      </p:sp>
      <p:sp>
        <p:nvSpPr>
          <p:cNvPr id="572" name="RQ2-finding-label">
            <a:extLst>
              <a:ext uri="{FF2B5EF4-FFF2-40B4-BE49-F238E27FC236}">
                <a16:creationId xmlns:a16="http://schemas.microsoft.com/office/drawing/2014/main" id="{026B9978-05F8-47F7-9B7D-F9E2FDA1AA00}"/>
              </a:ext>
            </a:extLst>
          </p:cNvPr>
          <p:cNvSpPr>
            <a:spLocks noGrp="1"/>
          </p:cNvSpPr>
          <p:nvPr/>
        </p:nvSpPr>
        <p:spPr>
          <a:xfrm>
            <a:off x="10610850" y="33080325"/>
            <a:ext cx="1524000" cy="266700"/>
          </a:xfrm>
          <a:prstGeom prst="rect">
            <a:avLst/>
          </a:prstGeom>
          <a:noFill/>
          <a:ln w="0">
            <a:noFill/>
            <a:prstDash val="solid"/>
          </a:ln>
        </p:spPr>
        <p:txBody>
          <a:bodyPr/>
          <a:lstStyle/>
          <a:p>
            <a:pPr>
              <a:buNone/>
              <a:defRPr sz="1650" b="1">
                <a:solidFill>
                  <a:srgbClr val="3975A8"/>
                </a:solidFill>
                <a:latin typeface="Arial"/>
                <a:ea typeface="Arial"/>
                <a:cs typeface="Arial"/>
              </a:defRPr>
            </a:pPr>
            <a:r>
              <a:rPr b="1">
                <a:solidFill>
                  <a:srgbClr val="3975A8"/>
                </a:solidFill>
                <a:latin typeface="Arial"/>
                <a:ea typeface="Arial"/>
                <a:cs typeface="Arial"/>
              </a:rPr>
              <a:t>Finding</a:t>
            </a:r>
          </a:p>
        </p:txBody>
      </p:sp>
      <p:sp>
        <p:nvSpPr>
          <p:cNvPr id="573" name="RQ2-finding">
            <a:extLst>
              <a:ext uri="{FF2B5EF4-FFF2-40B4-BE49-F238E27FC236}">
                <a16:creationId xmlns:a16="http://schemas.microsoft.com/office/drawing/2014/main" id="{71F33515-CA53-4F07-B3F0-881C205C26FB}"/>
              </a:ext>
            </a:extLst>
          </p:cNvPr>
          <p:cNvSpPr>
            <a:spLocks noGrp="1"/>
          </p:cNvSpPr>
          <p:nvPr/>
        </p:nvSpPr>
        <p:spPr>
          <a:xfrm>
            <a:off x="10610850" y="33366075"/>
            <a:ext cx="9067800" cy="695325"/>
          </a:xfrm>
          <a:prstGeom prst="rect">
            <a:avLst/>
          </a:prstGeom>
          <a:noFill/>
          <a:ln w="0">
            <a:noFill/>
            <a:prstDash val="solid"/>
          </a:ln>
        </p:spPr>
        <p:txBody>
          <a:bodyPr/>
          <a:lstStyle/>
          <a:p>
            <a:pPr>
              <a:buNone/>
              <a:defRPr sz="1800">
                <a:solidFill>
                  <a:srgbClr val="121426"/>
                </a:solidFill>
                <a:latin typeface="Arial"/>
                <a:ea typeface="Arial"/>
                <a:cs typeface="Arial"/>
              </a:defRPr>
            </a:pPr>
            <a:r>
              <a:rPr sz="2400" dirty="0">
                <a:solidFill>
                  <a:srgbClr val="121426"/>
                </a:solidFill>
                <a:latin typeface="Arial"/>
                <a:ea typeface="Arial"/>
                <a:cs typeface="Arial"/>
              </a:rPr>
              <a:t>Gaze-sequence similarity varied by video. Patterns depended more on movement, situation and cue clarity than dog type alone.</a:t>
            </a:r>
          </a:p>
        </p:txBody>
      </p:sp>
      <p:sp>
        <p:nvSpPr>
          <p:cNvPr id="574" name="RQ3-card">
            <a:extLst>
              <a:ext uri="{FF2B5EF4-FFF2-40B4-BE49-F238E27FC236}">
                <a16:creationId xmlns:a16="http://schemas.microsoft.com/office/drawing/2014/main" id="{81D3B852-B9D5-4F87-A378-C99A49D29D2A}"/>
              </a:ext>
            </a:extLst>
          </p:cNvPr>
          <p:cNvSpPr>
            <a:spLocks noGrp="1"/>
          </p:cNvSpPr>
          <p:nvPr/>
        </p:nvSpPr>
        <p:spPr>
          <a:xfrm>
            <a:off x="20231100" y="32146874"/>
            <a:ext cx="9525000" cy="2563200"/>
          </a:xfrm>
          <a:prstGeom prst="roundRect">
            <a:avLst>
              <a:gd name="adj" fmla="val 2791"/>
            </a:avLst>
          </a:prstGeom>
          <a:solidFill>
            <a:srgbClr val="FFFFFF"/>
          </a:solidFill>
          <a:ln w="19050">
            <a:solidFill>
              <a:srgbClr val="9BB6D3"/>
            </a:solidFill>
            <a:prstDash val="solid"/>
          </a:ln>
        </p:spPr>
        <p:txBody>
          <a:bodyPr/>
          <a:lstStyle/>
          <a:p>
            <a:pPr marL="0" indent="0" algn="l" defTabSz="914400" rtl="0"/>
            <a:endParaRPr sz="2000"/>
          </a:p>
        </p:txBody>
      </p:sp>
      <p:sp>
        <p:nvSpPr>
          <p:cNvPr id="575" name="RQ3-accent">
            <a:extLst>
              <a:ext uri="{FF2B5EF4-FFF2-40B4-BE49-F238E27FC236}">
                <a16:creationId xmlns:a16="http://schemas.microsoft.com/office/drawing/2014/main" id="{D6C1CB14-3C9E-4B5E-B392-C5AFF6035FDE}"/>
              </a:ext>
            </a:extLst>
          </p:cNvPr>
          <p:cNvSpPr>
            <a:spLocks noGrp="1"/>
          </p:cNvSpPr>
          <p:nvPr/>
        </p:nvSpPr>
        <p:spPr>
          <a:xfrm>
            <a:off x="20231100" y="32146875"/>
            <a:ext cx="9525000" cy="114300"/>
          </a:xfrm>
          <a:prstGeom prst="rect">
            <a:avLst/>
          </a:prstGeom>
          <a:solidFill>
            <a:srgbClr val="F27C38"/>
          </a:solidFill>
          <a:ln w="0">
            <a:solidFill>
              <a:srgbClr val="F27C38"/>
            </a:solidFill>
            <a:prstDash val="solid"/>
          </a:ln>
        </p:spPr>
        <p:txBody>
          <a:bodyPr/>
          <a:lstStyle/>
          <a:p>
            <a:endParaRPr sz="2000"/>
          </a:p>
        </p:txBody>
      </p:sp>
      <p:sp>
        <p:nvSpPr>
          <p:cNvPr id="576" name="RQ3-badge">
            <a:extLst>
              <a:ext uri="{FF2B5EF4-FFF2-40B4-BE49-F238E27FC236}">
                <a16:creationId xmlns:a16="http://schemas.microsoft.com/office/drawing/2014/main" id="{9A03EFD3-FE8A-4753-B1D4-AA2CE5673C01}"/>
              </a:ext>
            </a:extLst>
          </p:cNvPr>
          <p:cNvSpPr>
            <a:spLocks noGrp="1"/>
          </p:cNvSpPr>
          <p:nvPr/>
        </p:nvSpPr>
        <p:spPr>
          <a:xfrm>
            <a:off x="20440650" y="32432625"/>
            <a:ext cx="876300" cy="533400"/>
          </a:xfrm>
          <a:prstGeom prst="roundRect">
            <a:avLst>
              <a:gd name="adj" fmla="val 10714"/>
            </a:avLst>
          </a:prstGeom>
          <a:solidFill>
            <a:srgbClr val="F27C38"/>
          </a:solidFill>
          <a:ln w="0">
            <a:solidFill>
              <a:srgbClr val="F27C38"/>
            </a:solidFill>
            <a:prstDash val="solid"/>
          </a:ln>
        </p:spPr>
        <p:txBody>
          <a:bodyPr/>
          <a:lstStyle/>
          <a:p>
            <a:endParaRPr sz="2000"/>
          </a:p>
        </p:txBody>
      </p:sp>
      <p:sp>
        <p:nvSpPr>
          <p:cNvPr id="577" name="RQ3-badge-text">
            <a:extLst>
              <a:ext uri="{FF2B5EF4-FFF2-40B4-BE49-F238E27FC236}">
                <a16:creationId xmlns:a16="http://schemas.microsoft.com/office/drawing/2014/main" id="{E56F8493-0E31-4370-B3AB-4750ABDBD1AE}"/>
              </a:ext>
            </a:extLst>
          </p:cNvPr>
          <p:cNvSpPr>
            <a:spLocks noGrp="1"/>
          </p:cNvSpPr>
          <p:nvPr/>
        </p:nvSpPr>
        <p:spPr>
          <a:xfrm>
            <a:off x="20440650" y="32518350"/>
            <a:ext cx="876300" cy="323850"/>
          </a:xfrm>
          <a:prstGeom prst="rect">
            <a:avLst/>
          </a:prstGeom>
          <a:noFill/>
          <a:ln w="0">
            <a:noFill/>
            <a:prstDash val="solid"/>
          </a:ln>
        </p:spPr>
        <p:txBody>
          <a:bodyPr/>
          <a:lstStyle/>
          <a:p>
            <a:pPr algn="ctr">
              <a:buNone/>
              <a:defRPr sz="2025" b="1">
                <a:solidFill>
                  <a:srgbClr val="FFFFFF"/>
                </a:solidFill>
                <a:latin typeface="Arial"/>
                <a:ea typeface="Arial"/>
                <a:cs typeface="Arial"/>
              </a:defRPr>
            </a:pPr>
            <a:r>
              <a:rPr sz="2400" b="1">
                <a:solidFill>
                  <a:srgbClr val="FFFFFF"/>
                </a:solidFill>
                <a:latin typeface="Arial"/>
                <a:ea typeface="Arial"/>
                <a:cs typeface="Arial"/>
              </a:rPr>
              <a:t>RQ3</a:t>
            </a:r>
          </a:p>
        </p:txBody>
      </p:sp>
      <p:sp>
        <p:nvSpPr>
          <p:cNvPr id="578" name="RQ3-topic">
            <a:extLst>
              <a:ext uri="{FF2B5EF4-FFF2-40B4-BE49-F238E27FC236}">
                <a16:creationId xmlns:a16="http://schemas.microsoft.com/office/drawing/2014/main" id="{B4E39C0F-2344-4357-9FE8-2D6A2CE156DD}"/>
              </a:ext>
            </a:extLst>
          </p:cNvPr>
          <p:cNvSpPr>
            <a:spLocks noGrp="1"/>
          </p:cNvSpPr>
          <p:nvPr/>
        </p:nvSpPr>
        <p:spPr>
          <a:xfrm>
            <a:off x="21488400" y="32413575"/>
            <a:ext cx="8001000" cy="419100"/>
          </a:xfrm>
          <a:prstGeom prst="rect">
            <a:avLst/>
          </a:prstGeom>
          <a:noFill/>
          <a:ln w="0">
            <a:noFill/>
            <a:prstDash val="solid"/>
          </a:ln>
        </p:spPr>
        <p:txBody>
          <a:bodyPr/>
          <a:lstStyle/>
          <a:p>
            <a:pPr>
              <a:buNone/>
              <a:defRPr sz="2175" b="1">
                <a:solidFill>
                  <a:srgbClr val="28235C"/>
                </a:solidFill>
                <a:latin typeface="Arial"/>
                <a:ea typeface="Arial"/>
                <a:cs typeface="Arial"/>
              </a:defRPr>
            </a:pPr>
            <a:r>
              <a:rPr lang="en-IL" sz="2400" dirty="0"/>
              <a:t>Do gaze patterns differ by dog ownership or gender?</a:t>
            </a:r>
            <a:endParaRPr sz="2400" b="1" dirty="0">
              <a:solidFill>
                <a:srgbClr val="28235C"/>
              </a:solidFill>
              <a:latin typeface="Arial"/>
              <a:ea typeface="Arial"/>
              <a:cs typeface="Arial"/>
            </a:endParaRPr>
          </a:p>
        </p:txBody>
      </p:sp>
      <p:sp>
        <p:nvSpPr>
          <p:cNvPr id="579" name="RQ3-finding-label">
            <a:extLst>
              <a:ext uri="{FF2B5EF4-FFF2-40B4-BE49-F238E27FC236}">
                <a16:creationId xmlns:a16="http://schemas.microsoft.com/office/drawing/2014/main" id="{F51E1A1D-949A-4D23-BD98-F474309AC99E}"/>
              </a:ext>
            </a:extLst>
          </p:cNvPr>
          <p:cNvSpPr>
            <a:spLocks noGrp="1"/>
          </p:cNvSpPr>
          <p:nvPr/>
        </p:nvSpPr>
        <p:spPr>
          <a:xfrm>
            <a:off x="20459700" y="33080325"/>
            <a:ext cx="1524000" cy="266700"/>
          </a:xfrm>
          <a:prstGeom prst="rect">
            <a:avLst/>
          </a:prstGeom>
          <a:noFill/>
          <a:ln w="0">
            <a:noFill/>
            <a:prstDash val="solid"/>
          </a:ln>
        </p:spPr>
        <p:txBody>
          <a:bodyPr/>
          <a:lstStyle/>
          <a:p>
            <a:pPr>
              <a:buNone/>
              <a:defRPr sz="1650" b="1">
                <a:solidFill>
                  <a:srgbClr val="F27C38"/>
                </a:solidFill>
                <a:latin typeface="Arial"/>
                <a:ea typeface="Arial"/>
                <a:cs typeface="Arial"/>
              </a:defRPr>
            </a:pPr>
            <a:r>
              <a:rPr b="1">
                <a:solidFill>
                  <a:srgbClr val="F27C38"/>
                </a:solidFill>
                <a:latin typeface="Arial"/>
                <a:ea typeface="Arial"/>
                <a:cs typeface="Arial"/>
              </a:rPr>
              <a:t>Finding</a:t>
            </a:r>
          </a:p>
        </p:txBody>
      </p:sp>
      <p:sp>
        <p:nvSpPr>
          <p:cNvPr id="580" name="RQ3-finding">
            <a:extLst>
              <a:ext uri="{FF2B5EF4-FFF2-40B4-BE49-F238E27FC236}">
                <a16:creationId xmlns:a16="http://schemas.microsoft.com/office/drawing/2014/main" id="{5383EF12-9957-4768-AD31-1F1CA208DFFA}"/>
              </a:ext>
            </a:extLst>
          </p:cNvPr>
          <p:cNvSpPr>
            <a:spLocks noGrp="1"/>
          </p:cNvSpPr>
          <p:nvPr/>
        </p:nvSpPr>
        <p:spPr>
          <a:xfrm>
            <a:off x="20459700" y="33366075"/>
            <a:ext cx="9067800" cy="695325"/>
          </a:xfrm>
          <a:prstGeom prst="rect">
            <a:avLst/>
          </a:prstGeom>
          <a:noFill/>
          <a:ln w="0">
            <a:noFill/>
            <a:prstDash val="solid"/>
          </a:ln>
        </p:spPr>
        <p:txBody>
          <a:bodyPr/>
          <a:lstStyle/>
          <a:p>
            <a:pPr>
              <a:buNone/>
              <a:defRPr sz="1800">
                <a:solidFill>
                  <a:srgbClr val="121426"/>
                </a:solidFill>
                <a:latin typeface="Arial"/>
                <a:ea typeface="Arial"/>
                <a:cs typeface="Arial"/>
              </a:defRPr>
            </a:pPr>
            <a:r>
              <a:rPr sz="2400" dirty="0">
                <a:solidFill>
                  <a:srgbClr val="121426"/>
                </a:solidFill>
                <a:latin typeface="Arial"/>
                <a:ea typeface="Arial"/>
                <a:cs typeface="Arial"/>
              </a:rPr>
              <a:t>Dog owners and non-owners showed similar gaze transitions; gender comparison remained exploratory because the sample was imbalanced.</a:t>
            </a:r>
          </a:p>
        </p:txBody>
      </p:sp>
      <p:sp>
        <p:nvSpPr>
          <p:cNvPr id="581" name="RQ4-card">
            <a:extLst>
              <a:ext uri="{FF2B5EF4-FFF2-40B4-BE49-F238E27FC236}">
                <a16:creationId xmlns:a16="http://schemas.microsoft.com/office/drawing/2014/main" id="{614B282F-CEEE-42C9-BC61-6AE47CA7CA2E}"/>
              </a:ext>
            </a:extLst>
          </p:cNvPr>
          <p:cNvSpPr>
            <a:spLocks noGrp="1"/>
          </p:cNvSpPr>
          <p:nvPr/>
        </p:nvSpPr>
        <p:spPr>
          <a:xfrm>
            <a:off x="533400" y="35352704"/>
            <a:ext cx="9525000" cy="2563200"/>
          </a:xfrm>
          <a:prstGeom prst="roundRect">
            <a:avLst>
              <a:gd name="adj" fmla="val 2791"/>
            </a:avLst>
          </a:prstGeom>
          <a:solidFill>
            <a:srgbClr val="FFFFFF"/>
          </a:solidFill>
          <a:ln w="19050">
            <a:solidFill>
              <a:srgbClr val="9BB6D3"/>
            </a:solidFill>
            <a:prstDash val="solid"/>
          </a:ln>
        </p:spPr>
        <p:txBody>
          <a:bodyPr/>
          <a:lstStyle/>
          <a:p>
            <a:pPr marL="0" indent="0" algn="l" defTabSz="914400" rtl="0">
              <a:buNone/>
            </a:pPr>
            <a:endParaRPr sz="2000"/>
          </a:p>
        </p:txBody>
      </p:sp>
      <p:sp>
        <p:nvSpPr>
          <p:cNvPr id="582" name="RQ4-accent">
            <a:extLst>
              <a:ext uri="{FF2B5EF4-FFF2-40B4-BE49-F238E27FC236}">
                <a16:creationId xmlns:a16="http://schemas.microsoft.com/office/drawing/2014/main" id="{DE886283-888B-49B3-A402-47B241EE521B}"/>
              </a:ext>
            </a:extLst>
          </p:cNvPr>
          <p:cNvSpPr>
            <a:spLocks noGrp="1"/>
          </p:cNvSpPr>
          <p:nvPr/>
        </p:nvSpPr>
        <p:spPr>
          <a:xfrm>
            <a:off x="533400" y="35352705"/>
            <a:ext cx="9525000" cy="114300"/>
          </a:xfrm>
          <a:prstGeom prst="rect">
            <a:avLst/>
          </a:prstGeom>
          <a:solidFill>
            <a:srgbClr val="62A744"/>
          </a:solidFill>
          <a:ln w="0">
            <a:solidFill>
              <a:srgbClr val="62A744"/>
            </a:solidFill>
            <a:prstDash val="solid"/>
          </a:ln>
        </p:spPr>
        <p:txBody>
          <a:bodyPr/>
          <a:lstStyle/>
          <a:p>
            <a:endParaRPr sz="2000"/>
          </a:p>
        </p:txBody>
      </p:sp>
      <p:sp>
        <p:nvSpPr>
          <p:cNvPr id="583" name="RQ4-badge">
            <a:extLst>
              <a:ext uri="{FF2B5EF4-FFF2-40B4-BE49-F238E27FC236}">
                <a16:creationId xmlns:a16="http://schemas.microsoft.com/office/drawing/2014/main" id="{05784DD3-DBB6-4CE4-973D-A30CD31AF4EB}"/>
              </a:ext>
            </a:extLst>
          </p:cNvPr>
          <p:cNvSpPr>
            <a:spLocks noGrp="1"/>
          </p:cNvSpPr>
          <p:nvPr/>
        </p:nvSpPr>
        <p:spPr>
          <a:xfrm>
            <a:off x="742950" y="35638455"/>
            <a:ext cx="876300" cy="533400"/>
          </a:xfrm>
          <a:prstGeom prst="roundRect">
            <a:avLst>
              <a:gd name="adj" fmla="val 10714"/>
            </a:avLst>
          </a:prstGeom>
          <a:solidFill>
            <a:srgbClr val="62A744"/>
          </a:solidFill>
          <a:ln w="0">
            <a:solidFill>
              <a:srgbClr val="62A744"/>
            </a:solidFill>
            <a:prstDash val="solid"/>
          </a:ln>
        </p:spPr>
        <p:txBody>
          <a:bodyPr/>
          <a:lstStyle/>
          <a:p>
            <a:endParaRPr sz="2000"/>
          </a:p>
        </p:txBody>
      </p:sp>
      <p:sp>
        <p:nvSpPr>
          <p:cNvPr id="584" name="RQ4-badge-text">
            <a:extLst>
              <a:ext uri="{FF2B5EF4-FFF2-40B4-BE49-F238E27FC236}">
                <a16:creationId xmlns:a16="http://schemas.microsoft.com/office/drawing/2014/main" id="{6E23BF5B-6FE6-42FD-986E-251255E83C7F}"/>
              </a:ext>
            </a:extLst>
          </p:cNvPr>
          <p:cNvSpPr>
            <a:spLocks noGrp="1"/>
          </p:cNvSpPr>
          <p:nvPr/>
        </p:nvSpPr>
        <p:spPr>
          <a:xfrm>
            <a:off x="742950" y="35724180"/>
            <a:ext cx="876300" cy="323850"/>
          </a:xfrm>
          <a:prstGeom prst="rect">
            <a:avLst/>
          </a:prstGeom>
          <a:noFill/>
          <a:ln w="0">
            <a:noFill/>
            <a:prstDash val="solid"/>
          </a:ln>
        </p:spPr>
        <p:txBody>
          <a:bodyPr/>
          <a:lstStyle/>
          <a:p>
            <a:pPr algn="ctr">
              <a:buNone/>
              <a:defRPr sz="2025" b="1">
                <a:solidFill>
                  <a:srgbClr val="FFFFFF"/>
                </a:solidFill>
                <a:latin typeface="Arial"/>
                <a:ea typeface="Arial"/>
                <a:cs typeface="Arial"/>
              </a:defRPr>
            </a:pPr>
            <a:r>
              <a:rPr sz="2400" b="1">
                <a:solidFill>
                  <a:srgbClr val="FFFFFF"/>
                </a:solidFill>
                <a:latin typeface="Arial"/>
                <a:ea typeface="Arial"/>
                <a:cs typeface="Arial"/>
              </a:rPr>
              <a:t>RQ4</a:t>
            </a:r>
          </a:p>
        </p:txBody>
      </p:sp>
      <p:sp>
        <p:nvSpPr>
          <p:cNvPr id="585" name="RQ4-topic">
            <a:extLst>
              <a:ext uri="{FF2B5EF4-FFF2-40B4-BE49-F238E27FC236}">
                <a16:creationId xmlns:a16="http://schemas.microsoft.com/office/drawing/2014/main" id="{C56C8714-3C15-42F4-AFD0-0031FDFD1026}"/>
              </a:ext>
            </a:extLst>
          </p:cNvPr>
          <p:cNvSpPr>
            <a:spLocks noGrp="1"/>
          </p:cNvSpPr>
          <p:nvPr/>
        </p:nvSpPr>
        <p:spPr>
          <a:xfrm>
            <a:off x="1790700" y="35619405"/>
            <a:ext cx="8001000" cy="419100"/>
          </a:xfrm>
          <a:prstGeom prst="rect">
            <a:avLst/>
          </a:prstGeom>
          <a:noFill/>
          <a:ln w="0">
            <a:noFill/>
            <a:prstDash val="solid"/>
          </a:ln>
        </p:spPr>
        <p:txBody>
          <a:bodyPr/>
          <a:lstStyle/>
          <a:p>
            <a:pPr>
              <a:buNone/>
              <a:defRPr sz="2175" b="1">
                <a:solidFill>
                  <a:srgbClr val="28235C"/>
                </a:solidFill>
                <a:latin typeface="Arial"/>
                <a:ea typeface="Arial"/>
                <a:cs typeface="Arial"/>
              </a:defRPr>
            </a:pPr>
            <a:r>
              <a:rPr lang="en-IL" sz="2400" dirty="0"/>
              <a:t>Is recognition accuracy related to gaze distribution across AOIs?</a:t>
            </a:r>
            <a:endParaRPr sz="2400" b="1" dirty="0">
              <a:solidFill>
                <a:srgbClr val="28235C"/>
              </a:solidFill>
              <a:latin typeface="Arial"/>
              <a:ea typeface="Arial"/>
              <a:cs typeface="Arial"/>
            </a:endParaRPr>
          </a:p>
        </p:txBody>
      </p:sp>
      <p:sp>
        <p:nvSpPr>
          <p:cNvPr id="586" name="RQ4-finding-label">
            <a:extLst>
              <a:ext uri="{FF2B5EF4-FFF2-40B4-BE49-F238E27FC236}">
                <a16:creationId xmlns:a16="http://schemas.microsoft.com/office/drawing/2014/main" id="{493FBAE3-CF76-4132-9D59-CDAAA89ABFF1}"/>
              </a:ext>
            </a:extLst>
          </p:cNvPr>
          <p:cNvSpPr>
            <a:spLocks noGrp="1"/>
          </p:cNvSpPr>
          <p:nvPr/>
        </p:nvSpPr>
        <p:spPr>
          <a:xfrm>
            <a:off x="762000" y="36286155"/>
            <a:ext cx="1524000" cy="266700"/>
          </a:xfrm>
          <a:prstGeom prst="rect">
            <a:avLst/>
          </a:prstGeom>
          <a:noFill/>
          <a:ln w="0">
            <a:noFill/>
            <a:prstDash val="solid"/>
          </a:ln>
        </p:spPr>
        <p:txBody>
          <a:bodyPr/>
          <a:lstStyle/>
          <a:p>
            <a:pPr>
              <a:buNone/>
              <a:defRPr sz="1650" b="1">
                <a:solidFill>
                  <a:srgbClr val="62A744"/>
                </a:solidFill>
                <a:latin typeface="Arial"/>
                <a:ea typeface="Arial"/>
                <a:cs typeface="Arial"/>
              </a:defRPr>
            </a:pPr>
            <a:r>
              <a:rPr b="1">
                <a:solidFill>
                  <a:srgbClr val="62A744"/>
                </a:solidFill>
                <a:latin typeface="Arial"/>
                <a:ea typeface="Arial"/>
                <a:cs typeface="Arial"/>
              </a:rPr>
              <a:t>Finding</a:t>
            </a:r>
          </a:p>
        </p:txBody>
      </p:sp>
      <p:sp>
        <p:nvSpPr>
          <p:cNvPr id="587" name="RQ4-finding">
            <a:extLst>
              <a:ext uri="{FF2B5EF4-FFF2-40B4-BE49-F238E27FC236}">
                <a16:creationId xmlns:a16="http://schemas.microsoft.com/office/drawing/2014/main" id="{831C4AB4-4657-456E-A072-EA529B40168F}"/>
              </a:ext>
            </a:extLst>
          </p:cNvPr>
          <p:cNvSpPr>
            <a:spLocks noGrp="1"/>
          </p:cNvSpPr>
          <p:nvPr/>
        </p:nvSpPr>
        <p:spPr>
          <a:xfrm>
            <a:off x="762000" y="36571905"/>
            <a:ext cx="9067800" cy="695325"/>
          </a:xfrm>
          <a:prstGeom prst="rect">
            <a:avLst/>
          </a:prstGeom>
          <a:noFill/>
          <a:ln w="0">
            <a:noFill/>
            <a:prstDash val="solid"/>
          </a:ln>
        </p:spPr>
        <p:txBody>
          <a:bodyPr/>
          <a:lstStyle/>
          <a:p>
            <a:pPr>
              <a:buNone/>
              <a:defRPr sz="1800">
                <a:solidFill>
                  <a:srgbClr val="121426"/>
                </a:solidFill>
                <a:latin typeface="Arial"/>
                <a:ea typeface="Arial"/>
                <a:cs typeface="Arial"/>
              </a:defRPr>
            </a:pPr>
            <a:r>
              <a:rPr sz="2400">
                <a:solidFill>
                  <a:srgbClr val="121426"/>
                </a:solidFill>
                <a:latin typeface="Arial"/>
                <a:ea typeface="Arial"/>
                <a:cs typeface="Arial"/>
              </a:rPr>
              <a:t>Correct situation recognition was not strongly linked to one fixed AOI. Useful cues changed by video and situation.</a:t>
            </a:r>
          </a:p>
        </p:txBody>
      </p:sp>
      <p:sp>
        <p:nvSpPr>
          <p:cNvPr id="588" name="RQ5-card">
            <a:extLst>
              <a:ext uri="{FF2B5EF4-FFF2-40B4-BE49-F238E27FC236}">
                <a16:creationId xmlns:a16="http://schemas.microsoft.com/office/drawing/2014/main" id="{E55B04C3-1404-4236-9C4E-8660850FDCF6}"/>
              </a:ext>
            </a:extLst>
          </p:cNvPr>
          <p:cNvSpPr>
            <a:spLocks noGrp="1"/>
          </p:cNvSpPr>
          <p:nvPr/>
        </p:nvSpPr>
        <p:spPr>
          <a:xfrm>
            <a:off x="10382250" y="35352704"/>
            <a:ext cx="9525000" cy="2563200"/>
          </a:xfrm>
          <a:prstGeom prst="roundRect">
            <a:avLst>
              <a:gd name="adj" fmla="val 2791"/>
            </a:avLst>
          </a:prstGeom>
          <a:solidFill>
            <a:srgbClr val="FFFFFF"/>
          </a:solidFill>
          <a:ln w="19050">
            <a:solidFill>
              <a:srgbClr val="9BB6D3"/>
            </a:solidFill>
            <a:prstDash val="solid"/>
          </a:ln>
        </p:spPr>
        <p:txBody>
          <a:bodyPr/>
          <a:lstStyle/>
          <a:p>
            <a:pPr marL="0" indent="0" algn="l" defTabSz="914400" rtl="0"/>
            <a:endParaRPr sz="2000"/>
          </a:p>
        </p:txBody>
      </p:sp>
      <p:sp>
        <p:nvSpPr>
          <p:cNvPr id="589" name="RQ5-accent">
            <a:extLst>
              <a:ext uri="{FF2B5EF4-FFF2-40B4-BE49-F238E27FC236}">
                <a16:creationId xmlns:a16="http://schemas.microsoft.com/office/drawing/2014/main" id="{67742567-35E5-499C-A6B7-6E467138A4FB}"/>
              </a:ext>
            </a:extLst>
          </p:cNvPr>
          <p:cNvSpPr>
            <a:spLocks noGrp="1"/>
          </p:cNvSpPr>
          <p:nvPr/>
        </p:nvSpPr>
        <p:spPr>
          <a:xfrm>
            <a:off x="10382250" y="35352705"/>
            <a:ext cx="9525000" cy="114300"/>
          </a:xfrm>
          <a:prstGeom prst="rect">
            <a:avLst/>
          </a:prstGeom>
          <a:solidFill>
            <a:srgbClr val="6E5AA8"/>
          </a:solidFill>
          <a:ln w="0">
            <a:solidFill>
              <a:srgbClr val="6E5AA8"/>
            </a:solidFill>
            <a:prstDash val="solid"/>
          </a:ln>
        </p:spPr>
        <p:txBody>
          <a:bodyPr/>
          <a:lstStyle/>
          <a:p>
            <a:endParaRPr sz="2000"/>
          </a:p>
        </p:txBody>
      </p:sp>
      <p:sp>
        <p:nvSpPr>
          <p:cNvPr id="590" name="RQ5-badge">
            <a:extLst>
              <a:ext uri="{FF2B5EF4-FFF2-40B4-BE49-F238E27FC236}">
                <a16:creationId xmlns:a16="http://schemas.microsoft.com/office/drawing/2014/main" id="{B0C1B81E-4AC8-4DC2-8437-D523741912B5}"/>
              </a:ext>
            </a:extLst>
          </p:cNvPr>
          <p:cNvSpPr>
            <a:spLocks noGrp="1"/>
          </p:cNvSpPr>
          <p:nvPr/>
        </p:nvSpPr>
        <p:spPr>
          <a:xfrm>
            <a:off x="10591800" y="35638455"/>
            <a:ext cx="876300" cy="533400"/>
          </a:xfrm>
          <a:prstGeom prst="roundRect">
            <a:avLst>
              <a:gd name="adj" fmla="val 10714"/>
            </a:avLst>
          </a:prstGeom>
          <a:solidFill>
            <a:srgbClr val="6E5AA8"/>
          </a:solidFill>
          <a:ln w="0">
            <a:solidFill>
              <a:srgbClr val="6E5AA8"/>
            </a:solidFill>
            <a:prstDash val="solid"/>
          </a:ln>
        </p:spPr>
        <p:txBody>
          <a:bodyPr/>
          <a:lstStyle/>
          <a:p>
            <a:endParaRPr sz="2000"/>
          </a:p>
        </p:txBody>
      </p:sp>
      <p:sp>
        <p:nvSpPr>
          <p:cNvPr id="591" name="RQ5-badge-text">
            <a:extLst>
              <a:ext uri="{FF2B5EF4-FFF2-40B4-BE49-F238E27FC236}">
                <a16:creationId xmlns:a16="http://schemas.microsoft.com/office/drawing/2014/main" id="{85C786BC-7A44-4A6D-87D1-AF4169B0C23B}"/>
              </a:ext>
            </a:extLst>
          </p:cNvPr>
          <p:cNvSpPr>
            <a:spLocks noGrp="1"/>
          </p:cNvSpPr>
          <p:nvPr/>
        </p:nvSpPr>
        <p:spPr>
          <a:xfrm>
            <a:off x="10591800" y="35724180"/>
            <a:ext cx="876300" cy="323850"/>
          </a:xfrm>
          <a:prstGeom prst="rect">
            <a:avLst/>
          </a:prstGeom>
          <a:noFill/>
          <a:ln w="0">
            <a:noFill/>
            <a:prstDash val="solid"/>
          </a:ln>
        </p:spPr>
        <p:txBody>
          <a:bodyPr/>
          <a:lstStyle/>
          <a:p>
            <a:pPr algn="ctr">
              <a:buNone/>
              <a:defRPr sz="2025" b="1">
                <a:solidFill>
                  <a:srgbClr val="FFFFFF"/>
                </a:solidFill>
                <a:latin typeface="Arial"/>
                <a:ea typeface="Arial"/>
                <a:cs typeface="Arial"/>
              </a:defRPr>
            </a:pPr>
            <a:r>
              <a:rPr sz="2400" b="1">
                <a:solidFill>
                  <a:srgbClr val="FFFFFF"/>
                </a:solidFill>
                <a:latin typeface="Arial"/>
                <a:ea typeface="Arial"/>
                <a:cs typeface="Arial"/>
              </a:rPr>
              <a:t>RQ5</a:t>
            </a:r>
          </a:p>
        </p:txBody>
      </p:sp>
      <p:sp>
        <p:nvSpPr>
          <p:cNvPr id="592" name="RQ5-topic">
            <a:extLst>
              <a:ext uri="{FF2B5EF4-FFF2-40B4-BE49-F238E27FC236}">
                <a16:creationId xmlns:a16="http://schemas.microsoft.com/office/drawing/2014/main" id="{2ED7AE26-4AA8-4795-B43B-8642AA219F62}"/>
              </a:ext>
            </a:extLst>
          </p:cNvPr>
          <p:cNvSpPr>
            <a:spLocks noGrp="1"/>
          </p:cNvSpPr>
          <p:nvPr/>
        </p:nvSpPr>
        <p:spPr>
          <a:xfrm>
            <a:off x="11639550" y="35619405"/>
            <a:ext cx="8001000" cy="419100"/>
          </a:xfrm>
          <a:prstGeom prst="rect">
            <a:avLst/>
          </a:prstGeom>
          <a:noFill/>
          <a:ln w="0">
            <a:noFill/>
            <a:prstDash val="solid"/>
          </a:ln>
        </p:spPr>
        <p:txBody>
          <a:bodyPr/>
          <a:lstStyle/>
          <a:p>
            <a:pPr>
              <a:buNone/>
              <a:defRPr sz="2175" b="1">
                <a:solidFill>
                  <a:srgbClr val="28235C"/>
                </a:solidFill>
                <a:latin typeface="Arial"/>
                <a:ea typeface="Arial"/>
                <a:cs typeface="Arial"/>
              </a:defRPr>
            </a:pPr>
            <a:r>
              <a:rPr lang="en-IL" sz="2400" dirty="0"/>
              <a:t>How do dog type and situation affect emotional perception?</a:t>
            </a:r>
            <a:endParaRPr sz="2400" b="1" dirty="0">
              <a:solidFill>
                <a:srgbClr val="28235C"/>
              </a:solidFill>
              <a:latin typeface="Arial"/>
              <a:ea typeface="Arial"/>
              <a:cs typeface="Arial"/>
            </a:endParaRPr>
          </a:p>
        </p:txBody>
      </p:sp>
      <p:sp>
        <p:nvSpPr>
          <p:cNvPr id="593" name="RQ5-finding-label">
            <a:extLst>
              <a:ext uri="{FF2B5EF4-FFF2-40B4-BE49-F238E27FC236}">
                <a16:creationId xmlns:a16="http://schemas.microsoft.com/office/drawing/2014/main" id="{63914A50-3D15-49D8-BFE8-BD4735F89B8F}"/>
              </a:ext>
            </a:extLst>
          </p:cNvPr>
          <p:cNvSpPr>
            <a:spLocks noGrp="1"/>
          </p:cNvSpPr>
          <p:nvPr/>
        </p:nvSpPr>
        <p:spPr>
          <a:xfrm>
            <a:off x="10610850" y="36286155"/>
            <a:ext cx="1524000" cy="266700"/>
          </a:xfrm>
          <a:prstGeom prst="rect">
            <a:avLst/>
          </a:prstGeom>
          <a:noFill/>
          <a:ln w="0">
            <a:noFill/>
            <a:prstDash val="solid"/>
          </a:ln>
        </p:spPr>
        <p:txBody>
          <a:bodyPr/>
          <a:lstStyle/>
          <a:p>
            <a:pPr>
              <a:buNone/>
              <a:defRPr sz="1650" b="1">
                <a:solidFill>
                  <a:srgbClr val="6E5AA8"/>
                </a:solidFill>
                <a:latin typeface="Arial"/>
                <a:ea typeface="Arial"/>
                <a:cs typeface="Arial"/>
              </a:defRPr>
            </a:pPr>
            <a:r>
              <a:rPr b="1">
                <a:solidFill>
                  <a:srgbClr val="6E5AA8"/>
                </a:solidFill>
                <a:latin typeface="Arial"/>
                <a:ea typeface="Arial"/>
                <a:cs typeface="Arial"/>
              </a:rPr>
              <a:t>Finding</a:t>
            </a:r>
          </a:p>
        </p:txBody>
      </p:sp>
      <p:sp>
        <p:nvSpPr>
          <p:cNvPr id="594" name="RQ5-finding">
            <a:extLst>
              <a:ext uri="{FF2B5EF4-FFF2-40B4-BE49-F238E27FC236}">
                <a16:creationId xmlns:a16="http://schemas.microsoft.com/office/drawing/2014/main" id="{FBE1EB5F-4C35-4A3F-A2AA-DB1DE2F365D8}"/>
              </a:ext>
            </a:extLst>
          </p:cNvPr>
          <p:cNvSpPr>
            <a:spLocks noGrp="1"/>
          </p:cNvSpPr>
          <p:nvPr/>
        </p:nvSpPr>
        <p:spPr>
          <a:xfrm>
            <a:off x="10610850" y="36571905"/>
            <a:ext cx="9067800" cy="695325"/>
          </a:xfrm>
          <a:prstGeom prst="rect">
            <a:avLst/>
          </a:prstGeom>
          <a:noFill/>
          <a:ln w="0">
            <a:noFill/>
            <a:prstDash val="solid"/>
          </a:ln>
        </p:spPr>
        <p:txBody>
          <a:bodyPr/>
          <a:lstStyle/>
          <a:p>
            <a:pPr>
              <a:buNone/>
              <a:defRPr sz="1800">
                <a:solidFill>
                  <a:srgbClr val="121426"/>
                </a:solidFill>
                <a:latin typeface="Arial"/>
                <a:ea typeface="Arial"/>
                <a:cs typeface="Arial"/>
              </a:defRPr>
            </a:pPr>
            <a:r>
              <a:rPr sz="2400">
                <a:solidFill>
                  <a:srgbClr val="121426"/>
                </a:solidFill>
                <a:latin typeface="Arial"/>
                <a:ea typeface="Arial"/>
                <a:cs typeface="Arial"/>
              </a:rPr>
              <a:t>Perceived emotion depended on the combination of dog type, situation, movement and video-specific visual cues.</a:t>
            </a:r>
          </a:p>
        </p:txBody>
      </p:sp>
      <p:sp>
        <p:nvSpPr>
          <p:cNvPr id="595" name="RQ6-card">
            <a:extLst>
              <a:ext uri="{FF2B5EF4-FFF2-40B4-BE49-F238E27FC236}">
                <a16:creationId xmlns:a16="http://schemas.microsoft.com/office/drawing/2014/main" id="{2F991613-2F68-4316-AC29-76D5D0A8341C}"/>
              </a:ext>
            </a:extLst>
          </p:cNvPr>
          <p:cNvSpPr>
            <a:spLocks noGrp="1"/>
          </p:cNvSpPr>
          <p:nvPr/>
        </p:nvSpPr>
        <p:spPr>
          <a:xfrm>
            <a:off x="20231100" y="35352704"/>
            <a:ext cx="9525000" cy="2563200"/>
          </a:xfrm>
          <a:prstGeom prst="roundRect">
            <a:avLst>
              <a:gd name="adj" fmla="val 2791"/>
            </a:avLst>
          </a:prstGeom>
          <a:solidFill>
            <a:srgbClr val="FFFFFF"/>
          </a:solidFill>
          <a:ln w="19050">
            <a:solidFill>
              <a:srgbClr val="9BB6D3"/>
            </a:solidFill>
            <a:prstDash val="solid"/>
          </a:ln>
        </p:spPr>
        <p:txBody>
          <a:bodyPr/>
          <a:lstStyle/>
          <a:p>
            <a:pPr marL="0" indent="0" algn="l" defTabSz="914400" rtl="0"/>
            <a:endParaRPr sz="2000"/>
          </a:p>
        </p:txBody>
      </p:sp>
      <p:sp>
        <p:nvSpPr>
          <p:cNvPr id="596" name="RQ6-accent">
            <a:extLst>
              <a:ext uri="{FF2B5EF4-FFF2-40B4-BE49-F238E27FC236}">
                <a16:creationId xmlns:a16="http://schemas.microsoft.com/office/drawing/2014/main" id="{7E9107B8-0199-4008-AA8E-2A95F3940686}"/>
              </a:ext>
            </a:extLst>
          </p:cNvPr>
          <p:cNvSpPr>
            <a:spLocks noGrp="1"/>
          </p:cNvSpPr>
          <p:nvPr/>
        </p:nvSpPr>
        <p:spPr>
          <a:xfrm>
            <a:off x="20231100" y="35352705"/>
            <a:ext cx="9525000" cy="114300"/>
          </a:xfrm>
          <a:prstGeom prst="rect">
            <a:avLst/>
          </a:prstGeom>
          <a:solidFill>
            <a:srgbClr val="D84D4D"/>
          </a:solidFill>
          <a:ln w="0">
            <a:solidFill>
              <a:srgbClr val="D84D4D"/>
            </a:solidFill>
            <a:prstDash val="solid"/>
          </a:ln>
        </p:spPr>
        <p:txBody>
          <a:bodyPr/>
          <a:lstStyle/>
          <a:p>
            <a:endParaRPr sz="2000"/>
          </a:p>
        </p:txBody>
      </p:sp>
      <p:sp>
        <p:nvSpPr>
          <p:cNvPr id="597" name="RQ6-badge">
            <a:extLst>
              <a:ext uri="{FF2B5EF4-FFF2-40B4-BE49-F238E27FC236}">
                <a16:creationId xmlns:a16="http://schemas.microsoft.com/office/drawing/2014/main" id="{E860884A-97D8-48EB-9B1A-193CFAEFD27E}"/>
              </a:ext>
            </a:extLst>
          </p:cNvPr>
          <p:cNvSpPr>
            <a:spLocks noGrp="1"/>
          </p:cNvSpPr>
          <p:nvPr/>
        </p:nvSpPr>
        <p:spPr>
          <a:xfrm>
            <a:off x="20440650" y="35638455"/>
            <a:ext cx="876300" cy="533400"/>
          </a:xfrm>
          <a:prstGeom prst="roundRect">
            <a:avLst>
              <a:gd name="adj" fmla="val 10714"/>
            </a:avLst>
          </a:prstGeom>
          <a:solidFill>
            <a:srgbClr val="D84D4D"/>
          </a:solidFill>
          <a:ln w="0">
            <a:solidFill>
              <a:srgbClr val="D84D4D"/>
            </a:solidFill>
            <a:prstDash val="solid"/>
          </a:ln>
        </p:spPr>
        <p:txBody>
          <a:bodyPr/>
          <a:lstStyle/>
          <a:p>
            <a:endParaRPr sz="2000"/>
          </a:p>
        </p:txBody>
      </p:sp>
      <p:sp>
        <p:nvSpPr>
          <p:cNvPr id="598" name="RQ6-badge-text">
            <a:extLst>
              <a:ext uri="{FF2B5EF4-FFF2-40B4-BE49-F238E27FC236}">
                <a16:creationId xmlns:a16="http://schemas.microsoft.com/office/drawing/2014/main" id="{98A2D280-FCC2-495D-A89A-36F1AA32D983}"/>
              </a:ext>
            </a:extLst>
          </p:cNvPr>
          <p:cNvSpPr>
            <a:spLocks noGrp="1"/>
          </p:cNvSpPr>
          <p:nvPr/>
        </p:nvSpPr>
        <p:spPr>
          <a:xfrm>
            <a:off x="20440650" y="35724180"/>
            <a:ext cx="876300" cy="323850"/>
          </a:xfrm>
          <a:prstGeom prst="rect">
            <a:avLst/>
          </a:prstGeom>
          <a:noFill/>
          <a:ln w="0">
            <a:noFill/>
            <a:prstDash val="solid"/>
          </a:ln>
        </p:spPr>
        <p:txBody>
          <a:bodyPr/>
          <a:lstStyle/>
          <a:p>
            <a:pPr algn="ctr">
              <a:buNone/>
              <a:defRPr sz="2025" b="1">
                <a:solidFill>
                  <a:srgbClr val="FFFFFF"/>
                </a:solidFill>
                <a:latin typeface="Arial"/>
                <a:ea typeface="Arial"/>
                <a:cs typeface="Arial"/>
              </a:defRPr>
            </a:pPr>
            <a:r>
              <a:rPr sz="2400" b="1">
                <a:solidFill>
                  <a:srgbClr val="FFFFFF"/>
                </a:solidFill>
                <a:latin typeface="Arial"/>
                <a:ea typeface="Arial"/>
                <a:cs typeface="Arial"/>
              </a:rPr>
              <a:t>RQ6</a:t>
            </a:r>
          </a:p>
        </p:txBody>
      </p:sp>
      <p:sp>
        <p:nvSpPr>
          <p:cNvPr id="599" name="RQ6-topic">
            <a:extLst>
              <a:ext uri="{FF2B5EF4-FFF2-40B4-BE49-F238E27FC236}">
                <a16:creationId xmlns:a16="http://schemas.microsoft.com/office/drawing/2014/main" id="{858D2E23-5E6C-4283-AE57-45C66946BB5A}"/>
              </a:ext>
            </a:extLst>
          </p:cNvPr>
          <p:cNvSpPr>
            <a:spLocks noGrp="1"/>
          </p:cNvSpPr>
          <p:nvPr/>
        </p:nvSpPr>
        <p:spPr>
          <a:xfrm>
            <a:off x="21488400" y="35619405"/>
            <a:ext cx="8001000" cy="419100"/>
          </a:xfrm>
          <a:prstGeom prst="rect">
            <a:avLst/>
          </a:prstGeom>
          <a:noFill/>
          <a:ln w="0">
            <a:noFill/>
            <a:prstDash val="solid"/>
          </a:ln>
        </p:spPr>
        <p:txBody>
          <a:bodyPr/>
          <a:lstStyle/>
          <a:p>
            <a:pPr>
              <a:buNone/>
              <a:defRPr sz="2175" b="1">
                <a:solidFill>
                  <a:srgbClr val="28235C"/>
                </a:solidFill>
                <a:latin typeface="Arial"/>
                <a:ea typeface="Arial"/>
                <a:cs typeface="Arial"/>
              </a:defRPr>
            </a:pPr>
            <a:r>
              <a:rPr lang="en-IL" sz="2400" dirty="0"/>
              <a:t>Do self-reported visual cues match actual gaze behavior?</a:t>
            </a:r>
            <a:endParaRPr sz="2400" b="1" dirty="0">
              <a:solidFill>
                <a:srgbClr val="28235C"/>
              </a:solidFill>
              <a:latin typeface="Arial"/>
              <a:ea typeface="Arial"/>
              <a:cs typeface="Arial"/>
            </a:endParaRPr>
          </a:p>
        </p:txBody>
      </p:sp>
      <p:sp>
        <p:nvSpPr>
          <p:cNvPr id="600" name="RQ6-finding-label">
            <a:extLst>
              <a:ext uri="{FF2B5EF4-FFF2-40B4-BE49-F238E27FC236}">
                <a16:creationId xmlns:a16="http://schemas.microsoft.com/office/drawing/2014/main" id="{57C76546-A3CD-4504-BAE4-C7AAEC578FEB}"/>
              </a:ext>
            </a:extLst>
          </p:cNvPr>
          <p:cNvSpPr>
            <a:spLocks noGrp="1"/>
          </p:cNvSpPr>
          <p:nvPr/>
        </p:nvSpPr>
        <p:spPr>
          <a:xfrm>
            <a:off x="20459700" y="36286155"/>
            <a:ext cx="1524000" cy="266700"/>
          </a:xfrm>
          <a:prstGeom prst="rect">
            <a:avLst/>
          </a:prstGeom>
          <a:noFill/>
          <a:ln w="0">
            <a:noFill/>
            <a:prstDash val="solid"/>
          </a:ln>
        </p:spPr>
        <p:txBody>
          <a:bodyPr/>
          <a:lstStyle/>
          <a:p>
            <a:pPr>
              <a:buNone/>
              <a:defRPr sz="1650" b="1">
                <a:solidFill>
                  <a:srgbClr val="D84D4D"/>
                </a:solidFill>
                <a:latin typeface="Arial"/>
                <a:ea typeface="Arial"/>
                <a:cs typeface="Arial"/>
              </a:defRPr>
            </a:pPr>
            <a:r>
              <a:rPr b="1">
                <a:solidFill>
                  <a:srgbClr val="D84D4D"/>
                </a:solidFill>
                <a:latin typeface="Arial"/>
                <a:ea typeface="Arial"/>
                <a:cs typeface="Arial"/>
              </a:rPr>
              <a:t>Finding</a:t>
            </a:r>
          </a:p>
        </p:txBody>
      </p:sp>
      <p:sp>
        <p:nvSpPr>
          <p:cNvPr id="601" name="RQ6-finding">
            <a:extLst>
              <a:ext uri="{FF2B5EF4-FFF2-40B4-BE49-F238E27FC236}">
                <a16:creationId xmlns:a16="http://schemas.microsoft.com/office/drawing/2014/main" id="{D26D8678-E09D-4ABC-8E15-D157265920D4}"/>
              </a:ext>
            </a:extLst>
          </p:cNvPr>
          <p:cNvSpPr>
            <a:spLocks noGrp="1"/>
          </p:cNvSpPr>
          <p:nvPr/>
        </p:nvSpPr>
        <p:spPr>
          <a:xfrm>
            <a:off x="20459700" y="36571905"/>
            <a:ext cx="9067800" cy="695325"/>
          </a:xfrm>
          <a:prstGeom prst="rect">
            <a:avLst/>
          </a:prstGeom>
          <a:noFill/>
          <a:ln w="0">
            <a:noFill/>
            <a:prstDash val="solid"/>
          </a:ln>
        </p:spPr>
        <p:txBody>
          <a:bodyPr/>
          <a:lstStyle/>
          <a:p>
            <a:pPr>
              <a:buNone/>
              <a:defRPr sz="1800">
                <a:solidFill>
                  <a:srgbClr val="121426"/>
                </a:solidFill>
                <a:latin typeface="Arial"/>
                <a:ea typeface="Arial"/>
                <a:cs typeface="Arial"/>
              </a:defRPr>
            </a:pPr>
            <a:r>
              <a:rPr sz="2400">
                <a:solidFill>
                  <a:srgbClr val="121426"/>
                </a:solidFill>
                <a:latin typeface="Arial"/>
                <a:ea typeface="Arial"/>
                <a:cs typeface="Arial"/>
              </a:rPr>
              <a:t>Self-reported informative cues did not fully match gaze behavior: participants reported body cues, but fixations stayed mostly on facial regions.</a:t>
            </a:r>
          </a:p>
        </p:txBody>
      </p:sp>
      <p:sp>
        <p:nvSpPr>
          <p:cNvPr id="612" name="footer-challenges-mask">
            <a:extLst>
              <a:ext uri="{FF2B5EF4-FFF2-40B4-BE49-F238E27FC236}">
                <a16:creationId xmlns:a16="http://schemas.microsoft.com/office/drawing/2014/main" id="{4337AA9B-F4BC-428A-AE33-B758984D09E9}"/>
              </a:ext>
            </a:extLst>
          </p:cNvPr>
          <p:cNvSpPr>
            <a:spLocks noGrp="1"/>
          </p:cNvSpPr>
          <p:nvPr/>
        </p:nvSpPr>
        <p:spPr>
          <a:xfrm>
            <a:off x="152400" y="38719125"/>
            <a:ext cx="30175200" cy="6667500"/>
          </a:xfrm>
          <a:prstGeom prst="rect">
            <a:avLst/>
          </a:prstGeom>
          <a:solidFill>
            <a:srgbClr val="28235C"/>
          </a:solidFill>
          <a:ln w="0">
            <a:solidFill>
              <a:srgbClr val="28235C"/>
            </a:solidFill>
            <a:prstDash val="solid"/>
          </a:ln>
        </p:spPr>
        <p:txBody>
          <a:bodyPr/>
          <a:lstStyle/>
          <a:p>
            <a:pPr marL="0" indent="0" algn="l">
              <a:buNone/>
            </a:pPr>
            <a:endParaRPr sz="2000"/>
          </a:p>
        </p:txBody>
      </p:sp>
      <p:sp>
        <p:nvSpPr>
          <p:cNvPr id="613" name="footer-challenges-title">
            <a:extLst>
              <a:ext uri="{FF2B5EF4-FFF2-40B4-BE49-F238E27FC236}">
                <a16:creationId xmlns:a16="http://schemas.microsoft.com/office/drawing/2014/main" id="{7A6CCA48-4E28-496A-9D5C-2C47649984D2}"/>
              </a:ext>
            </a:extLst>
          </p:cNvPr>
          <p:cNvSpPr>
            <a:spLocks noGrp="1"/>
          </p:cNvSpPr>
          <p:nvPr/>
        </p:nvSpPr>
        <p:spPr>
          <a:xfrm>
            <a:off x="571500" y="39052500"/>
            <a:ext cx="13335000" cy="590550"/>
          </a:xfrm>
          <a:prstGeom prst="rect">
            <a:avLst/>
          </a:prstGeom>
          <a:noFill/>
          <a:ln w="0">
            <a:noFill/>
            <a:prstDash val="solid"/>
          </a:ln>
        </p:spPr>
        <p:txBody>
          <a:bodyPr/>
          <a:lstStyle/>
          <a:p>
            <a:pPr>
              <a:buNone/>
              <a:defRPr sz="3600" b="1">
                <a:solidFill>
                  <a:srgbClr val="FFFFFF"/>
                </a:solidFill>
                <a:latin typeface="Arial"/>
                <a:ea typeface="Arial"/>
                <a:cs typeface="Arial"/>
              </a:defRPr>
            </a:pPr>
            <a:r>
              <a:rPr sz="4000" b="1">
                <a:solidFill>
                  <a:srgbClr val="FFFFFF"/>
                </a:solidFill>
                <a:latin typeface="Arial"/>
                <a:ea typeface="Arial"/>
                <a:cs typeface="Arial"/>
              </a:rPr>
              <a:t>CHALLENGES &amp; LIMITATIONS</a:t>
            </a:r>
          </a:p>
        </p:txBody>
      </p:sp>
      <p:sp>
        <p:nvSpPr>
          <p:cNvPr id="615" name="footer-calibration-box">
            <a:extLst>
              <a:ext uri="{FF2B5EF4-FFF2-40B4-BE49-F238E27FC236}">
                <a16:creationId xmlns:a16="http://schemas.microsoft.com/office/drawing/2014/main" id="{ABE0F370-FDEC-4496-B3F4-5BE4858EFD9C}"/>
              </a:ext>
            </a:extLst>
          </p:cNvPr>
          <p:cNvSpPr>
            <a:spLocks noGrp="1"/>
          </p:cNvSpPr>
          <p:nvPr/>
        </p:nvSpPr>
        <p:spPr>
          <a:xfrm>
            <a:off x="571500" y="40481250"/>
            <a:ext cx="6858000" cy="1857600"/>
          </a:xfrm>
          <a:prstGeom prst="roundRect">
            <a:avLst>
              <a:gd name="adj" fmla="val 3529"/>
            </a:avLst>
          </a:prstGeom>
          <a:solidFill>
            <a:srgbClr val="332E70"/>
          </a:solidFill>
          <a:ln w="28575">
            <a:solidFill>
              <a:srgbClr val="14A098"/>
            </a:solidFill>
            <a:prstDash val="solid"/>
          </a:ln>
        </p:spPr>
        <p:txBody>
          <a:bodyPr/>
          <a:lstStyle/>
          <a:p>
            <a:pPr marL="0" indent="0" algn="l">
              <a:buNone/>
            </a:pPr>
            <a:endParaRPr sz="2000"/>
          </a:p>
        </p:txBody>
      </p:sp>
      <p:sp>
        <p:nvSpPr>
          <p:cNvPr id="616" name="footer-calibration-accent">
            <a:extLst>
              <a:ext uri="{FF2B5EF4-FFF2-40B4-BE49-F238E27FC236}">
                <a16:creationId xmlns:a16="http://schemas.microsoft.com/office/drawing/2014/main" id="{4671CAC9-6EFF-433B-A20E-34216F3D6594}"/>
              </a:ext>
            </a:extLst>
          </p:cNvPr>
          <p:cNvSpPr>
            <a:spLocks noGrp="1"/>
          </p:cNvSpPr>
          <p:nvPr/>
        </p:nvSpPr>
        <p:spPr>
          <a:xfrm>
            <a:off x="571500" y="40481250"/>
            <a:ext cx="6858000" cy="114300"/>
          </a:xfrm>
          <a:prstGeom prst="rect">
            <a:avLst/>
          </a:prstGeom>
          <a:solidFill>
            <a:srgbClr val="14A098"/>
          </a:solidFill>
          <a:ln w="0">
            <a:solidFill>
              <a:srgbClr val="14A098"/>
            </a:solidFill>
            <a:prstDash val="solid"/>
          </a:ln>
        </p:spPr>
        <p:txBody>
          <a:bodyPr/>
          <a:lstStyle/>
          <a:p>
            <a:endParaRPr sz="2000"/>
          </a:p>
        </p:txBody>
      </p:sp>
      <p:sp>
        <p:nvSpPr>
          <p:cNvPr id="617" name="footer-calibration-title">
            <a:extLst>
              <a:ext uri="{FF2B5EF4-FFF2-40B4-BE49-F238E27FC236}">
                <a16:creationId xmlns:a16="http://schemas.microsoft.com/office/drawing/2014/main" id="{5E5661C4-42BD-4710-B44A-16FAB5FE451B}"/>
              </a:ext>
            </a:extLst>
          </p:cNvPr>
          <p:cNvSpPr>
            <a:spLocks noGrp="1"/>
          </p:cNvSpPr>
          <p:nvPr/>
        </p:nvSpPr>
        <p:spPr>
          <a:xfrm>
            <a:off x="781050" y="40767000"/>
            <a:ext cx="6438900" cy="342900"/>
          </a:xfrm>
          <a:prstGeom prst="rect">
            <a:avLst/>
          </a:prstGeom>
          <a:noFill/>
          <a:ln w="0">
            <a:noFill/>
            <a:prstDash val="solid"/>
          </a:ln>
        </p:spPr>
        <p:txBody>
          <a:bodyPr/>
          <a:lstStyle/>
          <a:p>
            <a:pPr>
              <a:buNone/>
              <a:defRPr sz="2250" b="1">
                <a:solidFill>
                  <a:srgbClr val="FFFFFF"/>
                </a:solidFill>
                <a:latin typeface="Arial"/>
                <a:ea typeface="Arial"/>
                <a:cs typeface="Arial"/>
              </a:defRPr>
            </a:pPr>
            <a:r>
              <a:rPr sz="2400" b="1">
                <a:solidFill>
                  <a:srgbClr val="FFFFFF"/>
                </a:solidFill>
                <a:latin typeface="Arial"/>
                <a:ea typeface="Arial"/>
                <a:cs typeface="Arial"/>
              </a:rPr>
              <a:t>Calibration Reliability</a:t>
            </a:r>
          </a:p>
        </p:txBody>
      </p:sp>
      <p:sp>
        <p:nvSpPr>
          <p:cNvPr id="618" name="footer-calibration-body">
            <a:extLst>
              <a:ext uri="{FF2B5EF4-FFF2-40B4-BE49-F238E27FC236}">
                <a16:creationId xmlns:a16="http://schemas.microsoft.com/office/drawing/2014/main" id="{FE2A4657-E617-4EBE-9471-0DCCB5FAFA5C}"/>
              </a:ext>
            </a:extLst>
          </p:cNvPr>
          <p:cNvSpPr>
            <a:spLocks noGrp="1"/>
          </p:cNvSpPr>
          <p:nvPr/>
        </p:nvSpPr>
        <p:spPr>
          <a:xfrm>
            <a:off x="781050" y="41205150"/>
            <a:ext cx="6438900" cy="742950"/>
          </a:xfrm>
          <a:prstGeom prst="rect">
            <a:avLst/>
          </a:prstGeom>
          <a:noFill/>
          <a:ln w="0">
            <a:noFill/>
            <a:prstDash val="solid"/>
          </a:ln>
        </p:spPr>
        <p:txBody>
          <a:bodyPr/>
          <a:lstStyle/>
          <a:p>
            <a:pPr>
              <a:buNone/>
              <a:defRPr sz="1875">
                <a:solidFill>
                  <a:srgbClr val="DDEBFF"/>
                </a:solidFill>
                <a:latin typeface="Arial"/>
                <a:ea typeface="Arial"/>
                <a:cs typeface="Arial"/>
              </a:defRPr>
            </a:pPr>
            <a:r>
              <a:rPr sz="2000">
                <a:solidFill>
                  <a:srgbClr val="DDEBFF"/>
                </a:solidFill>
                <a:latin typeface="Arial"/>
                <a:ea typeface="Arial"/>
                <a:cs typeface="Arial"/>
              </a:rPr>
              <a:t>Lighting, blinking, head movement and glasses affected tracking quality, so setup conditions and participant inclusion had to be controlled.</a:t>
            </a:r>
          </a:p>
        </p:txBody>
      </p:sp>
      <p:sp>
        <p:nvSpPr>
          <p:cNvPr id="619" name="footer-video-box">
            <a:extLst>
              <a:ext uri="{FF2B5EF4-FFF2-40B4-BE49-F238E27FC236}">
                <a16:creationId xmlns:a16="http://schemas.microsoft.com/office/drawing/2014/main" id="{C7B2F409-32F7-4E74-92C0-870C57136761}"/>
              </a:ext>
            </a:extLst>
          </p:cNvPr>
          <p:cNvSpPr>
            <a:spLocks noGrp="1"/>
          </p:cNvSpPr>
          <p:nvPr/>
        </p:nvSpPr>
        <p:spPr>
          <a:xfrm>
            <a:off x="7905750" y="40481250"/>
            <a:ext cx="6858000" cy="1857600"/>
          </a:xfrm>
          <a:prstGeom prst="roundRect">
            <a:avLst>
              <a:gd name="adj" fmla="val 3529"/>
            </a:avLst>
          </a:prstGeom>
          <a:solidFill>
            <a:srgbClr val="332E70"/>
          </a:solidFill>
          <a:ln w="28575">
            <a:solidFill>
              <a:srgbClr val="3975A8"/>
            </a:solidFill>
            <a:prstDash val="solid"/>
          </a:ln>
        </p:spPr>
        <p:txBody>
          <a:bodyPr/>
          <a:lstStyle/>
          <a:p>
            <a:pPr marL="0" indent="0" algn="l">
              <a:buNone/>
            </a:pPr>
            <a:endParaRPr sz="2000"/>
          </a:p>
        </p:txBody>
      </p:sp>
      <p:sp>
        <p:nvSpPr>
          <p:cNvPr id="620" name="footer-video-accent">
            <a:extLst>
              <a:ext uri="{FF2B5EF4-FFF2-40B4-BE49-F238E27FC236}">
                <a16:creationId xmlns:a16="http://schemas.microsoft.com/office/drawing/2014/main" id="{C36478B6-4B1D-4723-8A8D-C1F16802D713}"/>
              </a:ext>
            </a:extLst>
          </p:cNvPr>
          <p:cNvSpPr>
            <a:spLocks noGrp="1"/>
          </p:cNvSpPr>
          <p:nvPr/>
        </p:nvSpPr>
        <p:spPr>
          <a:xfrm>
            <a:off x="7905750" y="40481250"/>
            <a:ext cx="6858000" cy="114300"/>
          </a:xfrm>
          <a:prstGeom prst="rect">
            <a:avLst/>
          </a:prstGeom>
          <a:solidFill>
            <a:srgbClr val="3975A8"/>
          </a:solidFill>
          <a:ln w="0">
            <a:solidFill>
              <a:srgbClr val="3975A8"/>
            </a:solidFill>
            <a:prstDash val="solid"/>
          </a:ln>
        </p:spPr>
        <p:txBody>
          <a:bodyPr/>
          <a:lstStyle/>
          <a:p>
            <a:endParaRPr sz="2000"/>
          </a:p>
        </p:txBody>
      </p:sp>
      <p:sp>
        <p:nvSpPr>
          <p:cNvPr id="621" name="footer-video-title">
            <a:extLst>
              <a:ext uri="{FF2B5EF4-FFF2-40B4-BE49-F238E27FC236}">
                <a16:creationId xmlns:a16="http://schemas.microsoft.com/office/drawing/2014/main" id="{53973D32-039B-4C17-9D3A-FA5C58492AEF}"/>
              </a:ext>
            </a:extLst>
          </p:cNvPr>
          <p:cNvSpPr>
            <a:spLocks noGrp="1"/>
          </p:cNvSpPr>
          <p:nvPr/>
        </p:nvSpPr>
        <p:spPr>
          <a:xfrm>
            <a:off x="8115300" y="40767000"/>
            <a:ext cx="6438900" cy="342900"/>
          </a:xfrm>
          <a:prstGeom prst="rect">
            <a:avLst/>
          </a:prstGeom>
          <a:noFill/>
          <a:ln w="0">
            <a:noFill/>
            <a:prstDash val="solid"/>
          </a:ln>
        </p:spPr>
        <p:txBody>
          <a:bodyPr/>
          <a:lstStyle/>
          <a:p>
            <a:pPr>
              <a:buNone/>
              <a:defRPr sz="2250" b="1">
                <a:solidFill>
                  <a:srgbClr val="FFFFFF"/>
                </a:solidFill>
                <a:latin typeface="Arial"/>
                <a:ea typeface="Arial"/>
                <a:cs typeface="Arial"/>
              </a:defRPr>
            </a:pPr>
            <a:r>
              <a:rPr sz="2400" b="1">
                <a:solidFill>
                  <a:srgbClr val="FFFFFF"/>
                </a:solidFill>
                <a:latin typeface="Arial"/>
                <a:ea typeface="Arial"/>
                <a:cs typeface="Arial"/>
              </a:rPr>
              <a:t>Video Variability</a:t>
            </a:r>
          </a:p>
        </p:txBody>
      </p:sp>
      <p:sp>
        <p:nvSpPr>
          <p:cNvPr id="622" name="footer-video-body">
            <a:extLst>
              <a:ext uri="{FF2B5EF4-FFF2-40B4-BE49-F238E27FC236}">
                <a16:creationId xmlns:a16="http://schemas.microsoft.com/office/drawing/2014/main" id="{0C4EEE04-006B-49BB-A3CD-1B44147B4858}"/>
              </a:ext>
            </a:extLst>
          </p:cNvPr>
          <p:cNvSpPr>
            <a:spLocks noGrp="1"/>
          </p:cNvSpPr>
          <p:nvPr/>
        </p:nvSpPr>
        <p:spPr>
          <a:xfrm>
            <a:off x="8115300" y="41205150"/>
            <a:ext cx="6438900" cy="742950"/>
          </a:xfrm>
          <a:prstGeom prst="rect">
            <a:avLst/>
          </a:prstGeom>
          <a:noFill/>
          <a:ln w="0">
            <a:noFill/>
            <a:prstDash val="solid"/>
          </a:ln>
        </p:spPr>
        <p:txBody>
          <a:bodyPr/>
          <a:lstStyle/>
          <a:p>
            <a:pPr>
              <a:buNone/>
              <a:defRPr sz="1875">
                <a:solidFill>
                  <a:srgbClr val="DDEBFF"/>
                </a:solidFill>
                <a:latin typeface="Arial"/>
                <a:ea typeface="Arial"/>
                <a:cs typeface="Arial"/>
              </a:defRPr>
            </a:pPr>
            <a:r>
              <a:rPr sz="2000">
                <a:solidFill>
                  <a:srgbClr val="DDEBFF"/>
                </a:solidFill>
                <a:latin typeface="Arial"/>
                <a:ea typeface="Arial"/>
                <a:cs typeface="Arial"/>
              </a:rPr>
              <a:t>Movement, camera angle, dog position and AOI visibility made some situations clearer than others.</a:t>
            </a:r>
          </a:p>
        </p:txBody>
      </p:sp>
      <p:sp>
        <p:nvSpPr>
          <p:cNvPr id="623" name="footer-sample-box">
            <a:extLst>
              <a:ext uri="{FF2B5EF4-FFF2-40B4-BE49-F238E27FC236}">
                <a16:creationId xmlns:a16="http://schemas.microsoft.com/office/drawing/2014/main" id="{8C9487ED-6E12-4BD2-9B10-D020207E9A74}"/>
              </a:ext>
            </a:extLst>
          </p:cNvPr>
          <p:cNvSpPr>
            <a:spLocks noGrp="1"/>
          </p:cNvSpPr>
          <p:nvPr/>
        </p:nvSpPr>
        <p:spPr>
          <a:xfrm>
            <a:off x="15240000" y="40481250"/>
            <a:ext cx="6858000" cy="1857600"/>
          </a:xfrm>
          <a:prstGeom prst="roundRect">
            <a:avLst>
              <a:gd name="adj" fmla="val 3529"/>
            </a:avLst>
          </a:prstGeom>
          <a:solidFill>
            <a:srgbClr val="332E70"/>
          </a:solidFill>
          <a:ln w="28575">
            <a:solidFill>
              <a:srgbClr val="F27C38"/>
            </a:solidFill>
            <a:prstDash val="solid"/>
          </a:ln>
        </p:spPr>
        <p:txBody>
          <a:bodyPr/>
          <a:lstStyle/>
          <a:p>
            <a:pPr marL="0" indent="0" algn="l">
              <a:buNone/>
            </a:pPr>
            <a:endParaRPr sz="2000"/>
          </a:p>
        </p:txBody>
      </p:sp>
      <p:sp>
        <p:nvSpPr>
          <p:cNvPr id="624" name="footer-sample-accent">
            <a:extLst>
              <a:ext uri="{FF2B5EF4-FFF2-40B4-BE49-F238E27FC236}">
                <a16:creationId xmlns:a16="http://schemas.microsoft.com/office/drawing/2014/main" id="{F10B5B0A-0A98-4C8C-A293-D19BEB1B94FC}"/>
              </a:ext>
            </a:extLst>
          </p:cNvPr>
          <p:cNvSpPr>
            <a:spLocks noGrp="1"/>
          </p:cNvSpPr>
          <p:nvPr/>
        </p:nvSpPr>
        <p:spPr>
          <a:xfrm>
            <a:off x="15240000" y="40481250"/>
            <a:ext cx="6858000" cy="114300"/>
          </a:xfrm>
          <a:prstGeom prst="rect">
            <a:avLst/>
          </a:prstGeom>
          <a:solidFill>
            <a:srgbClr val="F27C38"/>
          </a:solidFill>
          <a:ln w="0">
            <a:solidFill>
              <a:srgbClr val="F27C38"/>
            </a:solidFill>
            <a:prstDash val="solid"/>
          </a:ln>
        </p:spPr>
        <p:txBody>
          <a:bodyPr/>
          <a:lstStyle/>
          <a:p>
            <a:endParaRPr sz="2000"/>
          </a:p>
        </p:txBody>
      </p:sp>
      <p:sp>
        <p:nvSpPr>
          <p:cNvPr id="625" name="footer-sample-title">
            <a:extLst>
              <a:ext uri="{FF2B5EF4-FFF2-40B4-BE49-F238E27FC236}">
                <a16:creationId xmlns:a16="http://schemas.microsoft.com/office/drawing/2014/main" id="{4A4D48AA-CAD4-4EC0-B6BE-27A3266EF34E}"/>
              </a:ext>
            </a:extLst>
          </p:cNvPr>
          <p:cNvSpPr>
            <a:spLocks noGrp="1"/>
          </p:cNvSpPr>
          <p:nvPr/>
        </p:nvSpPr>
        <p:spPr>
          <a:xfrm>
            <a:off x="15449550" y="40767000"/>
            <a:ext cx="6438900" cy="342900"/>
          </a:xfrm>
          <a:prstGeom prst="rect">
            <a:avLst/>
          </a:prstGeom>
          <a:noFill/>
          <a:ln w="0">
            <a:noFill/>
            <a:prstDash val="solid"/>
          </a:ln>
        </p:spPr>
        <p:txBody>
          <a:bodyPr/>
          <a:lstStyle/>
          <a:p>
            <a:pPr>
              <a:buNone/>
              <a:defRPr sz="2250" b="1">
                <a:solidFill>
                  <a:srgbClr val="FFFFFF"/>
                </a:solidFill>
                <a:latin typeface="Arial"/>
                <a:ea typeface="Arial"/>
                <a:cs typeface="Arial"/>
              </a:defRPr>
            </a:pPr>
            <a:r>
              <a:rPr sz="2400" b="1">
                <a:solidFill>
                  <a:srgbClr val="FFFFFF"/>
                </a:solidFill>
                <a:latin typeface="Arial"/>
                <a:ea typeface="Arial"/>
                <a:cs typeface="Arial"/>
              </a:rPr>
              <a:t>Sample Constraints</a:t>
            </a:r>
          </a:p>
        </p:txBody>
      </p:sp>
      <p:sp>
        <p:nvSpPr>
          <p:cNvPr id="626" name="footer-sample-body">
            <a:extLst>
              <a:ext uri="{FF2B5EF4-FFF2-40B4-BE49-F238E27FC236}">
                <a16:creationId xmlns:a16="http://schemas.microsoft.com/office/drawing/2014/main" id="{AB389C7D-2096-436B-AE96-2D0902763F3D}"/>
              </a:ext>
            </a:extLst>
          </p:cNvPr>
          <p:cNvSpPr>
            <a:spLocks noGrp="1"/>
          </p:cNvSpPr>
          <p:nvPr/>
        </p:nvSpPr>
        <p:spPr>
          <a:xfrm>
            <a:off x="15449550" y="41205150"/>
            <a:ext cx="6438900" cy="742950"/>
          </a:xfrm>
          <a:prstGeom prst="rect">
            <a:avLst/>
          </a:prstGeom>
          <a:noFill/>
          <a:ln w="0">
            <a:noFill/>
            <a:prstDash val="solid"/>
          </a:ln>
        </p:spPr>
        <p:txBody>
          <a:bodyPr/>
          <a:lstStyle/>
          <a:p>
            <a:pPr>
              <a:buNone/>
              <a:defRPr sz="1875">
                <a:solidFill>
                  <a:srgbClr val="DDEBFF"/>
                </a:solidFill>
                <a:latin typeface="Arial"/>
                <a:ea typeface="Arial"/>
                <a:cs typeface="Arial"/>
              </a:defRPr>
            </a:pPr>
            <a:r>
              <a:rPr sz="2000">
                <a:solidFill>
                  <a:srgbClr val="DDEBFF"/>
                </a:solidFill>
                <a:latin typeface="Arial"/>
                <a:ea typeface="Arial"/>
                <a:cs typeface="Arial"/>
              </a:rPr>
              <a:t>The study used 30 young adult participants and an imbalanced gender distribution, limiting generalization.</a:t>
            </a:r>
          </a:p>
        </p:txBody>
      </p:sp>
      <p:sp>
        <p:nvSpPr>
          <p:cNvPr id="627" name="footer-analysis-box">
            <a:extLst>
              <a:ext uri="{FF2B5EF4-FFF2-40B4-BE49-F238E27FC236}">
                <a16:creationId xmlns:a16="http://schemas.microsoft.com/office/drawing/2014/main" id="{8CA82AE4-73E0-42BD-86C5-D15DB6F1FB6F}"/>
              </a:ext>
            </a:extLst>
          </p:cNvPr>
          <p:cNvSpPr>
            <a:spLocks noGrp="1"/>
          </p:cNvSpPr>
          <p:nvPr/>
        </p:nvSpPr>
        <p:spPr>
          <a:xfrm>
            <a:off x="22574250" y="40481250"/>
            <a:ext cx="6858000" cy="1619250"/>
          </a:xfrm>
          <a:prstGeom prst="roundRect">
            <a:avLst>
              <a:gd name="adj" fmla="val 3529"/>
            </a:avLst>
          </a:prstGeom>
          <a:solidFill>
            <a:srgbClr val="332E70"/>
          </a:solidFill>
          <a:ln w="28575">
            <a:solidFill>
              <a:srgbClr val="D84D4D"/>
            </a:solidFill>
            <a:prstDash val="solid"/>
          </a:ln>
        </p:spPr>
        <p:txBody>
          <a:bodyPr/>
          <a:lstStyle/>
          <a:p>
            <a:pPr marL="0" indent="0" algn="l">
              <a:buNone/>
            </a:pPr>
            <a:endParaRPr sz="2000"/>
          </a:p>
        </p:txBody>
      </p:sp>
      <p:sp>
        <p:nvSpPr>
          <p:cNvPr id="628" name="footer-analysis-accent">
            <a:extLst>
              <a:ext uri="{FF2B5EF4-FFF2-40B4-BE49-F238E27FC236}">
                <a16:creationId xmlns:a16="http://schemas.microsoft.com/office/drawing/2014/main" id="{D6E6C7EF-E2C9-49C6-9DB2-76CA21E7DD32}"/>
              </a:ext>
            </a:extLst>
          </p:cNvPr>
          <p:cNvSpPr>
            <a:spLocks noGrp="1"/>
          </p:cNvSpPr>
          <p:nvPr/>
        </p:nvSpPr>
        <p:spPr>
          <a:xfrm>
            <a:off x="22574250" y="40481250"/>
            <a:ext cx="6858000" cy="114300"/>
          </a:xfrm>
          <a:prstGeom prst="rect">
            <a:avLst/>
          </a:prstGeom>
          <a:solidFill>
            <a:srgbClr val="D84D4D"/>
          </a:solidFill>
          <a:ln w="0">
            <a:solidFill>
              <a:srgbClr val="D84D4D"/>
            </a:solidFill>
            <a:prstDash val="solid"/>
          </a:ln>
        </p:spPr>
        <p:txBody>
          <a:bodyPr/>
          <a:lstStyle/>
          <a:p>
            <a:endParaRPr sz="2000"/>
          </a:p>
        </p:txBody>
      </p:sp>
      <p:sp>
        <p:nvSpPr>
          <p:cNvPr id="629" name="footer-analysis-title">
            <a:extLst>
              <a:ext uri="{FF2B5EF4-FFF2-40B4-BE49-F238E27FC236}">
                <a16:creationId xmlns:a16="http://schemas.microsoft.com/office/drawing/2014/main" id="{59FE600D-9C44-461B-AF28-AC4CC6A2B05D}"/>
              </a:ext>
            </a:extLst>
          </p:cNvPr>
          <p:cNvSpPr>
            <a:spLocks noGrp="1"/>
          </p:cNvSpPr>
          <p:nvPr/>
        </p:nvSpPr>
        <p:spPr>
          <a:xfrm>
            <a:off x="22783800" y="40767000"/>
            <a:ext cx="6438900" cy="342900"/>
          </a:xfrm>
          <a:prstGeom prst="rect">
            <a:avLst/>
          </a:prstGeom>
          <a:noFill/>
          <a:ln w="0">
            <a:noFill/>
            <a:prstDash val="solid"/>
          </a:ln>
        </p:spPr>
        <p:txBody>
          <a:bodyPr/>
          <a:lstStyle/>
          <a:p>
            <a:pPr>
              <a:buNone/>
              <a:defRPr sz="2250" b="1">
                <a:solidFill>
                  <a:srgbClr val="FFFFFF"/>
                </a:solidFill>
                <a:latin typeface="Arial"/>
                <a:ea typeface="Arial"/>
                <a:cs typeface="Arial"/>
              </a:defRPr>
            </a:pPr>
            <a:r>
              <a:rPr sz="2400" b="1">
                <a:solidFill>
                  <a:srgbClr val="FFFFFF"/>
                </a:solidFill>
                <a:latin typeface="Arial"/>
                <a:ea typeface="Arial"/>
                <a:cs typeface="Arial"/>
              </a:rPr>
              <a:t>Exploratory Analysis</a:t>
            </a:r>
          </a:p>
        </p:txBody>
      </p:sp>
      <p:sp>
        <p:nvSpPr>
          <p:cNvPr id="630" name="footer-analysis-body">
            <a:extLst>
              <a:ext uri="{FF2B5EF4-FFF2-40B4-BE49-F238E27FC236}">
                <a16:creationId xmlns:a16="http://schemas.microsoft.com/office/drawing/2014/main" id="{462DAFB0-2F58-44E7-80BB-9E72D2EBDF74}"/>
              </a:ext>
            </a:extLst>
          </p:cNvPr>
          <p:cNvSpPr>
            <a:spLocks noGrp="1"/>
          </p:cNvSpPr>
          <p:nvPr/>
        </p:nvSpPr>
        <p:spPr>
          <a:xfrm>
            <a:off x="22783800" y="41205150"/>
            <a:ext cx="6438900" cy="742950"/>
          </a:xfrm>
          <a:prstGeom prst="rect">
            <a:avLst/>
          </a:prstGeom>
          <a:noFill/>
          <a:ln w="0">
            <a:noFill/>
            <a:prstDash val="solid"/>
          </a:ln>
        </p:spPr>
        <p:txBody>
          <a:bodyPr/>
          <a:lstStyle/>
          <a:p>
            <a:pPr>
              <a:buNone/>
              <a:defRPr sz="1875">
                <a:solidFill>
                  <a:srgbClr val="DDEBFF"/>
                </a:solidFill>
                <a:latin typeface="Arial"/>
                <a:ea typeface="Arial"/>
                <a:cs typeface="Arial"/>
              </a:defRPr>
            </a:pPr>
            <a:r>
              <a:rPr sz="2000">
                <a:solidFill>
                  <a:srgbClr val="DDEBFF"/>
                </a:solidFill>
                <a:latin typeface="Arial"/>
                <a:ea typeface="Arial"/>
                <a:cs typeface="Arial"/>
              </a:rPr>
              <a:t>Results describe observed patterns; no inferential tests, confidence intervals or effect sizes were applied.</a:t>
            </a:r>
          </a:p>
        </p:txBody>
      </p:sp>
      <p:sp>
        <p:nvSpPr>
          <p:cNvPr id="643" name="footer-analysis-replacement-mask">
            <a:extLst>
              <a:ext uri="{FF2B5EF4-FFF2-40B4-BE49-F238E27FC236}">
                <a16:creationId xmlns:a16="http://schemas.microsoft.com/office/drawing/2014/main" id="{8D2845FD-BC21-4D73-B06B-0FB11F1B06D5}"/>
              </a:ext>
            </a:extLst>
          </p:cNvPr>
          <p:cNvSpPr>
            <a:spLocks noGrp="1"/>
          </p:cNvSpPr>
          <p:nvPr/>
        </p:nvSpPr>
        <p:spPr>
          <a:xfrm>
            <a:off x="22498050" y="40405050"/>
            <a:ext cx="7010400" cy="1771650"/>
          </a:xfrm>
          <a:prstGeom prst="rect">
            <a:avLst/>
          </a:prstGeom>
          <a:solidFill>
            <a:srgbClr val="28235C"/>
          </a:solidFill>
          <a:ln w="0">
            <a:solidFill>
              <a:srgbClr val="28235C"/>
            </a:solidFill>
            <a:prstDash val="solid"/>
          </a:ln>
        </p:spPr>
        <p:txBody>
          <a:bodyPr/>
          <a:lstStyle/>
          <a:p>
            <a:endParaRPr sz="2000"/>
          </a:p>
        </p:txBody>
      </p:sp>
      <p:sp>
        <p:nvSpPr>
          <p:cNvPr id="644" name="footer-aoi-consistency-box">
            <a:extLst>
              <a:ext uri="{FF2B5EF4-FFF2-40B4-BE49-F238E27FC236}">
                <a16:creationId xmlns:a16="http://schemas.microsoft.com/office/drawing/2014/main" id="{1E7C5886-D238-4341-A72F-6AEEBA3AB45E}"/>
              </a:ext>
            </a:extLst>
          </p:cNvPr>
          <p:cNvSpPr>
            <a:spLocks noGrp="1"/>
          </p:cNvSpPr>
          <p:nvPr/>
        </p:nvSpPr>
        <p:spPr>
          <a:xfrm>
            <a:off x="22574250" y="40481248"/>
            <a:ext cx="6858000" cy="1857600"/>
          </a:xfrm>
          <a:prstGeom prst="roundRect">
            <a:avLst>
              <a:gd name="adj" fmla="val 3529"/>
            </a:avLst>
          </a:prstGeom>
          <a:solidFill>
            <a:srgbClr val="332E70"/>
          </a:solidFill>
          <a:ln w="28575">
            <a:solidFill>
              <a:srgbClr val="D84D4D"/>
            </a:solidFill>
            <a:prstDash val="solid"/>
          </a:ln>
        </p:spPr>
        <p:txBody>
          <a:bodyPr/>
          <a:lstStyle/>
          <a:p>
            <a:pPr marL="0" indent="0" algn="l">
              <a:buNone/>
            </a:pPr>
            <a:endParaRPr sz="2000"/>
          </a:p>
        </p:txBody>
      </p:sp>
      <p:sp>
        <p:nvSpPr>
          <p:cNvPr id="645" name="footer-aoi-consistency-accent">
            <a:extLst>
              <a:ext uri="{FF2B5EF4-FFF2-40B4-BE49-F238E27FC236}">
                <a16:creationId xmlns:a16="http://schemas.microsoft.com/office/drawing/2014/main" id="{6841E595-EA22-47DF-9066-175FD649AEFE}"/>
              </a:ext>
            </a:extLst>
          </p:cNvPr>
          <p:cNvSpPr>
            <a:spLocks noGrp="1"/>
          </p:cNvSpPr>
          <p:nvPr/>
        </p:nvSpPr>
        <p:spPr>
          <a:xfrm>
            <a:off x="22574250" y="40481250"/>
            <a:ext cx="6858000" cy="114300"/>
          </a:xfrm>
          <a:prstGeom prst="rect">
            <a:avLst/>
          </a:prstGeom>
          <a:solidFill>
            <a:srgbClr val="D84D4D"/>
          </a:solidFill>
          <a:ln w="0">
            <a:solidFill>
              <a:srgbClr val="D84D4D"/>
            </a:solidFill>
            <a:prstDash val="solid"/>
          </a:ln>
        </p:spPr>
        <p:txBody>
          <a:bodyPr/>
          <a:lstStyle/>
          <a:p>
            <a:endParaRPr sz="2000"/>
          </a:p>
        </p:txBody>
      </p:sp>
      <p:sp>
        <p:nvSpPr>
          <p:cNvPr id="646" name="footer-aoi-consistency-title">
            <a:extLst>
              <a:ext uri="{FF2B5EF4-FFF2-40B4-BE49-F238E27FC236}">
                <a16:creationId xmlns:a16="http://schemas.microsoft.com/office/drawing/2014/main" id="{58C2145E-18FE-4700-9DC2-2BCB699E68B9}"/>
              </a:ext>
            </a:extLst>
          </p:cNvPr>
          <p:cNvSpPr>
            <a:spLocks noGrp="1"/>
          </p:cNvSpPr>
          <p:nvPr/>
        </p:nvSpPr>
        <p:spPr>
          <a:xfrm>
            <a:off x="22783800" y="40767000"/>
            <a:ext cx="6438900" cy="342900"/>
          </a:xfrm>
          <a:prstGeom prst="rect">
            <a:avLst/>
          </a:prstGeom>
          <a:noFill/>
          <a:ln w="0">
            <a:noFill/>
            <a:prstDash val="solid"/>
          </a:ln>
        </p:spPr>
        <p:txBody>
          <a:bodyPr/>
          <a:lstStyle/>
          <a:p>
            <a:pPr>
              <a:buNone/>
              <a:defRPr sz="2250" b="1">
                <a:solidFill>
                  <a:srgbClr val="FFFFFF"/>
                </a:solidFill>
                <a:latin typeface="Arial"/>
                <a:ea typeface="Arial"/>
                <a:cs typeface="Arial"/>
              </a:defRPr>
            </a:pPr>
            <a:r>
              <a:rPr sz="2400" b="1">
                <a:solidFill>
                  <a:srgbClr val="FFFFFF"/>
                </a:solidFill>
                <a:latin typeface="Arial"/>
                <a:ea typeface="Arial"/>
                <a:cs typeface="Arial"/>
              </a:rPr>
              <a:t>AOI Consistency</a:t>
            </a:r>
          </a:p>
        </p:txBody>
      </p:sp>
      <p:sp>
        <p:nvSpPr>
          <p:cNvPr id="647" name="footer-aoi-consistency-body">
            <a:extLst>
              <a:ext uri="{FF2B5EF4-FFF2-40B4-BE49-F238E27FC236}">
                <a16:creationId xmlns:a16="http://schemas.microsoft.com/office/drawing/2014/main" id="{39922EAE-8C8B-4915-B64A-8A29DB3D384F}"/>
              </a:ext>
            </a:extLst>
          </p:cNvPr>
          <p:cNvSpPr>
            <a:spLocks noGrp="1"/>
          </p:cNvSpPr>
          <p:nvPr/>
        </p:nvSpPr>
        <p:spPr>
          <a:xfrm>
            <a:off x="22783800" y="41205150"/>
            <a:ext cx="6438900" cy="742950"/>
          </a:xfrm>
          <a:prstGeom prst="rect">
            <a:avLst/>
          </a:prstGeom>
          <a:noFill/>
          <a:ln w="0">
            <a:noFill/>
            <a:prstDash val="solid"/>
          </a:ln>
        </p:spPr>
        <p:txBody>
          <a:bodyPr/>
          <a:lstStyle/>
          <a:p>
            <a:pPr>
              <a:buNone/>
              <a:defRPr sz="1875">
                <a:solidFill>
                  <a:srgbClr val="DDEBFF"/>
                </a:solidFill>
                <a:latin typeface="Arial"/>
                <a:ea typeface="Arial"/>
                <a:cs typeface="Arial"/>
              </a:defRPr>
            </a:pPr>
            <a:r>
              <a:rPr sz="2000">
                <a:solidFill>
                  <a:srgbClr val="DDEBFF"/>
                </a:solidFill>
                <a:latin typeface="Arial"/>
                <a:ea typeface="Arial"/>
                <a:cs typeface="Arial"/>
              </a:rPr>
              <a:t>Facial and body regions had to stay comparable across moving videos, even when angle, posture or occlusion changed what was visible.</a:t>
            </a:r>
          </a:p>
        </p:txBody>
      </p:sp>
      <p:sp>
        <p:nvSpPr>
          <p:cNvPr id="658" name="footer-future-mask">
            <a:extLst>
              <a:ext uri="{FF2B5EF4-FFF2-40B4-BE49-F238E27FC236}">
                <a16:creationId xmlns:a16="http://schemas.microsoft.com/office/drawing/2014/main" id="{06219D8E-A6A2-4F66-B239-789081F6871B}"/>
              </a:ext>
            </a:extLst>
          </p:cNvPr>
          <p:cNvSpPr>
            <a:spLocks noGrp="1"/>
          </p:cNvSpPr>
          <p:nvPr/>
        </p:nvSpPr>
        <p:spPr>
          <a:xfrm>
            <a:off x="152400" y="42271950"/>
            <a:ext cx="30175200" cy="2400300"/>
          </a:xfrm>
          <a:prstGeom prst="rect">
            <a:avLst/>
          </a:prstGeom>
          <a:solidFill>
            <a:srgbClr val="28235C"/>
          </a:solidFill>
          <a:ln w="0">
            <a:solidFill>
              <a:srgbClr val="28235C"/>
            </a:solidFill>
            <a:prstDash val="solid"/>
          </a:ln>
        </p:spPr>
        <p:txBody>
          <a:bodyPr/>
          <a:lstStyle/>
          <a:p>
            <a:endParaRPr lang="en-IL" sz="2000"/>
          </a:p>
        </p:txBody>
      </p:sp>
      <p:sp>
        <p:nvSpPr>
          <p:cNvPr id="659" name="footer-future-title">
            <a:extLst>
              <a:ext uri="{FF2B5EF4-FFF2-40B4-BE49-F238E27FC236}">
                <a16:creationId xmlns:a16="http://schemas.microsoft.com/office/drawing/2014/main" id="{F19D5CA5-D784-4A9B-A50D-8F965CE241CF}"/>
              </a:ext>
            </a:extLst>
          </p:cNvPr>
          <p:cNvSpPr>
            <a:spLocks noGrp="1"/>
          </p:cNvSpPr>
          <p:nvPr/>
        </p:nvSpPr>
        <p:spPr>
          <a:xfrm>
            <a:off x="571500" y="42386250"/>
            <a:ext cx="4953000" cy="419100"/>
          </a:xfrm>
          <a:prstGeom prst="rect">
            <a:avLst/>
          </a:prstGeom>
          <a:noFill/>
          <a:ln w="0">
            <a:noFill/>
            <a:prstDash val="solid"/>
          </a:ln>
        </p:spPr>
        <p:txBody>
          <a:bodyPr/>
          <a:lstStyle/>
          <a:p>
            <a:pPr>
              <a:buNone/>
              <a:defRPr sz="2850" b="1">
                <a:solidFill>
                  <a:srgbClr val="FFFFFF"/>
                </a:solidFill>
                <a:latin typeface="Arial"/>
                <a:ea typeface="Arial"/>
                <a:cs typeface="Arial"/>
              </a:defRPr>
            </a:pPr>
            <a:r>
              <a:rPr sz="3200" b="1">
                <a:solidFill>
                  <a:srgbClr val="FFFFFF"/>
                </a:solidFill>
                <a:latin typeface="Arial"/>
                <a:ea typeface="Arial"/>
                <a:cs typeface="Arial"/>
              </a:rPr>
              <a:t>FUTURE WORK</a:t>
            </a:r>
          </a:p>
        </p:txBody>
      </p:sp>
      <p:sp>
        <p:nvSpPr>
          <p:cNvPr id="660" name="footer-future-intro">
            <a:extLst>
              <a:ext uri="{FF2B5EF4-FFF2-40B4-BE49-F238E27FC236}">
                <a16:creationId xmlns:a16="http://schemas.microsoft.com/office/drawing/2014/main" id="{1F7FA50F-4C74-4256-A7F7-93A9703E6A45}"/>
              </a:ext>
            </a:extLst>
          </p:cNvPr>
          <p:cNvSpPr>
            <a:spLocks noGrp="1"/>
          </p:cNvSpPr>
          <p:nvPr/>
        </p:nvSpPr>
        <p:spPr>
          <a:xfrm>
            <a:off x="5905500" y="42471975"/>
            <a:ext cx="22479000" cy="323850"/>
          </a:xfrm>
          <a:prstGeom prst="rect">
            <a:avLst/>
          </a:prstGeom>
          <a:noFill/>
          <a:ln w="0">
            <a:noFill/>
            <a:prstDash val="solid"/>
          </a:ln>
        </p:spPr>
        <p:txBody>
          <a:bodyPr/>
          <a:lstStyle/>
          <a:p>
            <a:pPr>
              <a:buNone/>
              <a:defRPr sz="1875">
                <a:solidFill>
                  <a:srgbClr val="CDEBFF"/>
                </a:solidFill>
                <a:latin typeface="Arial"/>
                <a:ea typeface="Arial"/>
                <a:cs typeface="Arial"/>
              </a:defRPr>
            </a:pPr>
            <a:r>
              <a:rPr sz="2000">
                <a:solidFill>
                  <a:srgbClr val="CDEBFF"/>
                </a:solidFill>
                <a:latin typeface="Arial"/>
                <a:ea typeface="Arial"/>
                <a:cs typeface="Arial"/>
              </a:rPr>
              <a:t>Next steps for strengthening the research and making the analysis more generalizable.</a:t>
            </a:r>
          </a:p>
        </p:txBody>
      </p:sp>
      <p:sp>
        <p:nvSpPr>
          <p:cNvPr id="661" name="footer-future-participants-box">
            <a:extLst>
              <a:ext uri="{FF2B5EF4-FFF2-40B4-BE49-F238E27FC236}">
                <a16:creationId xmlns:a16="http://schemas.microsoft.com/office/drawing/2014/main" id="{0075AF88-B6E1-4BAD-BFCC-31136E643D00}"/>
              </a:ext>
            </a:extLst>
          </p:cNvPr>
          <p:cNvSpPr>
            <a:spLocks noGrp="1"/>
          </p:cNvSpPr>
          <p:nvPr/>
        </p:nvSpPr>
        <p:spPr>
          <a:xfrm>
            <a:off x="571500" y="43014900"/>
            <a:ext cx="9048750" cy="876300"/>
          </a:xfrm>
          <a:prstGeom prst="roundRect">
            <a:avLst>
              <a:gd name="adj" fmla="val 6522"/>
            </a:avLst>
          </a:prstGeom>
          <a:solidFill>
            <a:srgbClr val="332E70"/>
          </a:solidFill>
          <a:ln w="19050">
            <a:solidFill>
              <a:srgbClr val="14A098"/>
            </a:solidFill>
            <a:prstDash val="solid"/>
          </a:ln>
        </p:spPr>
        <p:txBody>
          <a:bodyPr/>
          <a:lstStyle/>
          <a:p>
            <a:endParaRPr lang="en-IL" sz="2000"/>
          </a:p>
        </p:txBody>
      </p:sp>
      <p:sp>
        <p:nvSpPr>
          <p:cNvPr id="662" name="footer-future-participants-accent">
            <a:extLst>
              <a:ext uri="{FF2B5EF4-FFF2-40B4-BE49-F238E27FC236}">
                <a16:creationId xmlns:a16="http://schemas.microsoft.com/office/drawing/2014/main" id="{B681C48D-8961-48C0-9B1B-0E67F426B634}"/>
              </a:ext>
            </a:extLst>
          </p:cNvPr>
          <p:cNvSpPr>
            <a:spLocks noGrp="1"/>
          </p:cNvSpPr>
          <p:nvPr/>
        </p:nvSpPr>
        <p:spPr>
          <a:xfrm>
            <a:off x="571500" y="43014900"/>
            <a:ext cx="114300" cy="876300"/>
          </a:xfrm>
          <a:prstGeom prst="rect">
            <a:avLst/>
          </a:prstGeom>
          <a:solidFill>
            <a:srgbClr val="14A098"/>
          </a:solidFill>
          <a:ln w="0">
            <a:solidFill>
              <a:srgbClr val="14A098"/>
            </a:solidFill>
            <a:prstDash val="solid"/>
          </a:ln>
        </p:spPr>
        <p:txBody>
          <a:bodyPr/>
          <a:lstStyle/>
          <a:p>
            <a:endParaRPr lang="en-IL" sz="2000"/>
          </a:p>
        </p:txBody>
      </p:sp>
      <p:sp>
        <p:nvSpPr>
          <p:cNvPr id="663" name="footer-future-participants-title">
            <a:extLst>
              <a:ext uri="{FF2B5EF4-FFF2-40B4-BE49-F238E27FC236}">
                <a16:creationId xmlns:a16="http://schemas.microsoft.com/office/drawing/2014/main" id="{6111F3E1-81F8-445A-AB60-F49BC54045DB}"/>
              </a:ext>
            </a:extLst>
          </p:cNvPr>
          <p:cNvSpPr>
            <a:spLocks noGrp="1"/>
          </p:cNvSpPr>
          <p:nvPr/>
        </p:nvSpPr>
        <p:spPr>
          <a:xfrm>
            <a:off x="838200" y="43148250"/>
            <a:ext cx="8648700" cy="266700"/>
          </a:xfrm>
          <a:prstGeom prst="rect">
            <a:avLst/>
          </a:prstGeom>
          <a:noFill/>
          <a:ln w="0">
            <a:noFill/>
            <a:prstDash val="solid"/>
          </a:ln>
        </p:spPr>
        <p:txBody>
          <a:bodyPr/>
          <a:lstStyle/>
          <a:p>
            <a:pPr>
              <a:buNone/>
              <a:defRPr sz="1875" b="1">
                <a:solidFill>
                  <a:srgbClr val="FFFFFF"/>
                </a:solidFill>
                <a:latin typeface="Arial"/>
                <a:ea typeface="Arial"/>
                <a:cs typeface="Arial"/>
              </a:defRPr>
            </a:pPr>
            <a:r>
              <a:rPr sz="2000" b="1">
                <a:solidFill>
                  <a:srgbClr val="FFFFFF"/>
                </a:solidFill>
                <a:latin typeface="Arial"/>
                <a:ea typeface="Arial"/>
                <a:cs typeface="Arial"/>
              </a:rPr>
              <a:t>Broader Participant Sample</a:t>
            </a:r>
          </a:p>
        </p:txBody>
      </p:sp>
      <p:sp>
        <p:nvSpPr>
          <p:cNvPr id="664" name="footer-future-participants-body">
            <a:extLst>
              <a:ext uri="{FF2B5EF4-FFF2-40B4-BE49-F238E27FC236}">
                <a16:creationId xmlns:a16="http://schemas.microsoft.com/office/drawing/2014/main" id="{CD9E19A3-9C84-4A6C-B9CD-CB816024DE3F}"/>
              </a:ext>
            </a:extLst>
          </p:cNvPr>
          <p:cNvSpPr>
            <a:spLocks noGrp="1"/>
          </p:cNvSpPr>
          <p:nvPr/>
        </p:nvSpPr>
        <p:spPr>
          <a:xfrm>
            <a:off x="838200" y="43453050"/>
            <a:ext cx="8648700" cy="323850"/>
          </a:xfrm>
          <a:prstGeom prst="rect">
            <a:avLst/>
          </a:prstGeom>
          <a:noFill/>
          <a:ln w="0">
            <a:noFill/>
            <a:prstDash val="solid"/>
          </a:ln>
        </p:spPr>
        <p:txBody>
          <a:bodyPr/>
          <a:lstStyle/>
          <a:p>
            <a:pPr>
              <a:buNone/>
              <a:defRPr sz="1575">
                <a:solidFill>
                  <a:srgbClr val="DDEBFF"/>
                </a:solidFill>
                <a:latin typeface="Arial"/>
                <a:ea typeface="Arial"/>
                <a:cs typeface="Arial"/>
              </a:defRPr>
            </a:pPr>
            <a:r>
              <a:rPr sz="1600">
                <a:solidFill>
                  <a:srgbClr val="DDEBFF"/>
                </a:solidFill>
                <a:latin typeface="Arial"/>
                <a:ea typeface="Arial"/>
                <a:cs typeface="Arial"/>
              </a:rPr>
              <a:t>Recruit more diverse age groups and a more balanced gender distribution.</a:t>
            </a:r>
          </a:p>
        </p:txBody>
      </p:sp>
      <p:sp>
        <p:nvSpPr>
          <p:cNvPr id="665" name="footer-future-stimuli-box">
            <a:extLst>
              <a:ext uri="{FF2B5EF4-FFF2-40B4-BE49-F238E27FC236}">
                <a16:creationId xmlns:a16="http://schemas.microsoft.com/office/drawing/2014/main" id="{371F0BA0-28A4-4C68-B30C-859CBF263B0D}"/>
              </a:ext>
            </a:extLst>
          </p:cNvPr>
          <p:cNvSpPr>
            <a:spLocks noGrp="1"/>
          </p:cNvSpPr>
          <p:nvPr/>
        </p:nvSpPr>
        <p:spPr>
          <a:xfrm>
            <a:off x="10620375" y="43014900"/>
            <a:ext cx="9048750" cy="876300"/>
          </a:xfrm>
          <a:prstGeom prst="roundRect">
            <a:avLst>
              <a:gd name="adj" fmla="val 6522"/>
            </a:avLst>
          </a:prstGeom>
          <a:solidFill>
            <a:srgbClr val="332E70"/>
          </a:solidFill>
          <a:ln w="19050">
            <a:solidFill>
              <a:srgbClr val="3975A8"/>
            </a:solidFill>
            <a:prstDash val="solid"/>
          </a:ln>
        </p:spPr>
        <p:txBody>
          <a:bodyPr/>
          <a:lstStyle/>
          <a:p>
            <a:endParaRPr lang="en-IL" sz="2000"/>
          </a:p>
        </p:txBody>
      </p:sp>
      <p:sp>
        <p:nvSpPr>
          <p:cNvPr id="666" name="footer-future-stimuli-accent">
            <a:extLst>
              <a:ext uri="{FF2B5EF4-FFF2-40B4-BE49-F238E27FC236}">
                <a16:creationId xmlns:a16="http://schemas.microsoft.com/office/drawing/2014/main" id="{F50D1873-939D-4952-B05C-477B4BD037F9}"/>
              </a:ext>
            </a:extLst>
          </p:cNvPr>
          <p:cNvSpPr>
            <a:spLocks noGrp="1"/>
          </p:cNvSpPr>
          <p:nvPr/>
        </p:nvSpPr>
        <p:spPr>
          <a:xfrm>
            <a:off x="10620375" y="43014900"/>
            <a:ext cx="114300" cy="876300"/>
          </a:xfrm>
          <a:prstGeom prst="rect">
            <a:avLst/>
          </a:prstGeom>
          <a:solidFill>
            <a:srgbClr val="3975A8"/>
          </a:solidFill>
          <a:ln w="0">
            <a:solidFill>
              <a:srgbClr val="3975A8"/>
            </a:solidFill>
            <a:prstDash val="solid"/>
          </a:ln>
        </p:spPr>
        <p:txBody>
          <a:bodyPr/>
          <a:lstStyle/>
          <a:p>
            <a:endParaRPr lang="en-IL" sz="2000"/>
          </a:p>
        </p:txBody>
      </p:sp>
      <p:sp>
        <p:nvSpPr>
          <p:cNvPr id="667" name="footer-future-stimuli-title">
            <a:extLst>
              <a:ext uri="{FF2B5EF4-FFF2-40B4-BE49-F238E27FC236}">
                <a16:creationId xmlns:a16="http://schemas.microsoft.com/office/drawing/2014/main" id="{ECF4B2A6-FEDF-4EBD-80AB-205150003460}"/>
              </a:ext>
            </a:extLst>
          </p:cNvPr>
          <p:cNvSpPr>
            <a:spLocks noGrp="1"/>
          </p:cNvSpPr>
          <p:nvPr/>
        </p:nvSpPr>
        <p:spPr>
          <a:xfrm>
            <a:off x="10887075" y="43148250"/>
            <a:ext cx="8648700" cy="266700"/>
          </a:xfrm>
          <a:prstGeom prst="rect">
            <a:avLst/>
          </a:prstGeom>
          <a:noFill/>
          <a:ln w="0">
            <a:noFill/>
            <a:prstDash val="solid"/>
          </a:ln>
        </p:spPr>
        <p:txBody>
          <a:bodyPr/>
          <a:lstStyle/>
          <a:p>
            <a:pPr>
              <a:buNone/>
              <a:defRPr sz="1875" b="1">
                <a:solidFill>
                  <a:srgbClr val="FFFFFF"/>
                </a:solidFill>
                <a:latin typeface="Arial"/>
                <a:ea typeface="Arial"/>
                <a:cs typeface="Arial"/>
              </a:defRPr>
            </a:pPr>
            <a:r>
              <a:rPr sz="2000" b="1">
                <a:solidFill>
                  <a:srgbClr val="FFFFFF"/>
                </a:solidFill>
                <a:latin typeface="Arial"/>
                <a:ea typeface="Arial"/>
                <a:cs typeface="Arial"/>
              </a:rPr>
              <a:t>Richer Video Stimuli</a:t>
            </a:r>
          </a:p>
        </p:txBody>
      </p:sp>
      <p:sp>
        <p:nvSpPr>
          <p:cNvPr id="668" name="footer-future-stimuli-body">
            <a:extLst>
              <a:ext uri="{FF2B5EF4-FFF2-40B4-BE49-F238E27FC236}">
                <a16:creationId xmlns:a16="http://schemas.microsoft.com/office/drawing/2014/main" id="{BE62A4CD-B99D-4A73-8E61-2D1197E8C6BF}"/>
              </a:ext>
            </a:extLst>
          </p:cNvPr>
          <p:cNvSpPr>
            <a:spLocks noGrp="1"/>
          </p:cNvSpPr>
          <p:nvPr/>
        </p:nvSpPr>
        <p:spPr>
          <a:xfrm>
            <a:off x="10887075" y="43453050"/>
            <a:ext cx="8648700" cy="323850"/>
          </a:xfrm>
          <a:prstGeom prst="rect">
            <a:avLst/>
          </a:prstGeom>
          <a:noFill/>
          <a:ln w="0">
            <a:noFill/>
            <a:prstDash val="solid"/>
          </a:ln>
        </p:spPr>
        <p:txBody>
          <a:bodyPr/>
          <a:lstStyle/>
          <a:p>
            <a:pPr>
              <a:buNone/>
              <a:defRPr sz="1575">
                <a:solidFill>
                  <a:srgbClr val="DDEBFF"/>
                </a:solidFill>
                <a:latin typeface="Arial"/>
                <a:ea typeface="Arial"/>
                <a:cs typeface="Arial"/>
              </a:defRPr>
            </a:pPr>
            <a:r>
              <a:rPr sz="1600">
                <a:solidFill>
                  <a:srgbClr val="DDEBFF"/>
                </a:solidFill>
                <a:latin typeface="Arial"/>
                <a:ea typeface="Arial"/>
                <a:cs typeface="Arial"/>
              </a:rPr>
              <a:t>Add more dog breeds, situations, camera angles and repeated examples per behavior.</a:t>
            </a:r>
          </a:p>
        </p:txBody>
      </p:sp>
      <p:sp>
        <p:nvSpPr>
          <p:cNvPr id="669" name="footer-future-models-box">
            <a:extLst>
              <a:ext uri="{FF2B5EF4-FFF2-40B4-BE49-F238E27FC236}">
                <a16:creationId xmlns:a16="http://schemas.microsoft.com/office/drawing/2014/main" id="{0DBB1753-F3D0-42B2-8B1A-6DA6FF21B8F6}"/>
              </a:ext>
            </a:extLst>
          </p:cNvPr>
          <p:cNvSpPr>
            <a:spLocks noGrp="1"/>
          </p:cNvSpPr>
          <p:nvPr/>
        </p:nvSpPr>
        <p:spPr>
          <a:xfrm>
            <a:off x="20669250" y="43014900"/>
            <a:ext cx="9048750" cy="876300"/>
          </a:xfrm>
          <a:prstGeom prst="roundRect">
            <a:avLst>
              <a:gd name="adj" fmla="val 6522"/>
            </a:avLst>
          </a:prstGeom>
          <a:solidFill>
            <a:srgbClr val="332E70"/>
          </a:solidFill>
          <a:ln w="19050">
            <a:solidFill>
              <a:srgbClr val="F27C38"/>
            </a:solidFill>
            <a:prstDash val="solid"/>
          </a:ln>
        </p:spPr>
        <p:txBody>
          <a:bodyPr/>
          <a:lstStyle/>
          <a:p>
            <a:endParaRPr lang="en-IL" sz="2000"/>
          </a:p>
        </p:txBody>
      </p:sp>
      <p:sp>
        <p:nvSpPr>
          <p:cNvPr id="670" name="footer-future-models-accent">
            <a:extLst>
              <a:ext uri="{FF2B5EF4-FFF2-40B4-BE49-F238E27FC236}">
                <a16:creationId xmlns:a16="http://schemas.microsoft.com/office/drawing/2014/main" id="{E7250C55-D834-464D-99EA-D8FFAC69F8FA}"/>
              </a:ext>
            </a:extLst>
          </p:cNvPr>
          <p:cNvSpPr>
            <a:spLocks noGrp="1"/>
          </p:cNvSpPr>
          <p:nvPr/>
        </p:nvSpPr>
        <p:spPr>
          <a:xfrm>
            <a:off x="20669250" y="43014900"/>
            <a:ext cx="114300" cy="876300"/>
          </a:xfrm>
          <a:prstGeom prst="rect">
            <a:avLst/>
          </a:prstGeom>
          <a:solidFill>
            <a:srgbClr val="F27C38"/>
          </a:solidFill>
          <a:ln w="0">
            <a:solidFill>
              <a:srgbClr val="F27C38"/>
            </a:solidFill>
            <a:prstDash val="solid"/>
          </a:ln>
        </p:spPr>
        <p:txBody>
          <a:bodyPr/>
          <a:lstStyle/>
          <a:p>
            <a:endParaRPr lang="en-IL" sz="2000"/>
          </a:p>
        </p:txBody>
      </p:sp>
      <p:sp>
        <p:nvSpPr>
          <p:cNvPr id="671" name="footer-future-models-title">
            <a:extLst>
              <a:ext uri="{FF2B5EF4-FFF2-40B4-BE49-F238E27FC236}">
                <a16:creationId xmlns:a16="http://schemas.microsoft.com/office/drawing/2014/main" id="{DAF3A6FF-03A8-4931-97A7-B4ABD7B9D965}"/>
              </a:ext>
            </a:extLst>
          </p:cNvPr>
          <p:cNvSpPr>
            <a:spLocks noGrp="1"/>
          </p:cNvSpPr>
          <p:nvPr/>
        </p:nvSpPr>
        <p:spPr>
          <a:xfrm>
            <a:off x="20935950" y="43148250"/>
            <a:ext cx="8648700" cy="266700"/>
          </a:xfrm>
          <a:prstGeom prst="rect">
            <a:avLst/>
          </a:prstGeom>
          <a:noFill/>
          <a:ln w="0">
            <a:noFill/>
            <a:prstDash val="solid"/>
          </a:ln>
        </p:spPr>
        <p:txBody>
          <a:bodyPr/>
          <a:lstStyle/>
          <a:p>
            <a:pPr>
              <a:buNone/>
              <a:defRPr sz="1875" b="1">
                <a:solidFill>
                  <a:srgbClr val="FFFFFF"/>
                </a:solidFill>
                <a:latin typeface="Arial"/>
                <a:ea typeface="Arial"/>
                <a:cs typeface="Arial"/>
              </a:defRPr>
            </a:pPr>
            <a:r>
              <a:rPr sz="2000" b="1">
                <a:solidFill>
                  <a:srgbClr val="FFFFFF"/>
                </a:solidFill>
                <a:latin typeface="Arial"/>
                <a:ea typeface="Arial"/>
                <a:cs typeface="Arial"/>
              </a:rPr>
              <a:t>Stronger Analysis</a:t>
            </a:r>
          </a:p>
        </p:txBody>
      </p:sp>
      <p:sp>
        <p:nvSpPr>
          <p:cNvPr id="672" name="footer-future-models-body">
            <a:extLst>
              <a:ext uri="{FF2B5EF4-FFF2-40B4-BE49-F238E27FC236}">
                <a16:creationId xmlns:a16="http://schemas.microsoft.com/office/drawing/2014/main" id="{6B14BD6C-9055-4185-8F4B-0F1D74FDA884}"/>
              </a:ext>
            </a:extLst>
          </p:cNvPr>
          <p:cNvSpPr>
            <a:spLocks noGrp="1"/>
          </p:cNvSpPr>
          <p:nvPr/>
        </p:nvSpPr>
        <p:spPr>
          <a:xfrm>
            <a:off x="20935950" y="43453050"/>
            <a:ext cx="8648700" cy="323850"/>
          </a:xfrm>
          <a:prstGeom prst="rect">
            <a:avLst/>
          </a:prstGeom>
          <a:noFill/>
          <a:ln w="0">
            <a:noFill/>
            <a:prstDash val="solid"/>
          </a:ln>
        </p:spPr>
        <p:txBody>
          <a:bodyPr/>
          <a:lstStyle/>
          <a:p>
            <a:pPr>
              <a:buNone/>
              <a:defRPr sz="1575">
                <a:solidFill>
                  <a:srgbClr val="DDEBFF"/>
                </a:solidFill>
                <a:latin typeface="Arial"/>
                <a:ea typeface="Arial"/>
                <a:cs typeface="Arial"/>
              </a:defRPr>
            </a:pPr>
            <a:r>
              <a:rPr sz="1600">
                <a:solidFill>
                  <a:srgbClr val="DDEBFF"/>
                </a:solidFill>
                <a:latin typeface="Arial"/>
                <a:ea typeface="Arial"/>
                <a:cs typeface="Arial"/>
              </a:rPr>
              <a:t>Apply statistical tests and predictive models to examine which gaze features explain recognition accuracy.</a:t>
            </a:r>
          </a:p>
        </p:txBody>
      </p:sp>
      <p:sp>
        <p:nvSpPr>
          <p:cNvPr id="673" name="footer-sources-updated">
            <a:extLst>
              <a:ext uri="{FF2B5EF4-FFF2-40B4-BE49-F238E27FC236}">
                <a16:creationId xmlns:a16="http://schemas.microsoft.com/office/drawing/2014/main" id="{95C43760-A68E-412A-8C5F-DE42CEE294AC}"/>
              </a:ext>
            </a:extLst>
          </p:cNvPr>
          <p:cNvSpPr>
            <a:spLocks noGrp="1"/>
          </p:cNvSpPr>
          <p:nvPr/>
        </p:nvSpPr>
        <p:spPr>
          <a:xfrm>
            <a:off x="571500" y="44196000"/>
            <a:ext cx="22860000" cy="323850"/>
          </a:xfrm>
          <a:prstGeom prst="rect">
            <a:avLst/>
          </a:prstGeom>
          <a:noFill/>
          <a:ln w="0">
            <a:noFill/>
            <a:prstDash val="solid"/>
          </a:ln>
        </p:spPr>
        <p:txBody>
          <a:bodyPr/>
          <a:lstStyle/>
          <a:p>
            <a:pPr>
              <a:buNone/>
              <a:defRPr sz="1650">
                <a:solidFill>
                  <a:srgbClr val="CDEBFF"/>
                </a:solidFill>
                <a:latin typeface="Arial"/>
                <a:ea typeface="Arial"/>
                <a:cs typeface="Arial"/>
              </a:defRPr>
            </a:pPr>
            <a:r>
              <a:rPr>
                <a:solidFill>
                  <a:srgbClr val="CDEBFF"/>
                </a:solidFill>
                <a:latin typeface="Arial"/>
                <a:ea typeface="Arial"/>
                <a:cs typeface="Arial"/>
              </a:rPr>
              <a:t>Sources: final project report, cleaned Tobii AOI dataset, questionnaire files and user-provided poster examples.</a:t>
            </a:r>
          </a:p>
        </p:txBody>
      </p:sp>
      <p:sp>
        <p:nvSpPr>
          <p:cNvPr id="684" name="footer-refined-mask">
            <a:extLst>
              <a:ext uri="{FF2B5EF4-FFF2-40B4-BE49-F238E27FC236}">
                <a16:creationId xmlns:a16="http://schemas.microsoft.com/office/drawing/2014/main" id="{0A89A9A2-86A8-4D07-BE6D-CFA35F56298F}"/>
              </a:ext>
            </a:extLst>
          </p:cNvPr>
          <p:cNvSpPr>
            <a:spLocks noGrp="1"/>
          </p:cNvSpPr>
          <p:nvPr/>
        </p:nvSpPr>
        <p:spPr>
          <a:xfrm>
            <a:off x="152400" y="38719125"/>
            <a:ext cx="30175200" cy="6667500"/>
          </a:xfrm>
          <a:prstGeom prst="rect">
            <a:avLst/>
          </a:prstGeom>
          <a:solidFill>
            <a:srgbClr val="28235C"/>
          </a:solidFill>
          <a:ln w="0">
            <a:solidFill>
              <a:srgbClr val="28235C"/>
            </a:solidFill>
            <a:prstDash val="solid"/>
          </a:ln>
        </p:spPr>
        <p:txBody>
          <a:bodyPr/>
          <a:lstStyle/>
          <a:p>
            <a:pPr marL="0" indent="0" algn="l" defTabSz="914400" rtl="0"/>
            <a:endParaRPr lang="en-IL" sz="2000"/>
          </a:p>
        </p:txBody>
      </p:sp>
      <p:sp>
        <p:nvSpPr>
          <p:cNvPr id="685" name="footer-refined-challenges-title">
            <a:extLst>
              <a:ext uri="{FF2B5EF4-FFF2-40B4-BE49-F238E27FC236}">
                <a16:creationId xmlns:a16="http://schemas.microsoft.com/office/drawing/2014/main" id="{0BBC8B46-33E9-4970-A082-3A1E717B36DF}"/>
              </a:ext>
            </a:extLst>
          </p:cNvPr>
          <p:cNvSpPr>
            <a:spLocks noGrp="1"/>
          </p:cNvSpPr>
          <p:nvPr/>
        </p:nvSpPr>
        <p:spPr>
          <a:xfrm>
            <a:off x="571500" y="39052500"/>
            <a:ext cx="13335000" cy="533400"/>
          </a:xfrm>
          <a:prstGeom prst="rect">
            <a:avLst/>
          </a:prstGeom>
          <a:noFill/>
          <a:ln w="0">
            <a:noFill/>
            <a:prstDash val="solid"/>
          </a:ln>
        </p:spPr>
        <p:txBody>
          <a:bodyPr/>
          <a:lstStyle/>
          <a:p>
            <a:pPr>
              <a:buNone/>
              <a:defRPr sz="3450" b="1">
                <a:solidFill>
                  <a:srgbClr val="FFFFFF"/>
                </a:solidFill>
                <a:latin typeface="Arial"/>
                <a:ea typeface="Arial"/>
                <a:cs typeface="Arial"/>
              </a:defRPr>
            </a:pPr>
            <a:r>
              <a:rPr sz="3600" b="1">
                <a:solidFill>
                  <a:srgbClr val="FFFFFF"/>
                </a:solidFill>
                <a:latin typeface="Arial"/>
                <a:ea typeface="Arial"/>
                <a:cs typeface="Arial"/>
              </a:rPr>
              <a:t>CHALLENGES &amp; LIMITATIONS</a:t>
            </a:r>
          </a:p>
        </p:txBody>
      </p:sp>
      <p:sp>
        <p:nvSpPr>
          <p:cNvPr id="686" name="footer-refined-calibration-box">
            <a:extLst>
              <a:ext uri="{FF2B5EF4-FFF2-40B4-BE49-F238E27FC236}">
                <a16:creationId xmlns:a16="http://schemas.microsoft.com/office/drawing/2014/main" id="{50F2DAD9-AC3E-4BED-BD8D-BBD4CFEF547F}"/>
              </a:ext>
            </a:extLst>
          </p:cNvPr>
          <p:cNvSpPr>
            <a:spLocks noGrp="1"/>
          </p:cNvSpPr>
          <p:nvPr/>
        </p:nvSpPr>
        <p:spPr>
          <a:xfrm>
            <a:off x="571500" y="40005000"/>
            <a:ext cx="6858000" cy="2836800"/>
          </a:xfrm>
          <a:prstGeom prst="roundRect">
            <a:avLst>
              <a:gd name="adj" fmla="val 4167"/>
            </a:avLst>
          </a:prstGeom>
          <a:solidFill>
            <a:srgbClr val="332E70"/>
          </a:solidFill>
          <a:ln w="28575">
            <a:solidFill>
              <a:srgbClr val="14A098"/>
            </a:solidFill>
            <a:prstDash val="solid"/>
          </a:ln>
        </p:spPr>
        <p:txBody>
          <a:bodyPr/>
          <a:lstStyle/>
          <a:p>
            <a:pPr marL="0" indent="0" algn="l" defTabSz="914400" rtl="0"/>
            <a:endParaRPr lang="en-IL" sz="2800"/>
          </a:p>
        </p:txBody>
      </p:sp>
      <p:sp>
        <p:nvSpPr>
          <p:cNvPr id="687" name="footer-refined-calibration-accent">
            <a:extLst>
              <a:ext uri="{FF2B5EF4-FFF2-40B4-BE49-F238E27FC236}">
                <a16:creationId xmlns:a16="http://schemas.microsoft.com/office/drawing/2014/main" id="{FC88AA8A-E1C2-48E8-8526-DBAB2205643A}"/>
              </a:ext>
            </a:extLst>
          </p:cNvPr>
          <p:cNvSpPr>
            <a:spLocks noGrp="1"/>
          </p:cNvSpPr>
          <p:nvPr/>
        </p:nvSpPr>
        <p:spPr>
          <a:xfrm>
            <a:off x="571500" y="40005000"/>
            <a:ext cx="6858000" cy="95250"/>
          </a:xfrm>
          <a:prstGeom prst="rect">
            <a:avLst/>
          </a:prstGeom>
          <a:solidFill>
            <a:srgbClr val="14A098"/>
          </a:solidFill>
          <a:ln w="0">
            <a:solidFill>
              <a:srgbClr val="14A098"/>
            </a:solidFill>
            <a:prstDash val="solid"/>
          </a:ln>
        </p:spPr>
        <p:txBody>
          <a:bodyPr/>
          <a:lstStyle/>
          <a:p>
            <a:pPr marL="0" indent="0" algn="l" defTabSz="914400" rtl="0"/>
            <a:endParaRPr lang="en-IL" sz="2800"/>
          </a:p>
        </p:txBody>
      </p:sp>
      <p:sp>
        <p:nvSpPr>
          <p:cNvPr id="688" name="footer-refined-calibration-title">
            <a:extLst>
              <a:ext uri="{FF2B5EF4-FFF2-40B4-BE49-F238E27FC236}">
                <a16:creationId xmlns:a16="http://schemas.microsoft.com/office/drawing/2014/main" id="{D7125988-77B2-4693-8C11-12F030A7F9F2}"/>
              </a:ext>
            </a:extLst>
          </p:cNvPr>
          <p:cNvSpPr>
            <a:spLocks noGrp="1"/>
          </p:cNvSpPr>
          <p:nvPr/>
        </p:nvSpPr>
        <p:spPr>
          <a:xfrm>
            <a:off x="762000" y="40252650"/>
            <a:ext cx="6477000" cy="285750"/>
          </a:xfrm>
          <a:prstGeom prst="rect">
            <a:avLst/>
          </a:prstGeom>
          <a:noFill/>
          <a:ln w="0">
            <a:noFill/>
            <a:prstDash val="solid"/>
          </a:ln>
        </p:spPr>
        <p:txBody>
          <a:bodyPr/>
          <a:lstStyle/>
          <a:p>
            <a:pPr>
              <a:buNone/>
              <a:defRPr sz="2025" b="1">
                <a:solidFill>
                  <a:srgbClr val="FFFFFF"/>
                </a:solidFill>
                <a:latin typeface="Arial"/>
                <a:ea typeface="Arial"/>
                <a:cs typeface="Arial"/>
              </a:defRPr>
            </a:pPr>
            <a:r>
              <a:rPr sz="3200" b="1">
                <a:solidFill>
                  <a:srgbClr val="FFFFFF"/>
                </a:solidFill>
                <a:latin typeface="Arial"/>
                <a:ea typeface="Arial"/>
                <a:cs typeface="Arial"/>
              </a:rPr>
              <a:t>Calibration Reliability</a:t>
            </a:r>
          </a:p>
        </p:txBody>
      </p:sp>
      <p:sp>
        <p:nvSpPr>
          <p:cNvPr id="689" name="footer-refined-calibration-body">
            <a:extLst>
              <a:ext uri="{FF2B5EF4-FFF2-40B4-BE49-F238E27FC236}">
                <a16:creationId xmlns:a16="http://schemas.microsoft.com/office/drawing/2014/main" id="{40E4DFC7-59D9-42AE-A903-64E9AB953A0A}"/>
              </a:ext>
            </a:extLst>
          </p:cNvPr>
          <p:cNvSpPr>
            <a:spLocks noGrp="1"/>
          </p:cNvSpPr>
          <p:nvPr/>
        </p:nvSpPr>
        <p:spPr>
          <a:xfrm>
            <a:off x="762000" y="40798750"/>
            <a:ext cx="6477000" cy="590550"/>
          </a:xfrm>
          <a:prstGeom prst="rect">
            <a:avLst/>
          </a:prstGeom>
          <a:noFill/>
          <a:ln w="0">
            <a:noFill/>
            <a:prstDash val="solid"/>
          </a:ln>
        </p:spPr>
        <p:txBody>
          <a:bodyPr/>
          <a:lstStyle/>
          <a:p>
            <a:pPr>
              <a:buNone/>
              <a:defRPr sz="1650">
                <a:solidFill>
                  <a:srgbClr val="DDEBFF"/>
                </a:solidFill>
                <a:latin typeface="Arial"/>
                <a:ea typeface="Arial"/>
                <a:cs typeface="Arial"/>
              </a:defRPr>
            </a:pPr>
            <a:r>
              <a:rPr sz="2800" dirty="0">
                <a:solidFill>
                  <a:srgbClr val="DDEBFF"/>
                </a:solidFill>
                <a:latin typeface="Arial"/>
                <a:ea typeface="Arial"/>
                <a:cs typeface="Arial"/>
              </a:rPr>
              <a:t>Lighting, blinking, head movement and glasses affected tracking quality, so setup conditions and participant inclusion had to be controlled.</a:t>
            </a:r>
          </a:p>
        </p:txBody>
      </p:sp>
      <p:sp>
        <p:nvSpPr>
          <p:cNvPr id="690" name="footer-refined-video-box">
            <a:extLst>
              <a:ext uri="{FF2B5EF4-FFF2-40B4-BE49-F238E27FC236}">
                <a16:creationId xmlns:a16="http://schemas.microsoft.com/office/drawing/2014/main" id="{F19C56C6-A09B-42B1-9F48-E8CD9525B742}"/>
              </a:ext>
            </a:extLst>
          </p:cNvPr>
          <p:cNvSpPr>
            <a:spLocks noGrp="1"/>
          </p:cNvSpPr>
          <p:nvPr/>
        </p:nvSpPr>
        <p:spPr>
          <a:xfrm>
            <a:off x="7905750" y="40005000"/>
            <a:ext cx="6858000" cy="2836800"/>
          </a:xfrm>
          <a:prstGeom prst="roundRect">
            <a:avLst>
              <a:gd name="adj" fmla="val 4167"/>
            </a:avLst>
          </a:prstGeom>
          <a:solidFill>
            <a:srgbClr val="332E70"/>
          </a:solidFill>
          <a:ln w="28575">
            <a:solidFill>
              <a:srgbClr val="3975A8"/>
            </a:solidFill>
            <a:prstDash val="solid"/>
          </a:ln>
        </p:spPr>
        <p:txBody>
          <a:bodyPr/>
          <a:lstStyle/>
          <a:p>
            <a:pPr marL="0" indent="0" algn="l" defTabSz="914400" rtl="0"/>
            <a:endParaRPr lang="en-IL" sz="2000"/>
          </a:p>
        </p:txBody>
      </p:sp>
      <p:sp>
        <p:nvSpPr>
          <p:cNvPr id="691" name="footer-refined-video-accent">
            <a:extLst>
              <a:ext uri="{FF2B5EF4-FFF2-40B4-BE49-F238E27FC236}">
                <a16:creationId xmlns:a16="http://schemas.microsoft.com/office/drawing/2014/main" id="{DB597899-362B-4072-BA8F-31B5380702E7}"/>
              </a:ext>
            </a:extLst>
          </p:cNvPr>
          <p:cNvSpPr>
            <a:spLocks noGrp="1"/>
          </p:cNvSpPr>
          <p:nvPr/>
        </p:nvSpPr>
        <p:spPr>
          <a:xfrm>
            <a:off x="7905750" y="40005000"/>
            <a:ext cx="6858000" cy="95250"/>
          </a:xfrm>
          <a:prstGeom prst="rect">
            <a:avLst/>
          </a:prstGeom>
          <a:solidFill>
            <a:srgbClr val="3975A8"/>
          </a:solidFill>
          <a:ln w="0">
            <a:solidFill>
              <a:srgbClr val="3975A8"/>
            </a:solidFill>
            <a:prstDash val="solid"/>
          </a:ln>
        </p:spPr>
        <p:txBody>
          <a:bodyPr/>
          <a:lstStyle/>
          <a:p>
            <a:endParaRPr lang="en-IL" sz="2000"/>
          </a:p>
        </p:txBody>
      </p:sp>
      <p:sp>
        <p:nvSpPr>
          <p:cNvPr id="692" name="footer-refined-video-title">
            <a:extLst>
              <a:ext uri="{FF2B5EF4-FFF2-40B4-BE49-F238E27FC236}">
                <a16:creationId xmlns:a16="http://schemas.microsoft.com/office/drawing/2014/main" id="{971DAF44-512E-43F4-9BF5-3AD31267B55E}"/>
              </a:ext>
            </a:extLst>
          </p:cNvPr>
          <p:cNvSpPr>
            <a:spLocks noGrp="1"/>
          </p:cNvSpPr>
          <p:nvPr/>
        </p:nvSpPr>
        <p:spPr>
          <a:xfrm>
            <a:off x="8096250" y="40252650"/>
            <a:ext cx="6477000" cy="285750"/>
          </a:xfrm>
          <a:prstGeom prst="rect">
            <a:avLst/>
          </a:prstGeom>
          <a:noFill/>
          <a:ln w="0">
            <a:noFill/>
            <a:prstDash val="solid"/>
          </a:ln>
        </p:spPr>
        <p:txBody>
          <a:bodyPr/>
          <a:lstStyle/>
          <a:p>
            <a:pPr>
              <a:buNone/>
              <a:defRPr sz="2025" b="1">
                <a:solidFill>
                  <a:srgbClr val="FFFFFF"/>
                </a:solidFill>
                <a:latin typeface="Arial"/>
                <a:ea typeface="Arial"/>
                <a:cs typeface="Arial"/>
              </a:defRPr>
            </a:pPr>
            <a:r>
              <a:rPr sz="3200" b="1">
                <a:solidFill>
                  <a:srgbClr val="FFFFFF"/>
                </a:solidFill>
                <a:latin typeface="Arial"/>
                <a:ea typeface="Arial"/>
                <a:cs typeface="Arial"/>
              </a:rPr>
              <a:t>Video Variability</a:t>
            </a:r>
          </a:p>
        </p:txBody>
      </p:sp>
      <p:sp>
        <p:nvSpPr>
          <p:cNvPr id="693" name="footer-refined-video-body">
            <a:extLst>
              <a:ext uri="{FF2B5EF4-FFF2-40B4-BE49-F238E27FC236}">
                <a16:creationId xmlns:a16="http://schemas.microsoft.com/office/drawing/2014/main" id="{C5E5CCE0-510D-4507-AB84-426CFED54D3B}"/>
              </a:ext>
            </a:extLst>
          </p:cNvPr>
          <p:cNvSpPr>
            <a:spLocks noGrp="1"/>
          </p:cNvSpPr>
          <p:nvPr/>
        </p:nvSpPr>
        <p:spPr>
          <a:xfrm>
            <a:off x="8096250" y="40798750"/>
            <a:ext cx="6477000" cy="1111250"/>
          </a:xfrm>
          <a:prstGeom prst="rect">
            <a:avLst/>
          </a:prstGeom>
          <a:noFill/>
          <a:ln w="0">
            <a:noFill/>
            <a:prstDash val="solid"/>
          </a:ln>
        </p:spPr>
        <p:txBody>
          <a:bodyPr/>
          <a:lstStyle/>
          <a:p>
            <a:pPr>
              <a:buNone/>
              <a:defRPr sz="1650">
                <a:solidFill>
                  <a:srgbClr val="DDEBFF"/>
                </a:solidFill>
                <a:latin typeface="Arial"/>
                <a:ea typeface="Arial"/>
                <a:cs typeface="Arial"/>
              </a:defRPr>
            </a:pPr>
            <a:r>
              <a:rPr sz="2800" dirty="0">
                <a:solidFill>
                  <a:srgbClr val="DDEBFF"/>
                </a:solidFill>
                <a:latin typeface="Arial"/>
                <a:ea typeface="Arial"/>
                <a:cs typeface="Arial"/>
              </a:rPr>
              <a:t>Movement, camera angle, dog position and AOI visibility made some situations clearer than others.</a:t>
            </a:r>
          </a:p>
        </p:txBody>
      </p:sp>
      <p:sp>
        <p:nvSpPr>
          <p:cNvPr id="694" name="footer-refined-sample-box">
            <a:extLst>
              <a:ext uri="{FF2B5EF4-FFF2-40B4-BE49-F238E27FC236}">
                <a16:creationId xmlns:a16="http://schemas.microsoft.com/office/drawing/2014/main" id="{CBFE8CB3-8C94-41E9-8037-00ABAA71A0C8}"/>
              </a:ext>
            </a:extLst>
          </p:cNvPr>
          <p:cNvSpPr>
            <a:spLocks noGrp="1"/>
          </p:cNvSpPr>
          <p:nvPr/>
        </p:nvSpPr>
        <p:spPr>
          <a:xfrm>
            <a:off x="15240000" y="40005000"/>
            <a:ext cx="6858000" cy="2836800"/>
          </a:xfrm>
          <a:prstGeom prst="roundRect">
            <a:avLst>
              <a:gd name="adj" fmla="val 4167"/>
            </a:avLst>
          </a:prstGeom>
          <a:solidFill>
            <a:srgbClr val="332E70"/>
          </a:solidFill>
          <a:ln w="28575">
            <a:solidFill>
              <a:srgbClr val="F27C38"/>
            </a:solidFill>
            <a:prstDash val="solid"/>
          </a:ln>
        </p:spPr>
        <p:txBody>
          <a:bodyPr/>
          <a:lstStyle/>
          <a:p>
            <a:pPr marL="0" indent="0" algn="l" defTabSz="914400" rtl="0"/>
            <a:endParaRPr lang="en-IL" sz="2000"/>
          </a:p>
        </p:txBody>
      </p:sp>
      <p:sp>
        <p:nvSpPr>
          <p:cNvPr id="695" name="footer-refined-sample-accent">
            <a:extLst>
              <a:ext uri="{FF2B5EF4-FFF2-40B4-BE49-F238E27FC236}">
                <a16:creationId xmlns:a16="http://schemas.microsoft.com/office/drawing/2014/main" id="{733B2CC5-598B-45F7-8387-0C74EAC53D4A}"/>
              </a:ext>
            </a:extLst>
          </p:cNvPr>
          <p:cNvSpPr>
            <a:spLocks noGrp="1"/>
          </p:cNvSpPr>
          <p:nvPr/>
        </p:nvSpPr>
        <p:spPr>
          <a:xfrm>
            <a:off x="15240000" y="40005000"/>
            <a:ext cx="6858000" cy="95250"/>
          </a:xfrm>
          <a:prstGeom prst="rect">
            <a:avLst/>
          </a:prstGeom>
          <a:solidFill>
            <a:srgbClr val="F27C38"/>
          </a:solidFill>
          <a:ln w="0">
            <a:solidFill>
              <a:srgbClr val="F27C38"/>
            </a:solidFill>
            <a:prstDash val="solid"/>
          </a:ln>
        </p:spPr>
        <p:txBody>
          <a:bodyPr/>
          <a:lstStyle/>
          <a:p>
            <a:endParaRPr lang="en-IL" sz="2000"/>
          </a:p>
        </p:txBody>
      </p:sp>
      <p:sp>
        <p:nvSpPr>
          <p:cNvPr id="696" name="footer-refined-sample-title">
            <a:extLst>
              <a:ext uri="{FF2B5EF4-FFF2-40B4-BE49-F238E27FC236}">
                <a16:creationId xmlns:a16="http://schemas.microsoft.com/office/drawing/2014/main" id="{C86BAE88-4E8F-4375-84B1-163B1349D33D}"/>
              </a:ext>
            </a:extLst>
          </p:cNvPr>
          <p:cNvSpPr>
            <a:spLocks noGrp="1"/>
          </p:cNvSpPr>
          <p:nvPr/>
        </p:nvSpPr>
        <p:spPr>
          <a:xfrm>
            <a:off x="15430500" y="40252650"/>
            <a:ext cx="6477000" cy="285750"/>
          </a:xfrm>
          <a:prstGeom prst="rect">
            <a:avLst/>
          </a:prstGeom>
          <a:noFill/>
          <a:ln w="0">
            <a:noFill/>
            <a:prstDash val="solid"/>
          </a:ln>
        </p:spPr>
        <p:txBody>
          <a:bodyPr/>
          <a:lstStyle/>
          <a:p>
            <a:pPr>
              <a:buNone/>
              <a:defRPr sz="2025" b="1">
                <a:solidFill>
                  <a:srgbClr val="FFFFFF"/>
                </a:solidFill>
                <a:latin typeface="Arial"/>
                <a:ea typeface="Arial"/>
                <a:cs typeface="Arial"/>
              </a:defRPr>
            </a:pPr>
            <a:r>
              <a:rPr sz="3200" b="1" dirty="0">
                <a:solidFill>
                  <a:srgbClr val="FFFFFF"/>
                </a:solidFill>
                <a:latin typeface="Arial"/>
                <a:ea typeface="Arial"/>
                <a:cs typeface="Arial"/>
              </a:rPr>
              <a:t>Sample Constraints</a:t>
            </a:r>
          </a:p>
        </p:txBody>
      </p:sp>
      <p:sp>
        <p:nvSpPr>
          <p:cNvPr id="697" name="footer-refined-sample-body">
            <a:extLst>
              <a:ext uri="{FF2B5EF4-FFF2-40B4-BE49-F238E27FC236}">
                <a16:creationId xmlns:a16="http://schemas.microsoft.com/office/drawing/2014/main" id="{A468AA8E-5F7F-498E-87FF-3E61B2BCEBC3}"/>
              </a:ext>
            </a:extLst>
          </p:cNvPr>
          <p:cNvSpPr>
            <a:spLocks noGrp="1"/>
          </p:cNvSpPr>
          <p:nvPr/>
        </p:nvSpPr>
        <p:spPr>
          <a:xfrm>
            <a:off x="15430500" y="40798750"/>
            <a:ext cx="6477000" cy="590550"/>
          </a:xfrm>
          <a:prstGeom prst="rect">
            <a:avLst/>
          </a:prstGeom>
          <a:noFill/>
          <a:ln w="0">
            <a:noFill/>
            <a:prstDash val="solid"/>
          </a:ln>
        </p:spPr>
        <p:txBody>
          <a:bodyPr/>
          <a:lstStyle/>
          <a:p>
            <a:pPr>
              <a:buNone/>
              <a:defRPr sz="1650">
                <a:solidFill>
                  <a:srgbClr val="DDEBFF"/>
                </a:solidFill>
                <a:latin typeface="Arial"/>
                <a:ea typeface="Arial"/>
                <a:cs typeface="Arial"/>
              </a:defRPr>
            </a:pPr>
            <a:r>
              <a:rPr sz="2800" dirty="0">
                <a:solidFill>
                  <a:srgbClr val="DDEBFF"/>
                </a:solidFill>
                <a:latin typeface="Arial"/>
                <a:ea typeface="Arial"/>
                <a:cs typeface="Arial"/>
              </a:rPr>
              <a:t>The study used 30 young adult participants and an imbalanced gender distribution, limiting generalization.</a:t>
            </a:r>
          </a:p>
        </p:txBody>
      </p:sp>
      <p:sp>
        <p:nvSpPr>
          <p:cNvPr id="698" name="footer-refined-aoi-box">
            <a:extLst>
              <a:ext uri="{FF2B5EF4-FFF2-40B4-BE49-F238E27FC236}">
                <a16:creationId xmlns:a16="http://schemas.microsoft.com/office/drawing/2014/main" id="{8D399443-2E60-4573-BECC-EC21456563F6}"/>
              </a:ext>
            </a:extLst>
          </p:cNvPr>
          <p:cNvSpPr>
            <a:spLocks noGrp="1"/>
          </p:cNvSpPr>
          <p:nvPr/>
        </p:nvSpPr>
        <p:spPr>
          <a:xfrm>
            <a:off x="22574250" y="40005000"/>
            <a:ext cx="6858000" cy="2836800"/>
          </a:xfrm>
          <a:prstGeom prst="roundRect">
            <a:avLst>
              <a:gd name="adj" fmla="val 4167"/>
            </a:avLst>
          </a:prstGeom>
          <a:solidFill>
            <a:srgbClr val="332E70"/>
          </a:solidFill>
          <a:ln w="28575">
            <a:solidFill>
              <a:srgbClr val="D84D4D"/>
            </a:solidFill>
            <a:prstDash val="solid"/>
          </a:ln>
        </p:spPr>
        <p:txBody>
          <a:bodyPr/>
          <a:lstStyle/>
          <a:p>
            <a:pPr marL="0" indent="0" algn="l" defTabSz="914400" rtl="0"/>
            <a:endParaRPr lang="en-IL" sz="2000"/>
          </a:p>
        </p:txBody>
      </p:sp>
      <p:sp>
        <p:nvSpPr>
          <p:cNvPr id="699" name="footer-refined-aoi-accent">
            <a:extLst>
              <a:ext uri="{FF2B5EF4-FFF2-40B4-BE49-F238E27FC236}">
                <a16:creationId xmlns:a16="http://schemas.microsoft.com/office/drawing/2014/main" id="{94FB5912-948D-49CA-9100-19E07F490868}"/>
              </a:ext>
            </a:extLst>
          </p:cNvPr>
          <p:cNvSpPr>
            <a:spLocks noGrp="1"/>
          </p:cNvSpPr>
          <p:nvPr/>
        </p:nvSpPr>
        <p:spPr>
          <a:xfrm>
            <a:off x="22574250" y="40005000"/>
            <a:ext cx="6858000" cy="95250"/>
          </a:xfrm>
          <a:prstGeom prst="rect">
            <a:avLst/>
          </a:prstGeom>
          <a:solidFill>
            <a:srgbClr val="D84D4D"/>
          </a:solidFill>
          <a:ln w="0">
            <a:solidFill>
              <a:srgbClr val="D84D4D"/>
            </a:solidFill>
            <a:prstDash val="solid"/>
          </a:ln>
        </p:spPr>
        <p:txBody>
          <a:bodyPr/>
          <a:lstStyle/>
          <a:p>
            <a:endParaRPr lang="en-IL" sz="2000"/>
          </a:p>
        </p:txBody>
      </p:sp>
      <p:sp>
        <p:nvSpPr>
          <p:cNvPr id="700" name="footer-refined-aoi-title">
            <a:extLst>
              <a:ext uri="{FF2B5EF4-FFF2-40B4-BE49-F238E27FC236}">
                <a16:creationId xmlns:a16="http://schemas.microsoft.com/office/drawing/2014/main" id="{4CF90F82-CB35-459B-8E63-CA0DFAA03E2F}"/>
              </a:ext>
            </a:extLst>
          </p:cNvPr>
          <p:cNvSpPr>
            <a:spLocks noGrp="1"/>
          </p:cNvSpPr>
          <p:nvPr/>
        </p:nvSpPr>
        <p:spPr>
          <a:xfrm>
            <a:off x="22764750" y="40252650"/>
            <a:ext cx="6477000" cy="285750"/>
          </a:xfrm>
          <a:prstGeom prst="rect">
            <a:avLst/>
          </a:prstGeom>
          <a:noFill/>
          <a:ln w="0">
            <a:noFill/>
            <a:prstDash val="solid"/>
          </a:ln>
        </p:spPr>
        <p:txBody>
          <a:bodyPr/>
          <a:lstStyle/>
          <a:p>
            <a:pPr>
              <a:buNone/>
              <a:defRPr sz="2025" b="1">
                <a:solidFill>
                  <a:srgbClr val="FFFFFF"/>
                </a:solidFill>
                <a:latin typeface="Arial"/>
                <a:ea typeface="Arial"/>
                <a:cs typeface="Arial"/>
              </a:defRPr>
            </a:pPr>
            <a:r>
              <a:rPr sz="3200" b="1" dirty="0">
                <a:solidFill>
                  <a:srgbClr val="FFFFFF"/>
                </a:solidFill>
                <a:latin typeface="Arial"/>
                <a:ea typeface="Arial"/>
                <a:cs typeface="Arial"/>
              </a:rPr>
              <a:t>AOI Consistency</a:t>
            </a:r>
          </a:p>
        </p:txBody>
      </p:sp>
      <p:sp>
        <p:nvSpPr>
          <p:cNvPr id="701" name="footer-refined-aoi-body">
            <a:extLst>
              <a:ext uri="{FF2B5EF4-FFF2-40B4-BE49-F238E27FC236}">
                <a16:creationId xmlns:a16="http://schemas.microsoft.com/office/drawing/2014/main" id="{30934008-BAD2-4BBF-BB66-5C218E9A460C}"/>
              </a:ext>
            </a:extLst>
          </p:cNvPr>
          <p:cNvSpPr>
            <a:spLocks noGrp="1"/>
          </p:cNvSpPr>
          <p:nvPr/>
        </p:nvSpPr>
        <p:spPr>
          <a:xfrm>
            <a:off x="22764750" y="40747950"/>
            <a:ext cx="6477000" cy="1562100"/>
          </a:xfrm>
          <a:prstGeom prst="rect">
            <a:avLst/>
          </a:prstGeom>
          <a:noFill/>
          <a:ln w="0">
            <a:noFill/>
            <a:prstDash val="solid"/>
          </a:ln>
        </p:spPr>
        <p:txBody>
          <a:bodyPr/>
          <a:lstStyle/>
          <a:p>
            <a:pPr>
              <a:buNone/>
              <a:defRPr sz="1650">
                <a:solidFill>
                  <a:srgbClr val="DDEBFF"/>
                </a:solidFill>
                <a:latin typeface="Arial"/>
                <a:ea typeface="Arial"/>
                <a:cs typeface="Arial"/>
              </a:defRPr>
            </a:pPr>
            <a:r>
              <a:rPr sz="2800" dirty="0">
                <a:solidFill>
                  <a:srgbClr val="DDEBFF"/>
                </a:solidFill>
                <a:latin typeface="Arial"/>
                <a:ea typeface="Arial"/>
                <a:cs typeface="Arial"/>
              </a:rPr>
              <a:t>Facial and body regions had to stay comparable across moving videos, even when angle, posture or occlusion changed what was visible.</a:t>
            </a:r>
          </a:p>
        </p:txBody>
      </p:sp>
      <p:pic>
        <p:nvPicPr>
          <p:cNvPr id="15" name="Picture 118">
            <a:extLst>
              <a:ext uri="{FF2B5EF4-FFF2-40B4-BE49-F238E27FC236}">
                <a16:creationId xmlns:a16="http://schemas.microsoft.com/office/drawing/2014/main" id="{DCD8F1A6-B851-AD26-02B0-A90CA938877A}"/>
              </a:ext>
            </a:extLst>
          </p:cNvPr>
          <p:cNvPicPr>
            <a:picLocks noChangeAspect="1"/>
          </p:cNvPicPr>
          <p:nvPr/>
        </p:nvPicPr>
        <p:blipFill>
          <a:blip r:embed="rId3"/>
          <a:stretch/>
        </p:blipFill>
        <p:spPr>
          <a:xfrm>
            <a:off x="11443022" y="43062525"/>
            <a:ext cx="7593955" cy="1780546"/>
          </a:xfrm>
          <a:prstGeom prst="rect">
            <a:avLst/>
          </a:prstGeom>
        </p:spPr>
      </p:pic>
      <p:sp>
        <p:nvSpPr>
          <p:cNvPr id="23" name="req-bullets">
            <a:extLst>
              <a:ext uri="{FF2B5EF4-FFF2-40B4-BE49-F238E27FC236}">
                <a16:creationId xmlns:a16="http://schemas.microsoft.com/office/drawing/2014/main" id="{85446C21-550D-4EA8-8ED9-2912CB8FA89D}"/>
              </a:ext>
            </a:extLst>
          </p:cNvPr>
          <p:cNvSpPr>
            <a:spLocks noGrp="1"/>
          </p:cNvSpPr>
          <p:nvPr/>
        </p:nvSpPr>
        <p:spPr>
          <a:xfrm>
            <a:off x="20173950" y="10820400"/>
            <a:ext cx="9020175" cy="2857500"/>
          </a:xfrm>
          <a:prstGeom prst="rect">
            <a:avLst/>
          </a:prstGeom>
          <a:noFill/>
          <a:ln w="0">
            <a:noFill/>
            <a:prstDash val="solid"/>
          </a:ln>
        </p:spPr>
        <p:txBody>
          <a:bodyPr/>
          <a:lstStyle/>
          <a:p>
            <a:pPr>
              <a:buNone/>
              <a:defRPr sz="1800">
                <a:solidFill>
                  <a:srgbClr val="121426"/>
                </a:solidFill>
                <a:latin typeface="Arial"/>
                <a:ea typeface="Arial"/>
                <a:cs typeface="Arial"/>
              </a:defRPr>
            </a:pPr>
            <a:r>
              <a:rPr sz="2800" dirty="0">
                <a:solidFill>
                  <a:srgbClr val="121426"/>
                </a:solidFill>
                <a:latin typeface="Arial"/>
                <a:ea typeface="Arial"/>
                <a:cs typeface="Arial"/>
              </a:rPr>
              <a:t>• Support an experimental workflow combining eye-tracking recordings with participant questionnaires.</a:t>
            </a:r>
          </a:p>
          <a:p>
            <a:pPr>
              <a:buNone/>
              <a:defRPr sz="1800">
                <a:solidFill>
                  <a:srgbClr val="121426"/>
                </a:solidFill>
                <a:latin typeface="Arial"/>
                <a:ea typeface="Arial"/>
                <a:cs typeface="Arial"/>
              </a:defRPr>
            </a:pPr>
            <a:r>
              <a:rPr sz="2800" dirty="0">
                <a:solidFill>
                  <a:srgbClr val="121426"/>
                </a:solidFill>
                <a:latin typeface="Arial"/>
                <a:ea typeface="Arial"/>
                <a:cs typeface="Arial"/>
              </a:rPr>
              <a:t>• Identify where participants focused while viewing different dog behaviors and facial structures.</a:t>
            </a:r>
          </a:p>
          <a:p>
            <a:pPr>
              <a:buNone/>
              <a:defRPr sz="1800">
                <a:solidFill>
                  <a:srgbClr val="121426"/>
                </a:solidFill>
                <a:latin typeface="Arial"/>
                <a:ea typeface="Arial"/>
                <a:cs typeface="Arial"/>
              </a:defRPr>
            </a:pPr>
            <a:r>
              <a:rPr sz="2800" dirty="0">
                <a:solidFill>
                  <a:srgbClr val="121426"/>
                </a:solidFill>
                <a:latin typeface="Arial"/>
                <a:ea typeface="Arial"/>
                <a:cs typeface="Arial"/>
              </a:rPr>
              <a:t>• Compare visual attention patterns between brachycephalic and normocephalic dogs.</a:t>
            </a:r>
          </a:p>
          <a:p>
            <a:pPr>
              <a:buNone/>
              <a:defRPr sz="1800">
                <a:solidFill>
                  <a:srgbClr val="121426"/>
                </a:solidFill>
                <a:latin typeface="Arial"/>
                <a:ea typeface="Arial"/>
                <a:cs typeface="Arial"/>
              </a:defRPr>
            </a:pPr>
            <a:r>
              <a:rPr sz="2800" dirty="0">
                <a:solidFill>
                  <a:srgbClr val="121426"/>
                </a:solidFill>
                <a:latin typeface="Arial"/>
                <a:ea typeface="Arial"/>
                <a:cs typeface="Arial"/>
              </a:rPr>
              <a:t>• Examine whether gaze behavior was related to correct situation recognition.</a:t>
            </a:r>
          </a:p>
          <a:p>
            <a:pPr>
              <a:buNone/>
              <a:defRPr sz="1800">
                <a:solidFill>
                  <a:srgbClr val="121426"/>
                </a:solidFill>
                <a:latin typeface="Arial"/>
                <a:ea typeface="Arial"/>
                <a:cs typeface="Arial"/>
              </a:defRPr>
            </a:pPr>
            <a:r>
              <a:rPr sz="2800" dirty="0">
                <a:solidFill>
                  <a:srgbClr val="121426"/>
                </a:solidFill>
                <a:latin typeface="Arial"/>
                <a:ea typeface="Arial"/>
                <a:cs typeface="Arial"/>
              </a:rPr>
              <a:t>• Present the collected data through clear metrics, visualizations, and comparative analyses.</a:t>
            </a:r>
          </a:p>
        </p:txBody>
      </p:sp>
      <p:sp>
        <p:nvSpPr>
          <p:cNvPr id="16" name="poster-subtitle">
            <a:extLst>
              <a:ext uri="{FF2B5EF4-FFF2-40B4-BE49-F238E27FC236}">
                <a16:creationId xmlns:a16="http://schemas.microsoft.com/office/drawing/2014/main" id="{DE7D7D49-DCBF-F68E-5E75-FA860058432B}"/>
              </a:ext>
            </a:extLst>
          </p:cNvPr>
          <p:cNvSpPr>
            <a:spLocks noGrp="1"/>
          </p:cNvSpPr>
          <p:nvPr/>
        </p:nvSpPr>
        <p:spPr>
          <a:xfrm>
            <a:off x="495300" y="4357073"/>
            <a:ext cx="22479000" cy="514350"/>
          </a:xfrm>
          <a:prstGeom prst="rect">
            <a:avLst/>
          </a:prstGeom>
          <a:noFill/>
          <a:ln w="0">
            <a:noFill/>
            <a:prstDash val="solid"/>
          </a:ln>
        </p:spPr>
        <p:txBody>
          <a:bodyPr/>
          <a:lstStyle/>
          <a:p>
            <a:pPr>
              <a:buNone/>
              <a:defRPr sz="2700">
                <a:solidFill>
                  <a:srgbClr val="DDEBFF"/>
                </a:solidFill>
                <a:latin typeface="Arial"/>
                <a:ea typeface="Arial"/>
                <a:cs typeface="Arial"/>
              </a:defRPr>
            </a:pPr>
            <a:r>
              <a:rPr lang="en-IL" sz="2700" dirty="0"/>
              <a:t>The project was part of a collaboration with a Czech research team studying human-dog communication.</a:t>
            </a:r>
            <a:endParaRPr sz="3200" dirty="0">
              <a:solidFill>
                <a:srgbClr val="DDEBFF"/>
              </a:solidFill>
              <a:latin typeface="Arial"/>
              <a:ea typeface="Arial"/>
              <a:cs typeface="Arial"/>
            </a:endParaRPr>
          </a:p>
        </p:txBody>
      </p:sp>
      <p:sp>
        <p:nvSpPr>
          <p:cNvPr id="20" name="bar-title">
            <a:extLst>
              <a:ext uri="{FF2B5EF4-FFF2-40B4-BE49-F238E27FC236}">
                <a16:creationId xmlns:a16="http://schemas.microsoft.com/office/drawing/2014/main" id="{339BE581-1A9C-5303-4BAE-0BA3242A893D}"/>
              </a:ext>
            </a:extLst>
          </p:cNvPr>
          <p:cNvSpPr>
            <a:spLocks noGrp="1"/>
          </p:cNvSpPr>
          <p:nvPr/>
        </p:nvSpPr>
        <p:spPr>
          <a:xfrm>
            <a:off x="13335000" y="19384936"/>
            <a:ext cx="7143750" cy="476250"/>
          </a:xfrm>
          <a:prstGeom prst="rect">
            <a:avLst/>
          </a:prstGeom>
          <a:noFill/>
          <a:ln w="0">
            <a:noFill/>
            <a:prstDash val="solid"/>
          </a:ln>
        </p:spPr>
        <p:txBody>
          <a:bodyPr/>
          <a:lstStyle/>
          <a:p>
            <a:pPr>
              <a:buNone/>
              <a:defRPr sz="2550" b="1">
                <a:solidFill>
                  <a:srgbClr val="121426"/>
                </a:solidFill>
                <a:latin typeface="Arial"/>
                <a:ea typeface="Arial"/>
                <a:cs typeface="Arial"/>
              </a:defRPr>
            </a:pPr>
            <a:r>
              <a:rPr lang="en-US" sz="2400" b="1" dirty="0">
                <a:solidFill>
                  <a:srgbClr val="121426"/>
                </a:solidFill>
                <a:latin typeface="Arial"/>
                <a:ea typeface="Arial"/>
                <a:cs typeface="Arial"/>
              </a:rPr>
              <a:t>True situation vs participant answer</a:t>
            </a:r>
            <a:endParaRPr sz="2400" b="1" dirty="0">
              <a:solidFill>
                <a:srgbClr val="121426"/>
              </a:solidFill>
              <a:latin typeface="Arial"/>
              <a:ea typeface="Arial"/>
              <a:cs typeface="Arial"/>
            </a:endParaRPr>
          </a:p>
        </p:txBody>
      </p:sp>
      <p:sp>
        <p:nvSpPr>
          <p:cNvPr id="24" name="bar-title">
            <a:extLst>
              <a:ext uri="{FF2B5EF4-FFF2-40B4-BE49-F238E27FC236}">
                <a16:creationId xmlns:a16="http://schemas.microsoft.com/office/drawing/2014/main" id="{B04E6C56-AAE9-DC05-A814-1F0DA4EC152F}"/>
              </a:ext>
            </a:extLst>
          </p:cNvPr>
          <p:cNvSpPr>
            <a:spLocks noGrp="1"/>
          </p:cNvSpPr>
          <p:nvPr/>
        </p:nvSpPr>
        <p:spPr>
          <a:xfrm>
            <a:off x="9889165" y="24866562"/>
            <a:ext cx="8778615" cy="476250"/>
          </a:xfrm>
          <a:prstGeom prst="rect">
            <a:avLst/>
          </a:prstGeom>
          <a:noFill/>
          <a:ln w="0">
            <a:noFill/>
            <a:prstDash val="solid"/>
          </a:ln>
        </p:spPr>
        <p:txBody>
          <a:bodyPr/>
          <a:lstStyle/>
          <a:p>
            <a:pPr algn="ctr">
              <a:buNone/>
              <a:defRPr sz="2550" b="1">
                <a:solidFill>
                  <a:srgbClr val="121426"/>
                </a:solidFill>
                <a:latin typeface="Arial"/>
                <a:ea typeface="Arial"/>
                <a:cs typeface="Arial"/>
              </a:defRPr>
            </a:pPr>
            <a:r>
              <a:rPr lang="en-US" sz="2400" b="1" dirty="0">
                <a:solidFill>
                  <a:srgbClr val="121426"/>
                </a:solidFill>
                <a:latin typeface="Arial"/>
                <a:ea typeface="Arial"/>
                <a:cs typeface="Arial"/>
              </a:rPr>
              <a:t>Reported informative AOIs vs actual fixation time</a:t>
            </a:r>
            <a:endParaRPr sz="2400" b="1" dirty="0">
              <a:solidFill>
                <a:srgbClr val="121426"/>
              </a:solidFill>
              <a:latin typeface="Arial"/>
              <a:ea typeface="Arial"/>
              <a:cs typeface="Arial"/>
            </a:endParaRPr>
          </a:p>
        </p:txBody>
      </p:sp>
      <p:sp>
        <p:nvSpPr>
          <p:cNvPr id="25" name="bar-title">
            <a:extLst>
              <a:ext uri="{FF2B5EF4-FFF2-40B4-BE49-F238E27FC236}">
                <a16:creationId xmlns:a16="http://schemas.microsoft.com/office/drawing/2014/main" id="{D275B322-7F55-2EA9-1ECD-B7F415943462}"/>
              </a:ext>
            </a:extLst>
          </p:cNvPr>
          <p:cNvSpPr>
            <a:spLocks noGrp="1"/>
          </p:cNvSpPr>
          <p:nvPr/>
        </p:nvSpPr>
        <p:spPr>
          <a:xfrm>
            <a:off x="21989124" y="22418575"/>
            <a:ext cx="7143750" cy="476250"/>
          </a:xfrm>
          <a:prstGeom prst="rect">
            <a:avLst/>
          </a:prstGeom>
          <a:noFill/>
          <a:ln w="0">
            <a:noFill/>
            <a:prstDash val="solid"/>
          </a:ln>
        </p:spPr>
        <p:txBody>
          <a:bodyPr/>
          <a:lstStyle/>
          <a:p>
            <a:pPr>
              <a:buNone/>
              <a:defRPr sz="2550" b="1">
                <a:solidFill>
                  <a:srgbClr val="121426"/>
                </a:solidFill>
                <a:latin typeface="Arial"/>
                <a:ea typeface="Arial"/>
                <a:cs typeface="Arial"/>
              </a:defRPr>
            </a:pPr>
            <a:r>
              <a:rPr lang="en-US" sz="2400" b="1" dirty="0">
                <a:solidFill>
                  <a:srgbClr val="121426"/>
                </a:solidFill>
                <a:latin typeface="Arial"/>
                <a:ea typeface="Arial"/>
                <a:cs typeface="Arial"/>
              </a:rPr>
              <a:t>Correct situation identification by video</a:t>
            </a:r>
            <a:endParaRPr sz="2400" b="1" dirty="0">
              <a:solidFill>
                <a:srgbClr val="121426"/>
              </a:solidFill>
              <a:latin typeface="Arial"/>
              <a:ea typeface="Arial"/>
              <a:cs typeface="Arial"/>
            </a:endParaRPr>
          </a:p>
        </p:txBody>
      </p:sp>
    </p:spTree>
    <p:extLst>
      <p:ext uri="{BB962C8B-B14F-4D97-AF65-F5344CB8AC3E}">
        <p14:creationId xmlns:p14="http://schemas.microsoft.com/office/powerpoint/2010/main" val="541140394"/>
      </p:ext>
    </p:extLst>
  </p:cSld>
  <p:clrMapOvr>
    <a:masterClrMapping/>
  </p:clrMapOvr>
</p:sld>
</file>

<file path=ppt/theme/theme1.xml><?xml version="1.0" encoding="utf-8"?>
<a:theme xmlns:a="http://schemas.openxmlformats.org/drawingml/2006/main" name="ChatGPT">
  <a:themeElements>
    <a:clrScheme name="Braude Eye Tracking">
      <a:dk1>
        <a:srgbClr val="000000"/>
      </a:dk1>
      <a:lt1>
        <a:srgbClr val="FFFFFF"/>
      </a:lt1>
      <a:dk2>
        <a:srgbClr val="28235C"/>
      </a:dk2>
      <a:lt2>
        <a:srgbClr val="D9E8F7"/>
      </a:lt2>
      <a:accent1>
        <a:srgbClr val="28235C"/>
      </a:accent1>
      <a:accent2>
        <a:srgbClr val="14A098"/>
      </a:accent2>
      <a:accent3>
        <a:srgbClr val="F27C38"/>
      </a:accent3>
      <a:accent4>
        <a:srgbClr val="3975A8"/>
      </a:accent4>
      <a:accent5>
        <a:srgbClr val="62A744"/>
      </a:accent5>
      <a:accent6>
        <a:srgbClr val="D84D4D"/>
      </a:accent6>
      <a:hlink>
        <a:srgbClr val="3975A8"/>
      </a:hlink>
      <a:folHlink>
        <a:srgbClr val="28235C"/>
      </a:folHlink>
    </a:clrScheme>
    <a:fontScheme name="Office">
      <a:majorFont>
        <a:latin typeface="Calibri Light"/>
        <a:ea typeface="Calibri Light"/>
        <a:cs typeface="Calibri Light"/>
      </a:majorFont>
      <a:minorFont>
        <a:latin typeface="Calibri"/>
        <a:ea typeface="Calibri"/>
        <a:cs typeface="Calibri"/>
      </a:minorFont>
    </a:fontScheme>
    <a:fmtScheme name="Braude Eye Track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Braude Eye Tracking">
      <a:dk1>
        <a:srgbClr val="000000"/>
      </a:dk1>
      <a:lt1>
        <a:srgbClr val="FFFFFF"/>
      </a:lt1>
      <a:dk2>
        <a:srgbClr val="28235C"/>
      </a:dk2>
      <a:lt2>
        <a:srgbClr val="D9E8F7"/>
      </a:lt2>
      <a:accent1>
        <a:srgbClr val="28235C"/>
      </a:accent1>
      <a:accent2>
        <a:srgbClr val="14A098"/>
      </a:accent2>
      <a:accent3>
        <a:srgbClr val="F27C38"/>
      </a:accent3>
      <a:accent4>
        <a:srgbClr val="3975A8"/>
      </a:accent4>
      <a:accent5>
        <a:srgbClr val="62A744"/>
      </a:accent5>
      <a:accent6>
        <a:srgbClr val="D84D4D"/>
      </a:accent6>
      <a:hlink>
        <a:srgbClr val="3975A8"/>
      </a:hlink>
      <a:folHlink>
        <a:srgbClr val="28235C"/>
      </a:folHlink>
    </a:clrScheme>
    <a:fontScheme name="Office">
      <a:majorFont>
        <a:latin typeface="Calibri Light"/>
        <a:ea typeface="Calibri Light"/>
        <a:cs typeface="Calibri Light"/>
      </a:majorFont>
      <a:minorFont>
        <a:latin typeface="Calibri"/>
        <a:ea typeface="Calibri"/>
        <a:cs typeface="Calibri"/>
      </a:minorFont>
    </a:fontScheme>
    <a:fmtScheme name="Braude Eye Track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972</TotalTime>
  <Words>2684</Words>
  <Application>Microsoft Macintosh PowerPoint</Application>
  <DocSecurity>0</DocSecurity>
  <PresentationFormat>Custom</PresentationFormat>
  <Paragraphs>350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יניב שטיין</cp:lastModifiedBy>
  <cp:revision>5</cp:revision>
  <dcterms:created xsi:type="dcterms:W3CDTF">2026-06-24T10:40:44Z</dcterms:created>
  <dcterms:modified xsi:type="dcterms:W3CDTF">2026-06-25T09:45:59Z</dcterms:modified>
</cp:coreProperties>
</file>