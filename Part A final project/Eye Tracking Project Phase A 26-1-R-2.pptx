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b6c7c2d9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b6c7c2d9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0"/>
              </a:spcBef>
              <a:spcAft>
                <a:spcPts val="0"/>
              </a:spcAft>
              <a:buNone/>
            </a:pPr>
            <a:r>
              <a:rPr lang="iw">
                <a:solidFill>
                  <a:schemeClr val="dk1"/>
                </a:solidFill>
              </a:rPr>
              <a:t>Hello, my name is Eden and this is my partner Yaniv, and today we will introduce to you our phase A.</a:t>
            </a:r>
            <a:endParaRPr>
              <a:solidFill>
                <a:schemeClr val="dk1"/>
              </a:solidFill>
            </a:endParaRPr>
          </a:p>
          <a:p>
            <a:pPr indent="0" lvl="0" marL="0" marR="381000" rtl="0" algn="l">
              <a:lnSpc>
                <a:spcPct val="115000"/>
              </a:lnSpc>
              <a:spcBef>
                <a:spcPts val="0"/>
              </a:spcBef>
              <a:spcAft>
                <a:spcPts val="0"/>
              </a:spcAft>
              <a:buClr>
                <a:schemeClr val="dk1"/>
              </a:buClr>
              <a:buSzPts val="1100"/>
              <a:buFont typeface="Arial"/>
              <a:buNone/>
            </a:pPr>
            <a:r>
              <a:rPr lang="iw">
                <a:solidFill>
                  <a:schemeClr val="dk1"/>
                </a:solidFill>
              </a:rPr>
              <a:t>T</a:t>
            </a:r>
            <a:r>
              <a:rPr lang="iw">
                <a:solidFill>
                  <a:schemeClr val="dk1"/>
                </a:solidFill>
              </a:rPr>
              <a:t>h</a:t>
            </a:r>
            <a:r>
              <a:rPr lang="iw">
                <a:solidFill>
                  <a:schemeClr val="dk1"/>
                </a:solidFill>
              </a:rPr>
              <a:t>e project is titled “Evaluation of Human-Oriented Canine Communication Using Eye Tracking Technology” which is a very long title but in short it means that we are not trying to understand what the dog feels, we are trying to understand how humans look at dogs, and which visual cues help them interpret the dog’s behavior and emotional state.</a:t>
            </a:r>
            <a:endParaRPr>
              <a:solidFill>
                <a:schemeClr val="dk1"/>
              </a:solidFill>
            </a:endParaRPr>
          </a:p>
          <a:p>
            <a:pPr indent="0" lvl="0" marL="0" marR="381000" rtl="0" algn="l">
              <a:lnSpc>
                <a:spcPct val="115000"/>
              </a:lnSpc>
              <a:spcBef>
                <a:spcPts val="0"/>
              </a:spcBef>
              <a:spcAft>
                <a:spcPts val="0"/>
              </a:spcAft>
              <a:buClr>
                <a:schemeClr val="dk1"/>
              </a:buClr>
              <a:buSzPts val="1100"/>
              <a:buFont typeface="Arial"/>
              <a:buNone/>
            </a:pPr>
            <a:r>
              <a:rPr lang="iw">
                <a:solidFill>
                  <a:schemeClr val="dk1"/>
                </a:solidFill>
              </a:rPr>
              <a:t>In this presentation, we will introduce the motivation behind the project, the research background, and mainly the methodology we designed in Phase A.</a:t>
            </a:r>
            <a:br>
              <a:rPr lang="iw">
                <a:solidFill>
                  <a:schemeClr val="dk1"/>
                </a:solidFill>
              </a:rPr>
            </a:br>
            <a:r>
              <a:rPr lang="iw">
                <a:solidFill>
                  <a:schemeClr val="dk1"/>
                </a:solidFill>
              </a:rPr>
              <a:t>also important to mention: the project is supervised by Dr. Julia Sheidin and Dr. Samah Idrees-Ghazawi.</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b6c7c2d9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b6c7c2d9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iw">
                <a:solidFill>
                  <a:schemeClr val="dk1"/>
                </a:solidFill>
              </a:rPr>
              <a:t>To start with some background, misinterpretation between humans and dogs is actually very common.</a:t>
            </a:r>
            <a:br>
              <a:rPr lang="iw">
                <a:solidFill>
                  <a:schemeClr val="dk1"/>
                </a:solidFill>
              </a:rPr>
            </a:br>
            <a:r>
              <a:rPr lang="iw">
                <a:solidFill>
                  <a:schemeClr val="dk1"/>
                </a:solidFill>
              </a:rPr>
              <a:t>People usually rely on small body language cues, like facial expressions, posture, or small movements but these cues are often misunderstood</a:t>
            </a:r>
            <a:r>
              <a:rPr lang="iw">
                <a:solidFill>
                  <a:schemeClr val="dk1"/>
                </a:solidFill>
              </a:rPr>
              <a:t>.</a:t>
            </a:r>
            <a:br>
              <a:rPr lang="iw">
                <a:solidFill>
                  <a:schemeClr val="dk1"/>
                </a:solidFill>
              </a:rPr>
            </a:br>
            <a:r>
              <a:rPr lang="iw">
                <a:solidFill>
                  <a:schemeClr val="dk1"/>
                </a:solidFill>
              </a:rPr>
              <a:t>Because of that, we see many cross-species misunderstandings, where humans think they understand the dog, but interpret the situation incorrectly.</a:t>
            </a:r>
            <a:br>
              <a:rPr lang="iw">
                <a:solidFill>
                  <a:schemeClr val="dk1"/>
                </a:solidFill>
              </a:rPr>
            </a:br>
            <a:r>
              <a:rPr lang="iw">
                <a:solidFill>
                  <a:schemeClr val="dk1"/>
                </a:solidFill>
              </a:rPr>
              <a:t>T</a:t>
            </a:r>
            <a:r>
              <a:rPr lang="iw">
                <a:solidFill>
                  <a:schemeClr val="dk1"/>
                </a:solidFill>
              </a:rPr>
              <a:t>he goal of our project is to help bridge this communication gap, by better understanding how humans visually interpret dogs.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983d89f36_8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983d89f36_8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0"/>
              </a:spcBef>
              <a:spcAft>
                <a:spcPts val="1200"/>
              </a:spcAft>
              <a:buNone/>
            </a:pPr>
            <a:r>
              <a:rPr lang="iw">
                <a:solidFill>
                  <a:schemeClr val="dk1"/>
                </a:solidFill>
              </a:rPr>
              <a:t>This project builds on existing academic work and is part of an ongoing collaboration with Czech researchers who studied human - dog communication mainly through self-report questionnaires.</a:t>
            </a:r>
            <a:br>
              <a:rPr lang="iw">
                <a:solidFill>
                  <a:schemeClr val="dk1"/>
                </a:solidFill>
              </a:rPr>
            </a:br>
            <a:r>
              <a:rPr lang="iw">
                <a:solidFill>
                  <a:schemeClr val="dk1"/>
                </a:solidFill>
              </a:rPr>
              <a:t>In addition, a previous student project introduced the use of eye-tracking technology, but focused only on static images. While these studies provided important insights, they are limited in their ability to capture the dynamic nature of dog behavior. Our project extends this work by using dynamic video stimuli combined with eye tracking, allowing us to observe how human gaze evolves over time and how visual attention shifts across different areas of the dog’s face and body in more realistic scenarios.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983d89f36_8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983d89f36_8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In this project, we deliberately focus on two specific dog groups: brachycephalic and normocephalic dogs.</a:t>
            </a:r>
            <a:br>
              <a:rPr lang="iw"/>
            </a:br>
            <a:r>
              <a:rPr lang="iw"/>
              <a:t>This division creates a clear and balanced comparison, as these two types represent opposite ends of canine skull features and effectively split dog facial structures into two central categories.</a:t>
            </a:r>
            <a:br>
              <a:rPr lang="iw"/>
            </a:br>
            <a:r>
              <a:rPr lang="iw"/>
              <a:t>Brachycephalic dogs are characterized by a shortened skull, a flatter face, and a compact muzzle, while normocephalic dogs have more standard skull proportions with an elongated and more prominent muzzle.</a:t>
            </a:r>
            <a:br>
              <a:rPr lang="iw"/>
            </a:br>
            <a:r>
              <a:rPr lang="iw"/>
              <a:t>By working with these two groups, we are able to examine how distinct anatomical features influence human visual attention and interpretation, making this comparison a core element of our research design.</a:t>
            </a:r>
            <a:br>
              <a:rPr lang="iw"/>
            </a:br>
            <a:r>
              <a:rPr lang="iw"/>
              <a:t>It is important to note that both the Czech researchers and the previous student project used the same division, allowing our work to stay consistent with earlier research.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954e3cac0_18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954e3cac0_18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The main problem identified in existing research is that many studies rely heavily on static images, which limits ecological validity and fails to capture the dynamic and temporal nature of dog behavior. In addition, much of the interpretation is based on subjective self-reports, where participants describe what they believe they observed, rather than what they actually focused on visually.</a:t>
            </a:r>
            <a:br>
              <a:rPr lang="iw"/>
            </a:br>
            <a:r>
              <a:rPr lang="iw"/>
              <a:t>This creates a gap between perceived attention and real visual behavior. For example, several studies in the literature examine emotion recognition using still photographs or questionnaires, which provide valuable insights but lack objective, time-based measures of gaze. Our literature review consistently points to this limitation and highlights the need for more objective and dynamic methods, which directly motivates the design of the current study.</a:t>
            </a:r>
            <a:endParaRPr/>
          </a:p>
          <a:p>
            <a:pPr indent="0" lvl="0" marL="0" marR="381000" rtl="0" algn="l">
              <a:lnSpc>
                <a:spcPct val="115000"/>
              </a:lnSpc>
              <a:spcBef>
                <a:spcPts val="1200"/>
              </a:spcBef>
              <a:spcAft>
                <a:spcPts val="0"/>
              </a:spcAft>
              <a:buClr>
                <a:schemeClr val="dk1"/>
              </a:buClr>
              <a:buSzPts val="1100"/>
              <a:buFont typeface="Arial"/>
              <a:buNone/>
            </a:pPr>
            <a:r>
              <a:rPr lang="iw">
                <a:solidFill>
                  <a:srgbClr val="0000FF"/>
                </a:solidFill>
              </a:rPr>
              <a:t>For example, studies such as Eretová et al. (2024) focused on human interpretation of dog emotions using static images, which allowed controlled comparison but did not capture the dynamic nature of canine behavior. Other works in the literature also relied mainly on questionnaires and self-reports, without objective measurements of visual attention. These limitations are repeatedly highlighted in the literature review and point to the need for more dynamic and objective methods, such as eye tracking with video stimuli.</a:t>
            </a:r>
            <a:endParaRPr>
              <a:solidFill>
                <a:srgbClr val="0000FF"/>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b6c7c2d9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bb6c7c2d9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The main innovation of this project lies in combining eye-tracking technology with dynamic video stimuli, rather than relying on static images as done in much of the existing research. By using videos, we are able to capture richer and more contextual information that better reflects real-world human-dog interactions.</a:t>
            </a:r>
            <a:br>
              <a:rPr lang="iw"/>
            </a:br>
            <a:r>
              <a:rPr lang="iw"/>
              <a:t>This approach allows us to observe how visual attention changes over time and how participants naturally shift their gaze between different areas of the dog’s face and body. As a result, the data collected is more realistic and informative, which can improve the accuracy of participants’ interpretations and lead to higher-quality, more objective insights.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983d89f36_8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983d89f36_8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This slide presents a high-level overview of our research process. We divided the study into three main stages: experiment preparation, experiment procedure, and data analysis.</a:t>
            </a:r>
            <a:br>
              <a:rPr lang="iw"/>
            </a:br>
            <a:r>
              <a:rPr lang="iw"/>
              <a:t>Each of these stages will be presented in more detail in the following slides. The purpose here is to give a clear structure of how the study is organized, from setting up the experimental environment and calibration, through conducting the experiment with participants, and finally analyzing and interpreting the collected eye-tracking and behavioral data.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de80b98b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de80b98b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w">
                <a:solidFill>
                  <a:schemeClr val="dk1"/>
                </a:solidFill>
              </a:rPr>
              <a:t>Focused on preparing the experimental stimuli</a:t>
            </a:r>
            <a:br>
              <a:rPr lang="iw">
                <a:solidFill>
                  <a:schemeClr val="dk1"/>
                </a:solidFill>
              </a:rPr>
            </a:br>
            <a:r>
              <a:rPr lang="iw">
                <a:solidFill>
                  <a:schemeClr val="dk1"/>
                </a:solidFill>
              </a:rPr>
              <a:t>Defined Areas of Interest (AOIs) on the dog’s face and body</a:t>
            </a:r>
            <a:br>
              <a:rPr lang="iw">
                <a:solidFill>
                  <a:schemeClr val="dk1"/>
                </a:solidFill>
              </a:rPr>
            </a:br>
            <a:r>
              <a:rPr lang="iw">
                <a:solidFill>
                  <a:schemeClr val="dk1"/>
                </a:solidFill>
              </a:rPr>
              <a:t>AOIs were mapped dynamically, frame by frame</a:t>
            </a:r>
            <a:br>
              <a:rPr lang="iw">
                <a:solidFill>
                  <a:schemeClr val="dk1"/>
                </a:solidFill>
              </a:rPr>
            </a:br>
            <a:r>
              <a:rPr lang="iw">
                <a:solidFill>
                  <a:schemeClr val="dk1"/>
                </a:solidFill>
              </a:rPr>
              <a:t>Stimuli included 8 videos of dogs showing natural behavior</a:t>
            </a:r>
            <a:br>
              <a:rPr lang="iw">
                <a:solidFill>
                  <a:schemeClr val="dk1"/>
                </a:solidFill>
              </a:rPr>
            </a:br>
            <a:r>
              <a:rPr lang="iw">
                <a:solidFill>
                  <a:schemeClr val="dk1"/>
                </a:solidFill>
              </a:rPr>
              <a:t>Total of approximately 2,000 frames</a:t>
            </a:r>
            <a:br>
              <a:rPr lang="iw">
                <a:solidFill>
                  <a:schemeClr val="dk1"/>
                </a:solidFill>
              </a:rPr>
            </a:br>
            <a:r>
              <a:rPr lang="iw">
                <a:solidFill>
                  <a:schemeClr val="dk1"/>
                </a:solidFill>
              </a:rPr>
              <a:t>Right side shows an example frame illustrating the dynamic stimuli</a:t>
            </a:r>
            <a:endParaRPr>
              <a:solidFill>
                <a:schemeClr val="dk1"/>
              </a:solidFill>
            </a:endParaRPr>
          </a:p>
          <a:p>
            <a:pPr indent="0" lvl="0" marL="0" rtl="0" algn="l">
              <a:spcBef>
                <a:spcPts val="0"/>
              </a:spcBef>
              <a:spcAft>
                <a:spcPts val="0"/>
              </a:spcAft>
              <a:buNone/>
            </a:pPr>
            <a:r>
              <a:rPr lang="iw">
                <a:solidFill>
                  <a:schemeClr val="dk1"/>
                </a:solidFill>
              </a:rPr>
              <a:t>say </a:t>
            </a:r>
            <a:r>
              <a:rPr lang="iw">
                <a:solidFill>
                  <a:schemeClr val="dk1"/>
                </a:solidFill>
              </a:rPr>
              <a:t>the</a:t>
            </a:r>
            <a:r>
              <a:rPr lang="iw">
                <a:solidFill>
                  <a:schemeClr val="dk1"/>
                </a:solidFill>
              </a:rPr>
              <a:t> aois of like snout, eyes, ears, legs, </a:t>
            </a:r>
            <a:r>
              <a:rPr lang="iw">
                <a:solidFill>
                  <a:schemeClr val="dk1"/>
                </a:solidFill>
              </a:rPr>
              <a:t>forehead</a:t>
            </a:r>
            <a:r>
              <a:rPr lang="iw">
                <a:solidFill>
                  <a:schemeClr val="dk1"/>
                </a:solidFill>
              </a:rPr>
              <a:t>, tail also mention how we </a:t>
            </a:r>
            <a:r>
              <a:rPr lang="iw">
                <a:solidFill>
                  <a:schemeClr val="dk1"/>
                </a:solidFill>
              </a:rPr>
              <a:t>separated</a:t>
            </a:r>
            <a:r>
              <a:rPr lang="iw">
                <a:solidFill>
                  <a:schemeClr val="dk1"/>
                </a:solidFill>
              </a:rPr>
              <a:t> eyes legs and cheeks from right to left</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say that each video was 30 frames per second </a:t>
            </a:r>
            <a:endParaRPr>
              <a:solidFill>
                <a:schemeClr val="dk1"/>
              </a:solidFill>
            </a:endParaRPr>
          </a:p>
          <a:p>
            <a:pPr indent="0" lvl="0" marL="0" rtl="0" algn="l">
              <a:spcBef>
                <a:spcPts val="0"/>
              </a:spcBef>
              <a:spcAft>
                <a:spcPts val="0"/>
              </a:spcAft>
              <a:buNone/>
            </a:pPr>
            <a:r>
              <a:rPr lang="iw">
                <a:solidFill>
                  <a:schemeClr val="dk1"/>
                </a:solidFill>
              </a:rPr>
              <a:t>eden did a good job. it took us a while to understand how to work with the tobii pro lab and what is the most efficient way to do it. we split the work half half, i did the </a:t>
            </a:r>
            <a:r>
              <a:rPr lang="iw">
                <a:solidFill>
                  <a:schemeClr val="dk1"/>
                </a:solidFill>
              </a:rPr>
              <a:t>normocephalic</a:t>
            </a:r>
            <a:r>
              <a:rPr lang="iw">
                <a:solidFill>
                  <a:schemeClr val="dk1"/>
                </a:solidFill>
              </a:rPr>
              <a:t> and she did the </a:t>
            </a:r>
            <a:r>
              <a:rPr lang="iw">
                <a:solidFill>
                  <a:schemeClr val="dk1"/>
                </a:solidFill>
              </a:rPr>
              <a:t>brachycephalic</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iw">
                <a:solidFill>
                  <a:schemeClr val="dk1"/>
                </a:solidFill>
              </a:rPr>
              <a:t>the normocephalic dog that i did was a bit harder to do because he had more fur and his edges were harder to see, and he also moved alot more so it was difficult to work on those videos.</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de80b98b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bde80b98b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w">
                <a:solidFill>
                  <a:schemeClr val="dk1"/>
                </a:solidFill>
              </a:rPr>
              <a:t>After preparing the stimuli, we moved on to the experimental procedure</a:t>
            </a:r>
            <a:br>
              <a:rPr lang="i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Participants were seated at a fixed distance of 65 cm from the screen</a:t>
            </a:r>
            <a:br>
              <a:rPr lang="i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The Tobii eye-tracker was calibrated to ensure accurate gaze recording</a:t>
            </a:r>
            <a:br>
              <a:rPr lang="i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Participants watched dog videos</a:t>
            </a:r>
            <a:br>
              <a:rPr lang="i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After each video, they completed a short questionnaire about the dog’s emotional state</a:t>
            </a:r>
            <a:br>
              <a:rPr lang="iw">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Once the task was completed, eye-tracking data was collected</a:t>
            </a:r>
            <a:br>
              <a:rPr lang="iw">
                <a:solidFill>
                  <a:schemeClr val="dk1"/>
                </a:solidFill>
              </a:rPr>
            </a:br>
            <a:endParaRPr>
              <a:solidFill>
                <a:schemeClr val="dk1"/>
              </a:solidFill>
            </a:endParaRPr>
          </a:p>
          <a:p>
            <a:pPr indent="0" lvl="0" marL="0" rtl="0" algn="l">
              <a:spcBef>
                <a:spcPts val="0"/>
              </a:spcBef>
              <a:spcAft>
                <a:spcPts val="0"/>
              </a:spcAft>
              <a:buNone/>
            </a:pPr>
            <a:r>
              <a:rPr lang="iw">
                <a:solidFill>
                  <a:schemeClr val="dk1"/>
                </a:solidFill>
              </a:rPr>
              <a:t>Collected data included fixations, saccades, visits, scanpaths, and gaze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iw">
                <a:solidFill>
                  <a:schemeClr val="dk1"/>
                </a:solidFill>
              </a:rPr>
              <a:t>***in the setup we did experiments on our own and checked that the distance is good and the other parameters are good and also what position of the eyes are in reference to the screen.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w">
                <a:solidFill>
                  <a:schemeClr val="dk1"/>
                </a:solidFill>
              </a:rPr>
              <a:t>in the task all the questions are the same for each video. the </a:t>
            </a:r>
            <a:r>
              <a:rPr lang="iw">
                <a:solidFill>
                  <a:schemeClr val="dk1"/>
                </a:solidFill>
              </a:rPr>
              <a:t>questions are what are the perceived emotional state of the dog, and about what parts did the participant look in the video, so that we will be able to compare between what they thought they looked at and what they actually looked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iw">
                <a:solidFill>
                  <a:schemeClr val="dk1"/>
                </a:solidFill>
              </a:rPr>
              <a:t> from the experiments we have already done we have seen most people look at </a:t>
            </a:r>
            <a:r>
              <a:rPr lang="iw">
                <a:solidFill>
                  <a:schemeClr val="dk1"/>
                </a:solidFill>
              </a:rPr>
              <a:t>the face but they report that they look at the body and other parts.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de80b98b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de80b98b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iw">
                <a:solidFill>
                  <a:schemeClr val="dk1"/>
                </a:solidFill>
              </a:rPr>
              <a:t>so the data analysis is going to be done in phase 2 of the project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At this stage, we focus on </a:t>
            </a:r>
            <a:r>
              <a:rPr b="1" lang="iw">
                <a:solidFill>
                  <a:schemeClr val="dk1"/>
                </a:solidFill>
              </a:rPr>
              <a:t>data analysis</a:t>
            </a:r>
            <a:r>
              <a:rPr lang="iw">
                <a:solidFill>
                  <a:schemeClr val="dk1"/>
                </a:solidFill>
              </a:rPr>
              <a:t>.</a:t>
            </a:r>
            <a:br>
              <a:rPr lang="i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The input to the analysis is </a:t>
            </a:r>
            <a:r>
              <a:rPr b="1" lang="iw">
                <a:solidFill>
                  <a:schemeClr val="dk1"/>
                </a:solidFill>
              </a:rPr>
              <a:t>raw eye-tracking data exported as CSV files</a:t>
            </a:r>
            <a:r>
              <a:rPr lang="iw">
                <a:solidFill>
                  <a:schemeClr val="dk1"/>
                </a:solidFill>
              </a:rPr>
              <a:t>.</a:t>
            </a:r>
            <a:br>
              <a:rPr lang="i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These CSV files contain the participants’ </a:t>
            </a:r>
            <a:r>
              <a:rPr b="1" lang="iw">
                <a:solidFill>
                  <a:schemeClr val="dk1"/>
                </a:solidFill>
              </a:rPr>
              <a:t>gaze information over time</a:t>
            </a:r>
            <a:r>
              <a:rPr lang="iw">
                <a:solidFill>
                  <a:schemeClr val="dk1"/>
                </a:solidFill>
              </a:rPr>
              <a:t>.</a:t>
            </a:r>
            <a:br>
              <a:rPr lang="i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Next, the data is passed through an </a:t>
            </a:r>
            <a:r>
              <a:rPr b="1" lang="iw">
                <a:solidFill>
                  <a:schemeClr val="dk1"/>
                </a:solidFill>
              </a:rPr>
              <a:t>algorithm</a:t>
            </a:r>
            <a:r>
              <a:rPr lang="iw">
                <a:solidFill>
                  <a:schemeClr val="dk1"/>
                </a:solidFill>
              </a:rPr>
              <a:t> that processes the gaze data.</a:t>
            </a:r>
            <a:br>
              <a:rPr lang="i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The algorithm organizes the raw data into meaningful structures.</a:t>
            </a:r>
            <a:br>
              <a:rPr lang="i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From this processing, we obtain several </a:t>
            </a:r>
            <a:r>
              <a:rPr b="1" lang="iw">
                <a:solidFill>
                  <a:schemeClr val="dk1"/>
                </a:solidFill>
              </a:rPr>
              <a:t>analysis outputs</a:t>
            </a:r>
            <a:r>
              <a:rPr lang="iw">
                <a:solidFill>
                  <a:schemeClr val="dk1"/>
                </a:solidFill>
              </a:rPr>
              <a:t>:</a:t>
            </a:r>
            <a:br>
              <a:rPr lang="i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iw">
                <a:solidFill>
                  <a:schemeClr val="dk1"/>
                </a:solidFill>
              </a:rPr>
              <a:t>Event detection</a:t>
            </a:r>
            <a:r>
              <a:rPr lang="iw">
                <a:solidFill>
                  <a:schemeClr val="dk1"/>
                </a:solidFill>
              </a:rPr>
              <a:t>, identifying fixations and saccades</a:t>
            </a:r>
            <a:br>
              <a:rPr lang="i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iw">
                <a:solidFill>
                  <a:schemeClr val="dk1"/>
                </a:solidFill>
              </a:rPr>
              <a:t>Sequence analysis</a:t>
            </a:r>
            <a:r>
              <a:rPr lang="iw">
                <a:solidFill>
                  <a:schemeClr val="dk1"/>
                </a:solidFill>
              </a:rPr>
              <a:t>, showing the order of gaze over time</a:t>
            </a:r>
            <a:br>
              <a:rPr lang="i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iw">
                <a:solidFill>
                  <a:schemeClr val="dk1"/>
                </a:solidFill>
              </a:rPr>
              <a:t>Statistical measures</a:t>
            </a:r>
            <a:r>
              <a:rPr lang="iw">
                <a:solidFill>
                  <a:schemeClr val="dk1"/>
                </a:solidFill>
              </a:rPr>
              <a:t>, such as durations and frequencies</a:t>
            </a:r>
            <a:br>
              <a:rPr lang="i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iw">
                <a:solidFill>
                  <a:schemeClr val="dk1"/>
                </a:solidFill>
              </a:rPr>
              <a:t>Transition matrices</a:t>
            </a:r>
            <a:r>
              <a:rPr lang="iw">
                <a:solidFill>
                  <a:schemeClr val="dk1"/>
                </a:solidFill>
              </a:rPr>
              <a:t>, describing gaze transitions between areas of interest</a:t>
            </a:r>
            <a:br>
              <a:rPr lang="i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iw">
                <a:solidFill>
                  <a:schemeClr val="dk1"/>
                </a:solidFill>
              </a:rPr>
              <a:t>Together, these outputs allow us to move from </a:t>
            </a:r>
            <a:r>
              <a:rPr b="1" lang="iw">
                <a:solidFill>
                  <a:schemeClr val="dk1"/>
                </a:solidFill>
              </a:rPr>
              <a:t>raw gaze data</a:t>
            </a:r>
            <a:r>
              <a:rPr lang="iw">
                <a:solidFill>
                  <a:schemeClr val="dk1"/>
                </a:solidFill>
              </a:rPr>
              <a:t> to </a:t>
            </a:r>
            <a:r>
              <a:rPr b="1" lang="iw">
                <a:solidFill>
                  <a:schemeClr val="dk1"/>
                </a:solidFill>
              </a:rPr>
              <a:t>structured insights about visual attention behavior</a:t>
            </a:r>
            <a:r>
              <a:rPr lang="iw">
                <a:solidFill>
                  <a:schemeClr val="dk1"/>
                </a:solidFill>
              </a:rPr>
              <a:t>.</a:t>
            </a:r>
            <a:br>
              <a:rPr lang="iw">
                <a:solidFill>
                  <a:schemeClr val="dk1"/>
                </a:solidFill>
              </a:rPr>
            </a:b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983d89f36_8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983d89f36_8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so a little bit about the transition matrix</a:t>
            </a:r>
            <a:endParaRPr/>
          </a:p>
          <a:p>
            <a:pPr indent="0" lvl="0" marL="0" rtl="0" algn="l">
              <a:spcBef>
                <a:spcPts val="0"/>
              </a:spcBef>
              <a:spcAft>
                <a:spcPts val="0"/>
              </a:spcAft>
              <a:buClr>
                <a:schemeClr val="dk1"/>
              </a:buClr>
              <a:buSzPts val="1100"/>
              <a:buFont typeface="Arial"/>
              <a:buNone/>
            </a:pPr>
            <a:r>
              <a:rPr lang="iw"/>
              <a:t>and now i will talk more in depth about the transition matrix</a:t>
            </a:r>
            <a:br>
              <a:rPr lang="iw"/>
            </a:br>
            <a:endParaRPr/>
          </a:p>
          <a:p>
            <a:pPr indent="0" lvl="0" marL="0" rtl="0" algn="l">
              <a:spcBef>
                <a:spcPts val="0"/>
              </a:spcBef>
              <a:spcAft>
                <a:spcPts val="0"/>
              </a:spcAft>
              <a:buClr>
                <a:schemeClr val="dk1"/>
              </a:buClr>
              <a:buSzPts val="1100"/>
              <a:buFont typeface="Arial"/>
              <a:buNone/>
            </a:pPr>
            <a:r>
              <a:rPr lang="iw"/>
              <a:t>Each cell represents the probability of gaze shifting from one area of interest to another</a:t>
            </a:r>
            <a:br>
              <a:rPr lang="iw"/>
            </a:br>
            <a:endParaRPr/>
          </a:p>
          <a:p>
            <a:pPr indent="0" lvl="0" marL="0" rtl="0" algn="l">
              <a:spcBef>
                <a:spcPts val="0"/>
              </a:spcBef>
              <a:spcAft>
                <a:spcPts val="0"/>
              </a:spcAft>
              <a:buClr>
                <a:schemeClr val="dk1"/>
              </a:buClr>
              <a:buSzPts val="1100"/>
              <a:buFont typeface="Arial"/>
              <a:buNone/>
            </a:pPr>
            <a:r>
              <a:rPr lang="iw"/>
              <a:t>Analyzing these transitions reveals attention patterns, such as scanning loops and dominant viewing strategies</a:t>
            </a:r>
            <a:br>
              <a:rPr lang="iw"/>
            </a:br>
            <a:endParaRPr/>
          </a:p>
          <a:p>
            <a:pPr indent="0" lvl="0" marL="0" rtl="0" algn="l">
              <a:spcBef>
                <a:spcPts val="0"/>
              </a:spcBef>
              <a:spcAft>
                <a:spcPts val="0"/>
              </a:spcAft>
              <a:buClr>
                <a:schemeClr val="dk1"/>
              </a:buClr>
              <a:buSzPts val="1100"/>
              <a:buFont typeface="Arial"/>
              <a:buNone/>
            </a:pPr>
            <a:r>
              <a:rPr lang="iw"/>
              <a:t>This allows us to move from raw gaze data to a structured, quantitative representation of visual behavior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iw"/>
              <a:t>we will use the transition matrix saccades fixations etc and then we can understand from it different things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983d89f36_8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983d89f36_8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w"/>
              <a:t>This slide summarizes the software tools used in the project.</a:t>
            </a:r>
            <a:endParaRPr/>
          </a:p>
          <a:p>
            <a:pPr indent="0" lvl="0" marL="0" rtl="0" algn="l">
              <a:lnSpc>
                <a:spcPct val="115000"/>
              </a:lnSpc>
              <a:spcBef>
                <a:spcPts val="1200"/>
              </a:spcBef>
              <a:spcAft>
                <a:spcPts val="0"/>
              </a:spcAft>
              <a:buClr>
                <a:schemeClr val="dk1"/>
              </a:buClr>
              <a:buSzPts val="1100"/>
              <a:buFont typeface="Arial"/>
              <a:buNone/>
            </a:pPr>
            <a:r>
              <a:rPr lang="iw"/>
              <a:t>Tobii Pro Lab was used to record eye-tracking data and export the raw gaze measurements.</a:t>
            </a:r>
            <a:endParaRPr/>
          </a:p>
          <a:p>
            <a:pPr indent="0" lvl="0" marL="0" rtl="0" algn="l">
              <a:lnSpc>
                <a:spcPct val="115000"/>
              </a:lnSpc>
              <a:spcBef>
                <a:spcPts val="1200"/>
              </a:spcBef>
              <a:spcAft>
                <a:spcPts val="0"/>
              </a:spcAft>
              <a:buClr>
                <a:schemeClr val="dk1"/>
              </a:buClr>
              <a:buSzPts val="1100"/>
              <a:buFont typeface="Arial"/>
              <a:buNone/>
            </a:pPr>
            <a:r>
              <a:rPr lang="iw"/>
              <a:t>Python was then used for data processing, with Pandas and NumPy handling the analysis of the gaze data and preparing it for further modeling.</a:t>
            </a:r>
            <a:endParaRPr/>
          </a:p>
          <a:p>
            <a:pPr indent="0" lvl="0" marL="0" rtl="0" algn="l">
              <a:lnSpc>
                <a:spcPct val="115000"/>
              </a:lnSpc>
              <a:spcBef>
                <a:spcPts val="1200"/>
              </a:spcBef>
              <a:spcAft>
                <a:spcPts val="0"/>
              </a:spcAft>
              <a:buClr>
                <a:schemeClr val="dk1"/>
              </a:buClr>
              <a:buSzPts val="1100"/>
              <a:buFont typeface="Arial"/>
              <a:buNone/>
            </a:pPr>
            <a:r>
              <a:rPr lang="iw"/>
              <a:t>Together, this stack enabled an efficient pipeline from data collection to structured analysis.</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bb6c7c2d9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bb6c7c2d9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this is the project roadmap. so in the </a:t>
            </a:r>
            <a:r>
              <a:rPr lang="iw"/>
              <a:t>beginning</a:t>
            </a:r>
            <a:r>
              <a:rPr lang="iw"/>
              <a:t> we read different studies about human-dog interactions. later we mapped aois and set up the experiment. now we are in the process of running the experiment. and for the next phase we will develop a algorithm that will process the data and then we will analyze the results to come up with conclusions.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iw"/>
              <a:t>wadie and noor we are waiting for you</a:t>
            </a:r>
            <a:endParaRPr/>
          </a:p>
          <a:p>
            <a:pPr indent="0" lvl="0" marL="0" rtl="0" algn="l">
              <a:spcBef>
                <a:spcPts val="0"/>
              </a:spcBef>
              <a:spcAft>
                <a:spcPts val="0"/>
              </a:spcAft>
              <a:buNone/>
            </a:pPr>
            <a:r>
              <a:t/>
            </a:r>
            <a:endParaRPr/>
          </a:p>
          <a:p>
            <a:pPr indent="0" lvl="0" marL="0" rtl="0" algn="l">
              <a:spcBef>
                <a:spcPts val="0"/>
              </a:spcBef>
              <a:spcAft>
                <a:spcPts val="0"/>
              </a:spcAft>
              <a:buNone/>
            </a:pPr>
            <a:r>
              <a:rPr lang="iw"/>
              <a:t>say we already did 23 people in the experiment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b6c7c2d96_3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b6c7c2d96_3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w"/>
              <a:t>thank you for listening,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sz="1400">
                <a:solidFill>
                  <a:schemeClr val="dk2"/>
                </a:solidFill>
              </a:defRPr>
            </a:lvl2pPr>
            <a:lvl3pPr indent="-317500" lvl="2" marL="1371600">
              <a:lnSpc>
                <a:spcPct val="115000"/>
              </a:lnSpc>
              <a:spcBef>
                <a:spcPts val="0"/>
              </a:spcBef>
              <a:spcAft>
                <a:spcPts val="0"/>
              </a:spcAft>
              <a:buClr>
                <a:schemeClr val="dk2"/>
              </a:buClr>
              <a:buSzPts val="1400"/>
              <a:buChar char="■"/>
              <a:defRPr sz="1400">
                <a:solidFill>
                  <a:schemeClr val="dk2"/>
                </a:solidFill>
              </a:defRPr>
            </a:lvl3pPr>
            <a:lvl4pPr indent="-317500" lvl="3" marL="1828800">
              <a:lnSpc>
                <a:spcPct val="115000"/>
              </a:lnSpc>
              <a:spcBef>
                <a:spcPts val="0"/>
              </a:spcBef>
              <a:spcAft>
                <a:spcPts val="0"/>
              </a:spcAft>
              <a:buClr>
                <a:schemeClr val="dk2"/>
              </a:buClr>
              <a:buSzPts val="1400"/>
              <a:buChar char="●"/>
              <a:defRPr sz="1400">
                <a:solidFill>
                  <a:schemeClr val="dk2"/>
                </a:solidFill>
              </a:defRPr>
            </a:lvl4pPr>
            <a:lvl5pPr indent="-317500" lvl="4" marL="2286000">
              <a:lnSpc>
                <a:spcPct val="115000"/>
              </a:lnSpc>
              <a:spcBef>
                <a:spcPts val="0"/>
              </a:spcBef>
              <a:spcAft>
                <a:spcPts val="0"/>
              </a:spcAft>
              <a:buClr>
                <a:schemeClr val="dk2"/>
              </a:buClr>
              <a:buSzPts val="1400"/>
              <a:buChar char="○"/>
              <a:defRPr sz="1400">
                <a:solidFill>
                  <a:schemeClr val="dk2"/>
                </a:solidFill>
              </a:defRPr>
            </a:lvl5pPr>
            <a:lvl6pPr indent="-317500" lvl="5" marL="2743200">
              <a:lnSpc>
                <a:spcPct val="115000"/>
              </a:lnSpc>
              <a:spcBef>
                <a:spcPts val="0"/>
              </a:spcBef>
              <a:spcAft>
                <a:spcPts val="0"/>
              </a:spcAft>
              <a:buClr>
                <a:schemeClr val="dk2"/>
              </a:buClr>
              <a:buSzPts val="1400"/>
              <a:buChar char="■"/>
              <a:defRPr sz="1400">
                <a:solidFill>
                  <a:schemeClr val="dk2"/>
                </a:solidFill>
              </a:defRPr>
            </a:lvl6pPr>
            <a:lvl7pPr indent="-317500" lvl="6" marL="3200400">
              <a:lnSpc>
                <a:spcPct val="115000"/>
              </a:lnSpc>
              <a:spcBef>
                <a:spcPts val="0"/>
              </a:spcBef>
              <a:spcAft>
                <a:spcPts val="0"/>
              </a:spcAft>
              <a:buClr>
                <a:schemeClr val="dk2"/>
              </a:buClr>
              <a:buSzPts val="1400"/>
              <a:buChar char="●"/>
              <a:defRPr sz="1400">
                <a:solidFill>
                  <a:schemeClr val="dk2"/>
                </a:solidFill>
              </a:defRPr>
            </a:lvl7pPr>
            <a:lvl8pPr indent="-317500" lvl="7" marL="3657600">
              <a:lnSpc>
                <a:spcPct val="115000"/>
              </a:lnSpc>
              <a:spcBef>
                <a:spcPts val="0"/>
              </a:spcBef>
              <a:spcAft>
                <a:spcPts val="0"/>
              </a:spcAft>
              <a:buClr>
                <a:schemeClr val="dk2"/>
              </a:buClr>
              <a:buSzPts val="1400"/>
              <a:buChar char="○"/>
              <a:defRPr sz="1400">
                <a:solidFill>
                  <a:schemeClr val="dk2"/>
                </a:solidFill>
              </a:defRPr>
            </a:lvl8pPr>
            <a:lvl9pPr indent="-317500" lvl="8" marL="4114800">
              <a:lnSpc>
                <a:spcPct val="115000"/>
              </a:lnSpc>
              <a:spcBef>
                <a:spcPts val="0"/>
              </a:spcBef>
              <a:spcAft>
                <a:spcPts val="0"/>
              </a:spcAft>
              <a:buClr>
                <a:schemeClr val="dk2"/>
              </a:buClr>
              <a:buSzPts val="1400"/>
              <a:buChar char="■"/>
              <a:defRPr sz="1400">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1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16.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can you get rid of the writing of &quot;Braude-College of Engineering, Karmiel&quot;" id="99" name="Google Shape;99;p25"/>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100" name="Google Shape;100;p25" title="92349-5_braude_logo-update_2023_ENG-01.png"/>
          <p:cNvPicPr preferRelativeResize="0"/>
          <p:nvPr/>
        </p:nvPicPr>
        <p:blipFill>
          <a:blip r:embed="rId4">
            <a:alphaModFix/>
          </a:blip>
          <a:stretch>
            <a:fillRect/>
          </a:stretch>
        </p:blipFill>
        <p:spPr>
          <a:xfrm>
            <a:off x="2025950" y="146563"/>
            <a:ext cx="4781550" cy="1133475"/>
          </a:xfrm>
          <a:prstGeom prst="rect">
            <a:avLst/>
          </a:prstGeom>
          <a:noFill/>
          <a:ln>
            <a:noFill/>
          </a:ln>
        </p:spPr>
      </p:pic>
      <p:sp>
        <p:nvSpPr>
          <p:cNvPr id="101" name="Google Shape;101;p25"/>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1</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Create a new slide titled “Background” with the following exact structure and styling.&#10;&#10;Layout (must follow exactly):&#10;&#10;• Title centered at the top of the slide&#10;• Left side: a vertical list of bullet-point text (4 bullet points)&#10;• Right side: a single illustration showing a human and a dog facing each other, indicating confusion or misunderstanding&#10;• The slide should be split visually into text on the left and image on the right&#10;• Use generous spacing so the slide feels clean and balanced&#10;&#10;Text content (left side, bullets):&#10;&#10;• Human-dog emotional misinterpretation is common.&#10;• Humans rely mostly on subtle body language cues.&#10;• This leads to frequent cross-species misunderstandings.&#10;• Project Goal: Bridge this communication gap.&#10;&#10;Illustration (right side):&#10;&#10;• A realistic but illustrated (non-cartoon) style&#10;• A human crouching or kneeling in front of a dog&#10;• Both appear to be trying to understand each other&#10;• Visual elements such as thought bubbles or question marks may be used subtly to suggest misunderstanding&#10;• Use soft, muted colors consistent with an academic presentation&#10;&#10;Typography (IMPORTANT – lock this style):&#10;&#10;• Use one single font family only&#10;• Set fixed font sizes:&#10;– Title: 36 pt, bold&#10;– Body text: 18 pt, regular (not bold)&#10;• Do not auto-scale or adjust font size&#10;• Do not vary font weight except for the title&#10;• Use the same line spacing for all bullet points&#10;&#10;Design constraints:&#10;&#10;• Background must match the rest of the presentation (light beige / parchment-style texture)&#10;• Do not introduce new colors, fonts, or decorative elements&#10;• Maintain a clean, academic, professional look&#10;&#10;Goal:&#10;&#10;Create a clean “Background” slide with a clear text–image split, and establish a consistent font size and font style that can be reused across all slides in the presentation." id="106" name="Google Shape;106;p26"/>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07" name="Google Shape;107;p26"/>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2</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Enhance the visual quality of the existing slides to high-definition (HD).&#10;&#10;Quality improvements only:&#10;• Increase image resolution and sharpness&#10;• Improve clarity of illustrations, icons, and graphics&#10;• Reduce blur, pixelation, and compression artifacts&#10;• Ensure text edges appear crisp and clean&#10;&#10;Do NOT change:&#10;• Layout or positioning of elements&#10;• Text content, wording, or formatting&#10;• Fonts, font sizes, or alignment&#10;• Colors, background, or design style&#10;• Icons or imagery content&#10;&#10;Consistency:&#10;• Apply the same HD enhancement consistently across all slides&#10;• Maintain a uniform visual quality throughout the presentation&#10;&#10;Goal:&#10;Make the slides look sharper, clearer, and presentation-ready for large screens and projectors, without altering their design." id="112" name="Google Shape;112;p27"/>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13" name="Google Shape;113;p27"/>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3</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nhance the visual quality of the current slide only to high-definition (HD).&#10;&#10;Quality improvements only:&#10;• Increase image resolution and sharpness&#10;• Improve clarity of illustrations, icons, and graphics&#10;• Reduce blur, pixelation, and compression artifacts&#10;• Ensure text edges appear crisp and clean&#10;&#10;Do NOT change:&#10;• Layout or positioning of elements&#10;• Text content or wording&#10;• Fonts, font sizes, or alignment&#10;• Colors, background, or overall design style&#10;• Icons or imagery content&#10;&#10;Consistency:&#10;• Apply HD enhancement uniformly within this slide&#10;&#10;Goal:&#10;Make the current slide sharper and clearer for large-screen presentation, without altering its design." id="118" name="Google Shape;118;p28"/>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19" name="Google Shape;119;p28"/>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4</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Refine the existing “Problem Definition” slide to better match the rest of the presentation.&#10;&#10;Background:&#10;• Darken the background slightly to match the tone and contrast of the other slides&#10;• Keep the same background style and color palette (no new colors)&#10;• Ensure good text readability and visual consistency&#10;&#10;Text:&#10;• Reduce the amount of text further&#10;• Keep only the most essential points&#10;• Use very short, high-impact bullet points&#10;• Maintain academic tone and meaning&#10;• Do not add new content&#10;&#10;Design constraints:&#10;• Do NOT change layout, fonts, or alignment&#10;• Do NOT redesign the slide&#10;• The slide should feel visually consistent with the rest of the deck&#10;&#10;Goal:&#10;Improve visual consistency and make the slide faster to read while preserving the core problem definition." id="124" name="Google Shape;124;p29"/>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25" name="Google Shape;125;p29"/>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5</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Improve the visual quality of the current slide only.&#10;&#10;HQ enhancements:&#10;• Increase sharpness and resolution&#10;• Improve clarity of images, icons, and graphics&#10;• Reduce blur and compression artifacts&#10;• Ensure clean, crisp edges for text and visuals&#10;&#10;Do NOT change:&#10;• Layout or element positions&#10;• Text content or wording&#10;• Fonts, sizes, alignment, or styling&#10;• Colors, background, or design language&#10;&#10;Goal:&#10;Make the current slide look high-quality and presentation-ready without altering its design." id="130" name="Google Shape;130;p30"/>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31" name="Google Shape;131;p30"/>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6</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nhance the visual quality of the current slide only to high-definition (HD).&#10;&#10;Quality improvements only:&#10;• Increase image resolution and sharpness&#10;• Improve clarity of illustrations, icons, and graphics&#10;• Reduce blur, pixelation, and compression artifacts&#10;• Ensure text edges appear crisp and clean&#10;&#10;Do NOT change:&#10;• Layout or positioning of elements&#10;• Text content or wording&#10;• Fonts, font sizes, or alignment&#10;• Colors, background, or overall design style&#10;• Icons or imagery content&#10;&#10;Consistency:&#10;• Apply HD enhancement uniformly within this slide&#10;&#10;Goal:&#10;Make the current slide sharper and clearer for large-screen presentation, without altering its design." id="136" name="Google Shape;136;p31"/>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37" name="Google Shape;137;p31"/>
          <p:cNvSpPr txBox="1"/>
          <p:nvPr/>
        </p:nvSpPr>
        <p:spPr>
          <a:xfrm>
            <a:off x="8599100" y="4697275"/>
            <a:ext cx="3450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7</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Improve the visual quality of the current slide only.&#10;&#10;HQ enhancements:&#10;• Increase sharpness and resolution&#10;• Improve clarity of images, icons, and graphics&#10;• Reduce blur and compression artifacts&#10;• Ensure clean, crisp edges for text and visuals&#10;&#10;Do NOT change:&#10;• Layout or element positions&#10;• Text content or wording&#10;• Fonts, sizes, alignment, or styling&#10;• Colors, background, or design language&#10;&#10;Goal:&#10;Make the current slide look high-quality and presentation-ready without altering its design." id="142" name="Google Shape;142;p32"/>
          <p:cNvPicPr preferRelativeResize="0"/>
          <p:nvPr/>
        </p:nvPicPr>
        <p:blipFill>
          <a:blip r:embed="rId3">
            <a:alphaModFix/>
          </a:blip>
          <a:stretch>
            <a:fillRect/>
          </a:stretch>
        </p:blipFill>
        <p:spPr>
          <a:xfrm>
            <a:off x="-35700" y="0"/>
            <a:ext cx="9210675" cy="5143500"/>
          </a:xfrm>
          <a:prstGeom prst="rect">
            <a:avLst/>
          </a:prstGeom>
          <a:noFill/>
          <a:ln>
            <a:noFill/>
          </a:ln>
        </p:spPr>
      </p:pic>
      <p:pic>
        <p:nvPicPr>
          <p:cNvPr id="143" name="Google Shape;143;p32" title="dog.gif"/>
          <p:cNvPicPr preferRelativeResize="0"/>
          <p:nvPr/>
        </p:nvPicPr>
        <p:blipFill>
          <a:blip r:embed="rId4">
            <a:alphaModFix/>
          </a:blip>
          <a:stretch>
            <a:fillRect/>
          </a:stretch>
        </p:blipFill>
        <p:spPr>
          <a:xfrm>
            <a:off x="4431975" y="1623750"/>
            <a:ext cx="4633625" cy="2594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Improve the visual quality of the current slide only.&#10;&#10;HQ enhancements:&#10;• Increase sharpness and resolution&#10;• Improve clarity of images, icons, and graphics&#10;• Reduce blur and compression artifacts&#10;• Ensure clean, crisp edges for text and visuals&#10;&#10;Do NOT change:&#10;• Layout or element positions&#10;• Text content or wording&#10;• Fonts, sizes, alignment, or styling&#10;• Colors, background, or design language&#10;&#10;Goal:&#10;Make the current slide look high-quality and presentation-ready without altering its design." id="148" name="Google Shape;148;p3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Create a slide titled “Data Analysis” with the same layout, style, colors, font, and background as the existing Data Analysis slide.&#10;&#10;Structure the slide into three horizontal stages connected by arrows:&#10;&#10;1. Input: CSV Files&#10;&#10;Icon: stacked CSV files&#10;&#10;Text below:&#10;“Raw eye-tracking data (CSV format)”&#10;&#10;2. Processing: Algorithm&#10;&#10;Icon: processor / gears icon&#10;&#10;Text below:&#10;“Algorithm processes CSV gaze data”&#10;&#10;3. Output: Analysis Results&#10;&#10;Replace the single matrix output with four clearly grouped outputs arranged neatly (grid or row), each with a small icon:&#10;&#10;Event Detection (fixations, saccades)&#10;&#10;Sequence Analysis (gaze order over time)&#10;&#10;Statistical Measures (durations, frequencies)&#10;&#10;Transition Matrices (gaze transitions between AOIs)&#10;&#10;Design requirements:&#10;&#10;Keep the warm beige background, subtle curved line decorations, and dark brown headings&#10;&#10;Use the same font family and font sizes as the original slide&#10;&#10;Maintain high readability and academic tone&#10;&#10;Do not overcrowd the slide; keep labels short and clean&#10;&#10;Visual style should match the rest of the presentation exactly" id="153" name="Google Shape;153;p34"/>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54" name="Google Shape;154;p34"/>
          <p:cNvSpPr txBox="1"/>
          <p:nvPr/>
        </p:nvSpPr>
        <p:spPr>
          <a:xfrm>
            <a:off x="8505025" y="4697275"/>
            <a:ext cx="4389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10</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nhance the visual quality of the current slide only to high-definition (HD).&#10;&#10;Quality improvements only:&#10;• Increase image resolution and sharpness&#10;• Improve clarity of illustrations, icons, and graphics&#10;• Reduce blur, pixelation, and compression artifacts&#10;• Ensure text edges appear crisp and clean&#10;&#10;Do NOT change:&#10;• Layout or positioning of elements&#10;• Text content or wording&#10;• Fonts, font sizes, or alignment&#10;• Colors, background, or overall design style&#10;• Icons or imagery content&#10;&#10;Consistency:&#10;• Apply HD enhancement uniformly within this slide&#10;&#10;Goal:&#10;Make the current slide sharper and clearer for large-screen presentation, without altering its design." id="159" name="Google Shape;159;p35"/>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60" name="Google Shape;160;p35"/>
          <p:cNvSpPr txBox="1"/>
          <p:nvPr/>
        </p:nvSpPr>
        <p:spPr>
          <a:xfrm>
            <a:off x="8505025" y="4697275"/>
            <a:ext cx="4389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11</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nhance the visual quality of the current slide only to high-definition (HD).&#10;&#10;Quality improvements only:&#10;• Increase image resolution and sharpness&#10;• Improve clarity of illustrations, icons, and graphics&#10;• Reduce blur, pixelation, and compression artifacts&#10;• Ensure text edges appear crisp and clean&#10;&#10;Do NOT change:&#10;• Layout or positioning of elements&#10;• Text content or wording&#10;• Fonts, font sizes, or alignment&#10;• Colors, background, or overall design style&#10;• Icons or imagery content&#10;&#10;Consistency:&#10;• Apply HD enhancement uniformly within this slide&#10;&#10;Goal:&#10;Make the current slide sharper and clearer for large-screen presentation, without altering its design." id="165" name="Google Shape;165;p36"/>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66" name="Google Shape;166;p36"/>
          <p:cNvSpPr txBox="1"/>
          <p:nvPr/>
        </p:nvSpPr>
        <p:spPr>
          <a:xfrm>
            <a:off x="8505025" y="4697275"/>
            <a:ext cx="4389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12</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Update the background of the current slide only to be visually consistent with the background used in Slide 13.&#10;&#10;Background styling requirements:&#10;• Use the same color tone as Slide 13 (light beige / parchment-like)&#10;• Match the same texture intensity (soft, subtle, not flat)&#10;• Use similar decorative line patterns in the corners, with the same opacity and thickness&#10;• Maintain the same contrast level between background and text&#10;&#10;Do NOT change:&#10;• Text content or wording&#10;• Font size, font style, or alignment&#10;• Images, icons, or layout&#10;• Overall slide structure&#10;&#10;Goal:&#10;Make the current slide’s background visually indistinguishable from Slide 13, ensuring consistency across the presentation." id="171" name="Google Shape;171;p37"/>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72" name="Google Shape;172;p37"/>
          <p:cNvSpPr txBox="1"/>
          <p:nvPr/>
        </p:nvSpPr>
        <p:spPr>
          <a:xfrm>
            <a:off x="8505025" y="4697275"/>
            <a:ext cx="4389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13</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descr="make slide 15 HQ" id="177" name="Google Shape;177;p38"/>
          <p:cNvPicPr preferRelativeResize="0"/>
          <p:nvPr/>
        </p:nvPicPr>
        <p:blipFill>
          <a:blip r:embed="rId3">
            <a:alphaModFix/>
          </a:blip>
          <a:stretch>
            <a:fillRect/>
          </a:stretch>
        </p:blipFill>
        <p:spPr>
          <a:xfrm>
            <a:off x="-35700" y="0"/>
            <a:ext cx="9210675" cy="5143500"/>
          </a:xfrm>
          <a:prstGeom prst="rect">
            <a:avLst/>
          </a:prstGeom>
          <a:noFill/>
          <a:ln>
            <a:noFill/>
          </a:ln>
        </p:spPr>
      </p:pic>
      <p:sp>
        <p:nvSpPr>
          <p:cNvPr id="178" name="Google Shape;178;p38"/>
          <p:cNvSpPr txBox="1"/>
          <p:nvPr/>
        </p:nvSpPr>
        <p:spPr>
          <a:xfrm>
            <a:off x="8505025" y="4697275"/>
            <a:ext cx="438900" cy="2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w" sz="1800">
                <a:solidFill>
                  <a:schemeClr val="dk2"/>
                </a:solidFill>
              </a:rPr>
              <a:t>14</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